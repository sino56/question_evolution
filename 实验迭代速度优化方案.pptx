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10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7565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34440"/>
            <a:ext cx="7863840" cy="265176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481328"/>
            <a:ext cx="169164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48132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891B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PIPELINE OPTIMIZATION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84708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4000" b="1" kern="0" spc="200" dirty="0">
                <a:solidFill>
                  <a:srgbClr val="1E29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Question Evolution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" y="250545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0E749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实验迭代速度优化方案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" y="31272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kern="0" spc="15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流式读写  ·  有界并行  ·  中断恢复  ·  原子发布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224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v3.0   |   Question_Evolution / PoliceQA 题目难度进化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44988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2026-07-20</a:t>
            </a:r>
            <a:endParaRPr lang="en-US" sz="1100" dirty="0"/>
          </a:p>
        </p:txBody>
      </p:sp>
      <p:sp>
        <p:nvSpPr>
          <p:cNvPr id="12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55448" cy="1554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1170432" y="237744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100" b="1" kern="0" spc="100" dirty="0">
                <a:solidFill>
                  <a:srgbClr val="1E29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目录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06424"/>
            <a:ext cx="4572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051560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0891B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98448" y="105156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项目背景与优化目标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673352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28216"/>
            <a:ext cx="4572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673352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059669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98448" y="1673352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优化不变量与核心原则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295144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50008"/>
            <a:ext cx="4572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295144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7C3AE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98448" y="2295144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优化前后流程全景对比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916936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71800"/>
            <a:ext cx="457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2916936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2563E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98448" y="2916936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统一读写 · 批量落盘 · 原子发布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3538728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593592"/>
            <a:ext cx="45720" cy="45720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3538728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DB27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298448" y="3538728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中断恢复 · Checkpoint · Manifest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09160" y="1051560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1106424"/>
            <a:ext cx="4572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4873752" y="1051560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D9770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06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550408" y="105156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有界任务调度与流式 I/O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709160" y="1673352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1728216"/>
            <a:ext cx="4572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4873752" y="1673352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7C3AE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07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550408" y="1673352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评分阶段受控并行架构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709160" y="2295144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2350008"/>
            <a:ext cx="4572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4873752" y="2295144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0891B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08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5550408" y="2295144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参考答案采集受控调度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709160" y="2916936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2971800"/>
            <a:ext cx="4572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" name="Text 36"/>
          <p:cNvSpPr/>
          <p:nvPr/>
        </p:nvSpPr>
        <p:spPr>
          <a:xfrm>
            <a:off x="4873752" y="2916936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059669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09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5550408" y="2916936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Trace 分层 · Memory 索引 · 校验复用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709160" y="3538728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3593592"/>
            <a:ext cx="457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2" name="Text 40"/>
          <p:cNvSpPr/>
          <p:nvPr/>
        </p:nvSpPr>
        <p:spPr>
          <a:xfrm>
            <a:off x="4873752" y="3538728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2563E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5550408" y="3538728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配置诊断 · 性能事件 · 测试覆盖</a:t>
            </a:r>
            <a:endParaRPr lang="en-US" sz="1250" dirty="0"/>
          </a:p>
        </p:txBody>
      </p:sp>
      <p:sp>
        <p:nvSpPr>
          <p:cNvPr id="44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55448" cy="1554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70432" y="237744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100" b="1" kern="0" spc="100" dirty="0">
                <a:solidFill>
                  <a:srgbClr val="1E29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项目背景与优化目标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8872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E749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项目定位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Question Evolution 流水线通过多轮「候选探索 → 真实评分 → 后验反馈 → 继续进化」，把原始题目逐步改造成更难、更能暴露弱模型能力边界的题目。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当前主流程由 run_loop.sh 编排十余个阶段串行提交，阶段内部涉及大量模型调用、磁盘读写与中断重启。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3511296"/>
            <a:ext cx="3474720" cy="749808"/>
          </a:xfrm>
          <a:prstGeom prst="roundRect">
            <a:avLst>
              <a:gd name="adj" fmla="val 7317"/>
            </a:avLst>
          </a:prstGeom>
          <a:solidFill>
            <a:srgbClr val="F1F5F9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58444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B91C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痛点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380390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本地处理、磁盘 I/O 与不必要等待拖慢迭代；中断后整轮重跑。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024128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97280"/>
            <a:ext cx="54864" cy="32369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4919472" y="118872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4785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优化目标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9472" y="15544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缩短本地处理、磁盘 I/O 和不必要等待造成的迭代时间，让中断后实验可从已确认进度继续。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19472" y="2414016"/>
            <a:ext cx="3520440" cy="914400"/>
          </a:xfrm>
          <a:prstGeom prst="roundRect">
            <a:avLst>
              <a:gd name="adj" fmla="val 7000"/>
            </a:avLst>
          </a:prstGeom>
          <a:solidFill>
            <a:srgbClr val="ECFDF5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248716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478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核心原则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74920" y="2706624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将「样本处理并发度」与「模型服务实际在途请求数」分开控制。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19472" y="3456432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不以减少模型调用为手段，也不改变题目进化的业务决策。</a:t>
            </a:r>
            <a:endParaRPr lang="en-US" sz="1050" dirty="0"/>
          </a:p>
        </p:txBody>
      </p:sp>
      <p:sp>
        <p:nvSpPr>
          <p:cNvPr id="20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55448" cy="15544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70432" y="237744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100" b="1" kern="0" spc="100" dirty="0">
                <a:solidFill>
                  <a:srgbClr val="1E29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优化不变量与核心原则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5120640" cy="3383280"/>
          </a:xfrm>
          <a:prstGeom prst="roundRect">
            <a:avLst>
              <a:gd name="adj" fmla="val 270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7043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0E749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实验语义保持不变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13232" y="1572768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499616"/>
            <a:ext cx="45262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进化分流 · 算子路由 · 候选选择 · 回退 · 效果判定 · 状态更新规则不变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" y="2121408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048256"/>
            <a:ext cx="45262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参考答案采样次数、Qwen 回答次数、评分重复次数、trial/repeat 编号及聚合规则不变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" y="2670048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596896"/>
            <a:ext cx="45262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远程请求仍用既定模型、Prompt、参数、重试与 API key 轮转规则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3232" y="3218688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145536"/>
            <a:ext cx="45262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memory bank 仍在轮末依据效果分析追加，下一轮再作为路由输入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" y="3767328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694176"/>
            <a:ext cx="45262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透传样本复用已有答案/rubric/评分，但先校验结果完整性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06440" y="1024128"/>
            <a:ext cx="3337560" cy="160020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06440" y="1097280"/>
            <a:ext cx="54864" cy="14538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044184" y="11704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样本处理并发度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44184" y="1481328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限制本地任务与队列规模：同时处于该阶段流程的样本数。不替代服务限流。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06440" y="2761488"/>
            <a:ext cx="3337560" cy="164592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06440" y="2834640"/>
            <a:ext cx="54864" cy="149961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6044184" y="29077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B45309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模型服务在途请求数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044184" y="3218688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遵守服务额度、降低突发限流：每次真实网络调用才申请名额，成功/异常后归还，重试等待不占名额。</a:t>
            </a:r>
            <a:endParaRPr lang="en-US" sz="1000" dirty="0"/>
          </a:p>
        </p:txBody>
      </p:sp>
      <p:sp>
        <p:nvSpPr>
          <p:cNvPr id="25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55448" cy="1554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70432" y="237744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100" b="1" kern="0" spc="100" dirty="0">
                <a:solidFill>
                  <a:srgbClr val="1E29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优化前后流程全景对比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969264"/>
            <a:ext cx="402336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9264"/>
            <a:ext cx="4023360" cy="310896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96926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B91C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BEFORE  ·  优化前：串行逐条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" y="1426464"/>
            <a:ext cx="3694176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FECACA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1481328"/>
            <a:ext cx="4572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146761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B91C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0 评分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8096" y="1719072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全量加载 → 逐样本串行，请求串行排队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621792" y="2084832"/>
            <a:ext cx="3694176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FECACA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" y="2139696"/>
            <a:ext cx="4572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212598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B91C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画像 / 算子路由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68096" y="2377440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逐样本串行；每条样本全量扫描 memory bank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21792" y="2743200"/>
            <a:ext cx="3694176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FECACA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" y="2798064"/>
            <a:ext cx="4572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278434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B91C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题目进化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8096" y="3035808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逐候选串行，逐条 flush，原始响应内嵌主记录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621792" y="3401568"/>
            <a:ext cx="3694176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FECACA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" y="3456432"/>
            <a:ext cx="4572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" y="344271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B91C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复杂度校验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68096" y="3694176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不关心是否已算过，全部重新计算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21792" y="4059936"/>
            <a:ext cx="3694176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FECACA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" y="4114800"/>
            <a:ext cx="4572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" y="410108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B91C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答案采集 + 评分 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68096" y="4352544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逐题串行，样本×采样=突发，整轮重跑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4663440" y="969264"/>
            <a:ext cx="402336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969264"/>
            <a:ext cx="4023360" cy="310896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30" name="Text 28"/>
          <p:cNvSpPr/>
          <p:nvPr/>
        </p:nvSpPr>
        <p:spPr>
          <a:xfrm>
            <a:off x="4828032" y="96926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478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 ·  优化后：流式 + 有界并行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28032" y="1426464"/>
            <a:ext cx="3694176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A7F3D0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28032" y="1481328"/>
            <a:ext cx="4572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" name="Text 31"/>
          <p:cNvSpPr/>
          <p:nvPr/>
        </p:nvSpPr>
        <p:spPr>
          <a:xfrm>
            <a:off x="4974336" y="1467612"/>
            <a:ext cx="193852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478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0 评分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858000" y="1472184"/>
            <a:ext cx="676656" cy="233172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1472184"/>
            <a:ext cx="676656" cy="2331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30" dirty="0">
                <a:solidFill>
                  <a:srgbClr val="0891B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流式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607808" y="1472184"/>
            <a:ext cx="676656" cy="233172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07808" y="1472184"/>
            <a:ext cx="676656" cy="2331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30" dirty="0">
                <a:solidFill>
                  <a:srgbClr val="D9770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有界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974336" y="1719072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流式读取 → 有界 worker → Qwen/GPT 公平请求池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4828032" y="2084832"/>
            <a:ext cx="3694176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A7F3D0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28032" y="2139696"/>
            <a:ext cx="4572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" name="Text 39"/>
          <p:cNvSpPr/>
          <p:nvPr/>
        </p:nvSpPr>
        <p:spPr>
          <a:xfrm>
            <a:off x="4974336" y="2125980"/>
            <a:ext cx="193852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478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画像 / 算子路由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858000" y="2130552"/>
            <a:ext cx="676656" cy="233172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2130552"/>
            <a:ext cx="676656" cy="2331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30" dirty="0">
                <a:solidFill>
                  <a:srgbClr val="7C3AE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Trace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07808" y="2130552"/>
            <a:ext cx="676656" cy="233172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07808" y="2130552"/>
            <a:ext cx="676656" cy="2331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30" dirty="0">
                <a:solidFill>
                  <a:srgbClr val="0596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索引复用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974336" y="2377440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流式 worker + trace 外置；倒排索引 + 匹配缓存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4828032" y="2743200"/>
            <a:ext cx="3694176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A7F3D0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28032" y="2798064"/>
            <a:ext cx="4572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9" name="Text 47"/>
          <p:cNvSpPr/>
          <p:nvPr/>
        </p:nvSpPr>
        <p:spPr>
          <a:xfrm>
            <a:off x="4974336" y="2784348"/>
            <a:ext cx="193852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478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题目进化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858000" y="2788920"/>
            <a:ext cx="676656" cy="233172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58000" y="2788920"/>
            <a:ext cx="676656" cy="2331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30" dirty="0">
                <a:solidFill>
                  <a:srgbClr val="D9770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有界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607808" y="2788920"/>
            <a:ext cx="676656" cy="233172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07808" y="2788920"/>
            <a:ext cx="676656" cy="2331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30" dirty="0">
                <a:solidFill>
                  <a:srgbClr val="DB27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断点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974336" y="3035808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有界 worker → 候选组 checkpoint → trace 外置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4828032" y="3401568"/>
            <a:ext cx="3694176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A7F3D0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828032" y="3456432"/>
            <a:ext cx="4572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7" name="Text 55"/>
          <p:cNvSpPr/>
          <p:nvPr/>
        </p:nvSpPr>
        <p:spPr>
          <a:xfrm>
            <a:off x="4974336" y="3442716"/>
            <a:ext cx="268833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478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复杂度校验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607808" y="3447288"/>
            <a:ext cx="676656" cy="233172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07808" y="3447288"/>
            <a:ext cx="676656" cy="2331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30" dirty="0">
                <a:solidFill>
                  <a:srgbClr val="0596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计算复用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974336" y="3694176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复用同规则版本的进化阶段结果</a:t>
            </a:r>
            <a:endParaRPr lang="en-US" sz="880" dirty="0"/>
          </a:p>
        </p:txBody>
      </p:sp>
      <p:sp>
        <p:nvSpPr>
          <p:cNvPr id="61" name="Shape 59"/>
          <p:cNvSpPr/>
          <p:nvPr/>
        </p:nvSpPr>
        <p:spPr>
          <a:xfrm>
            <a:off x="4828032" y="4059936"/>
            <a:ext cx="3694176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A7F3D0"/>
            </a:solidFill>
            <a:prstDash val="solid"/>
          </a:ln>
          <a:effectLst>
            <a:outerShdw blurRad="38100" dist="127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828032" y="4114800"/>
            <a:ext cx="4572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3" name="Text 61"/>
          <p:cNvSpPr/>
          <p:nvPr/>
        </p:nvSpPr>
        <p:spPr>
          <a:xfrm>
            <a:off x="4974336" y="4101084"/>
            <a:ext cx="193852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478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答案采集 + 评分 N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858000" y="4105656"/>
            <a:ext cx="676656" cy="233172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58000" y="4105656"/>
            <a:ext cx="676656" cy="2331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30" dirty="0">
                <a:solidFill>
                  <a:srgbClr val="7C3AE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公平调度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7607808" y="4105656"/>
            <a:ext cx="676656" cy="233172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607808" y="4105656"/>
            <a:ext cx="676656" cy="2331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30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原子发布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974336" y="4352544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全局请求池 + 公平调度 + 断点续跑</a:t>
            </a:r>
            <a:endParaRPr lang="en-US" sz="880" dirty="0"/>
          </a:p>
        </p:txBody>
      </p:sp>
      <p:sp>
        <p:nvSpPr>
          <p:cNvPr id="69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55448" cy="1554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70432" y="237744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100" b="1" kern="0" spc="100" dirty="0">
                <a:solidFill>
                  <a:srgbClr val="1E29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统一读写 · 批量落盘 · 原子发布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087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业务 Worker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产生结果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48840" y="1417320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6510">
            <a:solidFill>
              <a:srgbClr val="DB27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5087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Partial 文件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178308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尚未发布的记录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40480" y="1417320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6510">
            <a:solidFill>
              <a:srgbClr val="DB27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15087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Checkpoint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86200" y="178308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已持久化位置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532120" y="1417320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651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5087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阶段完成?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178308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校验完整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783080" y="1737360"/>
            <a:ext cx="36576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474720" y="1737360"/>
            <a:ext cx="36576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66360" y="1737360"/>
            <a:ext cx="36576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95060" y="2057400"/>
            <a:ext cx="0" cy="365760"/>
          </a:xfrm>
          <a:prstGeom prst="line">
            <a:avLst/>
          </a:prstGeom>
          <a:noFill/>
          <a:ln w="1651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480560" y="2441448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ECFDF5"/>
          </a:solidFill>
          <a:ln w="2032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24963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04785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原子替换发布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0" y="27706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正式 JSONL + Manifest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32320" y="2441448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7178040" y="244144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B91C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中断 → 见下页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58000" y="1737360"/>
            <a:ext cx="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57200" y="3063240"/>
            <a:ext cx="2615184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127248"/>
            <a:ext cx="45720" cy="11521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191256"/>
            <a:ext cx="232257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E29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统一 JSONL 读写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3520440"/>
            <a:ext cx="232257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逐行读取跳过空行，解析失败报阶段名/文件/行号；兼容历史 JSON 数组输入。尽早暴露脏数据。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3264408" y="3063240"/>
            <a:ext cx="2615184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64408" y="3127248"/>
            <a:ext cx="45720" cy="1152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3447288" y="3191256"/>
            <a:ext cx="232257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E29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批量落盘 Writer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47288" y="3520440"/>
            <a:ext cx="232257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单一 writer 按记录数 / 字节数 / 时间阈值批量 flush，降低单条写入与同步等待的 I/O 开销。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6071616" y="3063240"/>
            <a:ext cx="2615184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71616" y="3127248"/>
            <a:ext cx="45720" cy="11521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6254496" y="3191256"/>
            <a:ext cx="232257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E29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原子替换发布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54496" y="3520440"/>
            <a:ext cx="232257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先写 partial+checkpoint，阶段成功后生成 manifest 并原子替换，下游只见完整结果。</a:t>
            </a:r>
            <a:endParaRPr lang="en-US" sz="920" dirty="0"/>
          </a:p>
        </p:txBody>
      </p:sp>
      <p:sp>
        <p:nvSpPr>
          <p:cNvPr id="39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55448" cy="155448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70432" y="237744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100" b="1" kern="0" spc="100" dirty="0">
                <a:solidFill>
                  <a:srgbClr val="1E29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中断恢复 · Checkpoint · Manifest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16636" y="109728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651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2356" y="1097280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阶段中断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33956" y="1380744"/>
            <a:ext cx="25603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89988" y="109728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651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35708" y="1097280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重启恢复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07308" y="1380744"/>
            <a:ext cx="25603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63340" y="109728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6510">
            <a:solidFill>
              <a:srgbClr val="DB27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09060" y="1097280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读取 Checkpoint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80660" y="1380744"/>
            <a:ext cx="25603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536692" y="109728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651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82412" y="1097280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跳过已完成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54012" y="1380744"/>
            <a:ext cx="25603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10044" y="109728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651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55764" y="1097280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继续未完成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2203704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2011680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Manifest 校验：记录数 + 内容摘要 + 代码摘要 + Sidecar 校验信息  →  通过才被编排入口跳过；不通过则拒绝静默覆盖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834640"/>
            <a:ext cx="4023360" cy="1554480"/>
          </a:xfrm>
          <a:prstGeom prst="roundRect">
            <a:avLst>
              <a:gd name="adj" fmla="val 529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907792"/>
            <a:ext cx="54864" cy="1408176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" y="298094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1E29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恢复条件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3374136"/>
            <a:ext cx="73152" cy="73152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2918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partial 与 checkpoint 仍一致 → 跳过已确认记录/候选组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731520" y="3721608"/>
            <a:ext cx="73152" cy="73152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363931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候选多输出：整个候选组写完后才标记完成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731520" y="4069080"/>
            <a:ext cx="73152" cy="73152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398678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正式产物须同时通过 manifest 记录数与内容摘要校验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4663440" y="2834640"/>
            <a:ext cx="4023360" cy="1554480"/>
          </a:xfrm>
          <a:prstGeom prst="roundRect">
            <a:avLst>
              <a:gd name="adj" fmla="val 529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907792"/>
            <a:ext cx="54864" cy="14081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4901184" y="298094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1E29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安全保障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937760" y="3374136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5120640" y="32918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下游不会把半写入文件当成可用输入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4937760" y="3721608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5120640" y="363931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校验不通过 → 拒绝静默覆盖，避免新旧结果混合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4937760" y="4069080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5120640" y="398678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统一发布机制覆盖候选选择/效果分析/状态更新等全局阶段</a:t>
            </a:r>
            <a:endParaRPr lang="en-US" sz="980" dirty="0"/>
          </a:p>
        </p:txBody>
      </p:sp>
      <p:sp>
        <p:nvSpPr>
          <p:cNvPr id="40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55448" cy="1554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70432" y="237744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100" b="1" kern="0" spc="100" dirty="0">
                <a:solidFill>
                  <a:srgbClr val="1E29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有界任务调度与流式 I/O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357884" y="132588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651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03604" y="1472184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流式 Reader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403604" y="180136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逐行读取 JSONL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592324" y="1760220"/>
            <a:ext cx="201168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93492" y="1325880"/>
            <a:ext cx="109728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651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9212" y="147218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输入队列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839212" y="18013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有界容量 · 背压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3890772" y="1760220"/>
            <a:ext cx="201168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091940" y="1325880"/>
            <a:ext cx="118872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7660" y="147218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Worker 池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37660" y="18013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固定数量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5280660" y="1760220"/>
            <a:ext cx="201168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1828" y="1325880"/>
            <a:ext cx="100584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651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27548" y="147218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输出队列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527548" y="18013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有界容量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6487668" y="1760220"/>
            <a:ext cx="201168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688836" y="1325880"/>
            <a:ext cx="109728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651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34556" y="147218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Batch Writer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34556" y="18013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批量落盘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3342132" y="2194560"/>
            <a:ext cx="0" cy="109728"/>
          </a:xfrm>
          <a:prstGeom prst="line">
            <a:avLst/>
          </a:prstGeom>
          <a:noFill/>
          <a:ln w="12700">
            <a:solidFill>
              <a:srgbClr val="D97706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3342132" y="2304288"/>
            <a:ext cx="2642616" cy="0"/>
          </a:xfrm>
          <a:prstGeom prst="line">
            <a:avLst/>
          </a:prstGeom>
          <a:noFill/>
          <a:ln w="12700">
            <a:solidFill>
              <a:srgbClr val="D97706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984748" y="2304288"/>
            <a:ext cx="0" cy="0"/>
          </a:xfrm>
          <a:prstGeom prst="line">
            <a:avLst/>
          </a:prstGeom>
          <a:noFill/>
          <a:ln w="12700">
            <a:solidFill>
              <a:srgbClr val="D97706"/>
            </a:solidFill>
            <a:prstDash val="dash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360420" y="234086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背压反馈：队列满时 Reader 暂停提交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063240"/>
            <a:ext cx="2615184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127248"/>
            <a:ext cx="45720" cy="1152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191256"/>
            <a:ext cx="232257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E29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内存可控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3520440"/>
            <a:ext cx="232257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内存峰值、协程数、待写结果限制在并发配置附近，不随输入线性增长。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3264408" y="3063240"/>
            <a:ext cx="2615184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64408" y="3127248"/>
            <a:ext cx="45720" cy="11521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3447288" y="3191256"/>
            <a:ext cx="232257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E29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首批尽早可恢复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447288" y="3520440"/>
            <a:ext cx="232257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首批完成结果尽早进入可恢复的 partial 产物，降低中断损失。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071616" y="3063240"/>
            <a:ext cx="2615184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71616" y="3127248"/>
            <a:ext cx="45720" cy="11521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8" name="Text 36"/>
          <p:cNvSpPr/>
          <p:nvPr/>
        </p:nvSpPr>
        <p:spPr>
          <a:xfrm>
            <a:off x="6254496" y="3191256"/>
            <a:ext cx="232257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E29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接入方式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54496" y="3520440"/>
            <a:ext cx="232257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画像/答案采集/评分以流式 reader 接入；进化与 rubric 以有界 worker 接入。</a:t>
            </a:r>
            <a:endParaRPr lang="en-US" sz="920" dirty="0"/>
          </a:p>
        </p:txBody>
      </p:sp>
      <p:sp>
        <p:nvSpPr>
          <p:cNvPr id="40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55448" cy="1554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70432" y="237744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100" b="1" kern="0" spc="100" dirty="0">
                <a:solidFill>
                  <a:srgbClr val="1E29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评分阶段受控并行架构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926080" y="1024128"/>
            <a:ext cx="3291840" cy="457200"/>
          </a:xfrm>
          <a:prstGeom prst="roundRect">
            <a:avLst>
              <a:gd name="adj" fmla="val 14000"/>
            </a:avLst>
          </a:prstGeom>
          <a:solidFill>
            <a:srgbClr val="F5F3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0" y="102412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D28D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评分样本 Worker × N（有界）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28600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1397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8308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Qwen 回答 Trial × 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517904"/>
            <a:ext cx="0" cy="210312"/>
          </a:xfrm>
          <a:prstGeom prst="line">
            <a:avLst/>
          </a:prstGeom>
          <a:noFill/>
          <a:ln w="12700">
            <a:solidFill>
              <a:srgbClr val="0891B2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783080"/>
            <a:ext cx="228600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1397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78308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Qwen Judge Repeat × 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517904"/>
            <a:ext cx="0" cy="210312"/>
          </a:xfrm>
          <a:prstGeom prst="line">
            <a:avLst/>
          </a:prstGeom>
          <a:noFill/>
          <a:ln w="12700">
            <a:solidFill>
              <a:srgbClr val="0891B2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783080"/>
            <a:ext cx="228600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1397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78308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GPT Judge Repeat × 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517904"/>
            <a:ext cx="2788920" cy="210312"/>
          </a:xfrm>
          <a:prstGeom prst="line">
            <a:avLst/>
          </a:prstGeom>
          <a:noFill/>
          <a:ln w="12700">
            <a:solidFill>
              <a:srgbClr val="D97706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" y="2487168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ECFEFF"/>
          </a:solidFill>
          <a:ln w="2032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2560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0E749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Qwen 公平请求池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281635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回答 + Judge 共享 · 上限 20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4937760" y="2487168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FFFBEB"/>
          </a:solidFill>
          <a:ln w="2032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560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B45309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GPT 公平请求池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281635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回答/自评/复评共享 · 独立服务 · 上限 20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1691640" y="2240280"/>
            <a:ext cx="1417320" cy="210312"/>
          </a:xfrm>
          <a:prstGeom prst="line">
            <a:avLst/>
          </a:prstGeom>
          <a:noFill/>
          <a:ln w="12700">
            <a:solidFill>
              <a:srgbClr val="0891B2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26280" y="2240280"/>
            <a:ext cx="0" cy="210312"/>
          </a:xfrm>
          <a:prstGeom prst="line">
            <a:avLst/>
          </a:prstGeom>
          <a:noFill/>
          <a:ln w="12700">
            <a:solidFill>
              <a:srgbClr val="0891B2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0920" y="2240280"/>
            <a:ext cx="0" cy="210312"/>
          </a:xfrm>
          <a:prstGeom prst="line">
            <a:avLst/>
          </a:prstGeom>
          <a:noFill/>
          <a:ln w="12700">
            <a:solidFill>
              <a:srgbClr val="D97706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20240" y="3291840"/>
            <a:ext cx="5303520" cy="566928"/>
          </a:xfrm>
          <a:prstGeom prst="roundRect">
            <a:avLst>
              <a:gd name="adj" fmla="val 11290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2029968" y="329184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78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公平调度：多样本优先各获一个名额 → 余量处理同题后续 trial/repeat，减少尾部等待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4023360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0：Qwen/GPT 各回答 3 次、自评 2 次 ≈ 18 次调用/题   |   进化后 GPT 复评 Qwen ≈ 24 次/题   |   Qwen 不评 GPT   |   重试等待不占名额   |   结果按 answer_source/trial_index 归位</a:t>
            </a:r>
            <a:endParaRPr lang="en-US" sz="920" dirty="0"/>
          </a:p>
        </p:txBody>
      </p:sp>
      <p:sp>
        <p:nvSpPr>
          <p:cNvPr id="29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55448" cy="1554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70432" y="237744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100" b="1" kern="0" spc="100" dirty="0">
                <a:solidFill>
                  <a:srgbClr val="1E29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参考答案采集受控调度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914400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2529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--concurrency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同时处于采集流程的样本数（本地 worker 并发）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914400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22529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--request-concurrency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155448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参考答案服务真实在途请求上限（默认 ≤ 20）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34840" y="1325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≠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22960" y="2286000"/>
            <a:ext cx="2103120" cy="548640"/>
          </a:xfrm>
          <a:prstGeom prst="roundRect">
            <a:avLst>
              <a:gd name="adj" fmla="val 11667"/>
            </a:avLst>
          </a:prstGeom>
          <a:solidFill>
            <a:srgbClr val="F8FAFC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286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多样本 Worker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2560320"/>
            <a:ext cx="3200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46120" y="2286000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F8FAFC"/>
          </a:solidFill>
          <a:ln w="1651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286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公平请求池（按样本分配）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97880" y="2560320"/>
            <a:ext cx="3200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17920" y="2286000"/>
            <a:ext cx="2103120" cy="548640"/>
          </a:xfrm>
          <a:prstGeom prst="roundRect">
            <a:avLst>
              <a:gd name="adj" fmla="val 11667"/>
            </a:avLst>
          </a:prstGeom>
          <a:solidFill>
            <a:srgbClr val="F8FAFC"/>
          </a:solidFill>
          <a:ln w="1651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286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参考答案服务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2615184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172968"/>
            <a:ext cx="45720" cy="110642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218688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1E29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避免突发流量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3529584"/>
            <a:ext cx="23225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样本并发 × 每题采样数不再放大服务并发，降低 429、空响应与重试堆积。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3264408" y="3108960"/>
            <a:ext cx="2615184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64408" y="3172968"/>
            <a:ext cx="45720" cy="110642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3447288" y="3218688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1E29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跨样本优先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447288" y="3529584"/>
            <a:ext cx="23225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多样本同时采集时优先为不同样本分配名额，余量再处理同题后续采样。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6071616" y="3108960"/>
            <a:ext cx="2615184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71616" y="3172968"/>
            <a:ext cx="45720" cy="110642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6254496" y="3218688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1E29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名额外逻辑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254496" y="3529584"/>
            <a:ext cx="23225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质量校验、key 切换、重试退避位于请求名额之外，不影响采样次数与透传规则。</a:t>
            </a:r>
            <a:endParaRPr lang="en-US" sz="920" dirty="0"/>
          </a:p>
        </p:txBody>
      </p:sp>
      <p:sp>
        <p:nvSpPr>
          <p:cNvPr id="32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55448" cy="15544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70432" y="237744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100" b="1" kern="0" spc="100" dirty="0">
                <a:solidFill>
                  <a:srgbClr val="1E29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Trace 分层 · Memory 索引 · 校验复用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15184" cy="3337560"/>
          </a:xfrm>
          <a:prstGeom prst="roundRect">
            <a:avLst>
              <a:gd name="adj" fmla="val 314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24712"/>
            <a:ext cx="54864" cy="31912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234440"/>
            <a:ext cx="274320" cy="27432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234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234440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E29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Trace 分层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76656" y="1700784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627632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原始模型响应移至压缩 trace sidecar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676656" y="2249424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2176272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主记录保留业务字段与 trace 标识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676656" y="2798064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2724912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manifest 登记 sidecar 校验信息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76656" y="3346704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273552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下游读写/序列化不再携带冗长响应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3264408" y="1051560"/>
            <a:ext cx="2615184" cy="3337560"/>
          </a:xfrm>
          <a:prstGeom prst="roundRect">
            <a:avLst>
              <a:gd name="adj" fmla="val 314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64408" y="1124712"/>
            <a:ext cx="54864" cy="31912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Shape 18"/>
          <p:cNvSpPr/>
          <p:nvPr/>
        </p:nvSpPr>
        <p:spPr>
          <a:xfrm>
            <a:off x="3465576" y="1234440"/>
            <a:ext cx="274320" cy="274320"/>
          </a:xfrm>
          <a:prstGeom prst="ellipse">
            <a:avLst/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65576" y="1234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31336" y="1234440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E29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Memory 索引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3483864" y="1700784"/>
            <a:ext cx="73152" cy="7315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3648456" y="1627632"/>
            <a:ext cx="20665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 signature 建立只读倒排索引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3483864" y="2212848"/>
            <a:ext cx="73152" cy="7315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3648456" y="2139696"/>
            <a:ext cx="20665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相同 signature 缓存匹配结果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3483864" y="2724912"/>
            <a:ext cx="73152" cy="7315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3648456" y="2651760"/>
            <a:ext cx="20665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先索引取候选 → 再相似度排序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3483864" y="3236976"/>
            <a:ext cx="73152" cy="7315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3648456" y="3163824"/>
            <a:ext cx="20665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bank 随轮次增大时匹配开销可控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3483864" y="3749040"/>
            <a:ext cx="73152" cy="7315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3648456" y="3675888"/>
            <a:ext cx="20665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不修改追加顺序/保留内容/路由判定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6071616" y="1051560"/>
            <a:ext cx="2615184" cy="3337560"/>
          </a:xfrm>
          <a:prstGeom prst="roundRect">
            <a:avLst>
              <a:gd name="adj" fmla="val 314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71616" y="1124712"/>
            <a:ext cx="54864" cy="319125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" name="Shape 33"/>
          <p:cNvSpPr/>
          <p:nvPr/>
        </p:nvSpPr>
        <p:spPr>
          <a:xfrm>
            <a:off x="6272784" y="1234440"/>
            <a:ext cx="274320" cy="27432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72784" y="1234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38544" y="1234440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E29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校验复用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6291072" y="1700784"/>
            <a:ext cx="73152" cy="7315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9" name="Text 37"/>
          <p:cNvSpPr/>
          <p:nvPr/>
        </p:nvSpPr>
        <p:spPr>
          <a:xfrm>
            <a:off x="6455664" y="1627632"/>
            <a:ext cx="20665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进化阶段保存本地校验结果 + 规则版本摘要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6291072" y="2212848"/>
            <a:ext cx="73152" cy="7315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1" name="Text 39"/>
          <p:cNvSpPr/>
          <p:nvPr/>
        </p:nvSpPr>
        <p:spPr>
          <a:xfrm>
            <a:off x="6455664" y="2139696"/>
            <a:ext cx="20665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版本一致 → 直接复用，跳过重复计算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6291072" y="2724912"/>
            <a:ext cx="73152" cy="7315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3" name="Text 41"/>
          <p:cNvSpPr/>
          <p:nvPr/>
        </p:nvSpPr>
        <p:spPr>
          <a:xfrm>
            <a:off x="6455664" y="2651760"/>
            <a:ext cx="20665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缺失/不一致 → 按当前规则重算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6291072" y="3236976"/>
            <a:ext cx="73152" cy="7315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5" name="Text 43"/>
          <p:cNvSpPr/>
          <p:nvPr/>
        </p:nvSpPr>
        <p:spPr>
          <a:xfrm>
            <a:off x="6455664" y="3163824"/>
            <a:ext cx="20665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独立 LLM 校验照常执行并合并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6291072" y="3749040"/>
            <a:ext cx="73152" cy="7315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7" name="Text 45"/>
          <p:cNvSpPr/>
          <p:nvPr/>
        </p:nvSpPr>
        <p:spPr>
          <a:xfrm>
            <a:off x="6455664" y="3675888"/>
            <a:ext cx="20665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不改变候选选择依据的校验字段</a:t>
            </a:r>
            <a:endParaRPr lang="en-US" sz="930" dirty="0"/>
          </a:p>
        </p:txBody>
      </p:sp>
      <p:sp>
        <p:nvSpPr>
          <p:cNvPr id="48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55448" cy="1554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70432" y="237744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100" b="1" kern="0" spc="100" dirty="0">
                <a:solidFill>
                  <a:srgbClr val="1E29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配置诊断 · 性能事件 · 测试覆盖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7043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0E749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配置与诊断原则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" y="1581912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0876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服务额度与样本 worker 分开调整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713232" y="2130552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05740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限流/超时/空响应 → 看请求池峰值与 performance_events.jsonl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713232" y="2679192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60604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在途峰值接近安全值 → 降低 request concurrency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713232" y="3227832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15468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请求池未满而队列/解析/写入高 → 检查 worker 与产物体积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13232" y="377647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70332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不要提升 worker 绕过请求池；不同模型额度不混为一个数值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4663440" y="1024128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097280"/>
            <a:ext cx="54864" cy="16367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4901184" y="11521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performance_events.jsonl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01184" y="144475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区分本地解析、排队、写入与远程等待问题，避免把模型服务波动误判为本地优化收益。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4901184" y="1956816"/>
            <a:ext cx="1108253" cy="233172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01184" y="1956816"/>
            <a:ext cx="1108253" cy="2331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30" dirty="0">
                <a:solidFill>
                  <a:srgbClr val="D9770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I/O 记录数/字节数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00877" y="1956816"/>
            <a:ext cx="1108253" cy="233172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00877" y="1956816"/>
            <a:ext cx="1108253" cy="2331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30" dirty="0">
                <a:solidFill>
                  <a:srgbClr val="D9770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解析/计算/序列化耗时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300570" y="1956816"/>
            <a:ext cx="855878" cy="233172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00570" y="1956816"/>
            <a:ext cx="855878" cy="2331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30" dirty="0">
                <a:solidFill>
                  <a:srgbClr val="D9770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flush 次数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901184" y="2267712"/>
            <a:ext cx="1276502" cy="233172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01184" y="2267712"/>
            <a:ext cx="1276502" cy="2331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30" dirty="0">
                <a:solidFill>
                  <a:srgbClr val="D9770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checkpoint 命中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269126" y="2267712"/>
            <a:ext cx="519379" cy="233172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9126" y="2267712"/>
            <a:ext cx="519379" cy="2331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30" dirty="0">
                <a:solidFill>
                  <a:srgbClr val="D9770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队列深度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879946" y="2267712"/>
            <a:ext cx="687629" cy="233172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79946" y="2267712"/>
            <a:ext cx="687629" cy="2331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30" dirty="0">
                <a:solidFill>
                  <a:srgbClr val="D9770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RSS 峰值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63440" y="2944368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3017520"/>
            <a:ext cx="54864" cy="131673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" name="Text 33"/>
          <p:cNvSpPr/>
          <p:nvPr/>
        </p:nvSpPr>
        <p:spPr>
          <a:xfrm>
            <a:off x="4901184" y="30723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04785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已有测试覆盖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901184" y="3401568"/>
            <a:ext cx="868680" cy="233172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01184" y="3401568"/>
            <a:ext cx="868680" cy="2331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30" dirty="0">
                <a:solidFill>
                  <a:srgbClr val="0596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原子发布校验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843016" y="3401568"/>
            <a:ext cx="868680" cy="233172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43016" y="3401568"/>
            <a:ext cx="868680" cy="2331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30" dirty="0">
                <a:solidFill>
                  <a:srgbClr val="0596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断点恢复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784848" y="3401568"/>
            <a:ext cx="868680" cy="233172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84848" y="3401568"/>
            <a:ext cx="868680" cy="2331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30" dirty="0">
                <a:solidFill>
                  <a:srgbClr val="0596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trace 可追溯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901184" y="3730752"/>
            <a:ext cx="868680" cy="233172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01184" y="3730752"/>
            <a:ext cx="868680" cy="2331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30" dirty="0">
                <a:solidFill>
                  <a:srgbClr val="0596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请求上限·公平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843016" y="3730752"/>
            <a:ext cx="868680" cy="233172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43016" y="3730752"/>
            <a:ext cx="868680" cy="2331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30" dirty="0">
                <a:solidFill>
                  <a:srgbClr val="0596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样本内并行·重试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784848" y="3730752"/>
            <a:ext cx="868680" cy="233172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84848" y="3730752"/>
            <a:ext cx="868680" cy="2331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30" dirty="0">
                <a:solidFill>
                  <a:srgbClr val="0596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透传复用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901184" y="4059936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01184" y="405993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pytest -q</a:t>
            </a:r>
            <a:endParaRPr lang="en-US" sz="950" dirty="0"/>
          </a:p>
        </p:txBody>
      </p:sp>
      <p:sp>
        <p:nvSpPr>
          <p:cNvPr id="50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600" b="1" kern="0" spc="300" dirty="0">
                <a:solidFill>
                  <a:srgbClr val="1E29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kern="0" spc="150" dirty="0">
                <a:solidFill>
                  <a:srgbClr val="0E749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少加规则，多做实验  ·  少做前置否决，多做后验反馈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468880" y="3108960"/>
            <a:ext cx="841248" cy="233172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3108960"/>
            <a:ext cx="841248" cy="2331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30" dirty="0">
                <a:solidFill>
                  <a:srgbClr val="0891B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流式读写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474720" y="3108960"/>
            <a:ext cx="841248" cy="233172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3108960"/>
            <a:ext cx="841248" cy="2331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30" dirty="0">
                <a:solidFill>
                  <a:srgbClr val="7C3AE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有界并行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480560" y="3108960"/>
            <a:ext cx="841248" cy="233172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3108960"/>
            <a:ext cx="841248" cy="2331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30" dirty="0">
                <a:solidFill>
                  <a:srgbClr val="DB27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中断恢复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0" y="3108960"/>
            <a:ext cx="841248" cy="233172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3108960"/>
            <a:ext cx="841248" cy="2331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30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原子发布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492240" y="3108960"/>
            <a:ext cx="841248" cy="233172"/>
          </a:xfrm>
          <a:prstGeom prst="roundRect">
            <a:avLst>
              <a:gd name="adj" fmla="val 15686"/>
            </a:avLst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108960"/>
            <a:ext cx="841248" cy="2331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30" dirty="0">
                <a:solidFill>
                  <a:srgbClr val="0596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计算复用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1440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Question_Evolution  ·  实验迭代速度优化方案 v3.0</a:t>
            </a:r>
            <a:endParaRPr lang="en-US" sz="1100" dirty="0"/>
          </a:p>
        </p:txBody>
      </p:sp>
      <p:sp>
        <p:nvSpPr>
          <p:cNvPr id="17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846</Words>
  <Application>Microsoft Office PowerPoint</Application>
  <PresentationFormat>全屏显示(16:9)</PresentationFormat>
  <Paragraphs>246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Noto Sans SC</vt:lpstr>
      <vt:lpstr>Noto Serif SC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xinglong wu</cp:lastModifiedBy>
  <cp:revision>2</cp:revision>
  <dcterms:created xsi:type="dcterms:W3CDTF">2026-07-20T14:41:03Z</dcterms:created>
  <dcterms:modified xsi:type="dcterms:W3CDTF">2026-07-29T15:02:46Z</dcterms:modified>
</cp:coreProperties>
</file>