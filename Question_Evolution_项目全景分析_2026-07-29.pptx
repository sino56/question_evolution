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46304"/>
            <a:ext cx="4282135" cy="6711696"/>
          </a:xfrm>
          <a:prstGeom prst="rect">
            <a:avLst/>
          </a:prstGeom>
          <a:solidFill>
            <a:srgbClr val="EEF7F6"/>
          </a:solidFill>
          <a:ln w="12700">
            <a:solidFill>
              <a:srgbClr val="EEF7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658368"/>
            <a:ext cx="2926080" cy="2926080"/>
          </a:xfrm>
          <a:prstGeom prst="ellipse">
            <a:avLst/>
          </a:prstGeom>
          <a:solidFill>
            <a:srgbClr val="EEF7F6">
              <a:alpha val="0"/>
            </a:srgbClr>
          </a:solidFill>
          <a:ln w="38100">
            <a:solidFill>
              <a:srgbClr val="168F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2" y="1472184"/>
            <a:ext cx="1307592" cy="1307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8F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566160"/>
            <a:ext cx="548640" cy="548640"/>
          </a:xfrm>
          <a:prstGeom prst="ellipse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3840480"/>
            <a:ext cx="384048" cy="384048"/>
          </a:xfrm>
          <a:prstGeom prst="ellipse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070848" y="2807208"/>
            <a:ext cx="978408" cy="850392"/>
          </a:xfrm>
          <a:prstGeom prst="line">
            <a:avLst/>
          </a:prstGeom>
          <a:noFill/>
          <a:ln w="1905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497312" y="2798064"/>
            <a:ext cx="548640" cy="1078992"/>
          </a:xfrm>
          <a:prstGeom prst="line">
            <a:avLst/>
          </a:prstGeom>
          <a:noFill/>
          <a:ln w="1905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8375904" y="2286000"/>
            <a:ext cx="1078992" cy="0"/>
          </a:xfrm>
          <a:prstGeom prst="line">
            <a:avLst/>
          </a:prstGeom>
          <a:noFill/>
          <a:ln w="1905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8368" y="10241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40080" y="15087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从“改写题目”到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“发现能力边界”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67512" y="3063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项目全景分析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" y="3767328"/>
            <a:ext cx="1143000" cy="0"/>
          </a:xfrm>
          <a:prstGeom prst="line">
            <a:avLst/>
          </a:prstGeom>
          <a:noFill/>
          <a:ln w="38100">
            <a:solidFill>
              <a:srgbClr val="168F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9592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目标：以真实评分反馈驱动题目进化，构造更能区分模型能力的训练与评测数据。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67512" y="4892040"/>
            <a:ext cx="205740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3188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机制 / 效率 / 风险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667512" y="6199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  ·  基于当前代码与测试快照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POSITIONING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项目定位：一套“实验驱动”的能力边界发现系统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不是把题目机械写长，而是通过真实评测不断逼近弱模型的推理边界。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3419856" cy="3310128"/>
          </a:xfrm>
          <a:prstGeom prst="roundRect">
            <a:avLst>
              <a:gd name="adj" fmla="val 2210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29968"/>
            <a:ext cx="841248" cy="246888"/>
          </a:xfrm>
          <a:prstGeom prst="roundRect">
            <a:avLst>
              <a:gd name="adj" fmla="val 2963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7111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传统改写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72491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问题常被理解为：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“如何把原题变得更复杂？”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96112" y="3364992"/>
            <a:ext cx="26974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容易堆叠条件与术语
</a:t>
            </a:r>
            <a:pPr indent="0" marL="0">
              <a:buNone/>
            </a:pPr>
            <a:r>
              <a:rPr lang="en-US" sz="103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可能只增加阅读负担
</a:t>
            </a:r>
            <a:pPr indent="0" marL="0">
              <a:buNone/>
            </a:pPr>
            <a:r>
              <a:rPr lang="en-US" sz="103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无法证明真实难度提高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61104" y="3401568"/>
            <a:ext cx="859536" cy="0"/>
          </a:xfrm>
          <a:prstGeom prst="line">
            <a:avLst/>
          </a:prstGeom>
          <a:noFill/>
          <a:ln w="28575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2944368"/>
            <a:ext cx="914400" cy="914400"/>
          </a:xfrm>
          <a:prstGeom prst="ellipse">
            <a:avLst/>
          </a:prstGeom>
          <a:solidFill>
            <a:srgbClr val="E7F5F1"/>
          </a:solidFill>
          <a:ln w="15240">
            <a:solidFill>
              <a:srgbClr val="168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3236976"/>
            <a:ext cx="6217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0408" y="1783080"/>
            <a:ext cx="5943600" cy="3310128"/>
          </a:xfrm>
          <a:prstGeom prst="roundRect">
            <a:avLst>
              <a:gd name="adj" fmla="val 2210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2029968"/>
            <a:ext cx="1399032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207111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815584" y="2496312"/>
            <a:ext cx="51389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en-US" sz="1420" dirty="0"/>
          </a:p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“哪种改写能让候选模型暴露出可解释的能力缺口？”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5833872" y="3383280"/>
            <a:ext cx="164592" cy="164592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355848"/>
            <a:ext cx="640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876288" y="3355848"/>
            <a:ext cx="3566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新题仍然可答、事实不失真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833872" y="3886200"/>
            <a:ext cx="164592" cy="164592"/>
          </a:xfrm>
          <a:prstGeom prst="ellipse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区分度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876288" y="3858768"/>
            <a:ext cx="3566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候选模型得分下降或打破满分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833872" y="4389120"/>
            <a:ext cx="164592" cy="164592"/>
          </a:xfrm>
          <a:prstGeom prst="ellipse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4361688"/>
            <a:ext cx="640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876288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错误方向命中预期能力轴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291840" y="5513832"/>
            <a:ext cx="566928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5554980"/>
            <a:ext cx="5541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自动评分 = 边界候选证据；人工复核 = 最终确认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总体架构：一个闭环，两种搜索模式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统一的数据与评测契约；根据实验目标选择链式进化、横向分支或纵向算子叠加。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已准入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种子题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78308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712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219456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0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稳定评分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24612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016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5760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画像与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进化分流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0916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8348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0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12064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算子路由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17220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624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58368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与校验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63524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0956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928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329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804672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重评测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098280" y="2569464"/>
            <a:ext cx="210312" cy="0"/>
          </a:xfrm>
          <a:prstGeom prst="line">
            <a:avLst/>
          </a:prstGeom>
          <a:noFill/>
          <a:ln w="1397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72600" y="2084832"/>
            <a:ext cx="1170432" cy="969264"/>
          </a:xfrm>
          <a:prstGeom prst="roundRect">
            <a:avLst>
              <a:gd name="adj" fmla="val 7547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82328" y="2194560"/>
            <a:ext cx="59436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46336" y="2235708"/>
            <a:ext cx="466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9509760" y="2523744"/>
            <a:ext cx="8961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效果反馈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Memory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 flipH="1">
            <a:off x="3547872" y="3136392"/>
            <a:ext cx="6995160" cy="950976"/>
          </a:xfrm>
          <a:prstGeom prst="line">
            <a:avLst/>
          </a:prstGeom>
          <a:noFill/>
          <a:ln w="1651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5800" y="3977640"/>
            <a:ext cx="3438144" cy="1435608"/>
          </a:xfrm>
          <a:prstGeom prst="roundRect">
            <a:avLst>
              <a:gd name="adj" fmla="val 5096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4224528"/>
            <a:ext cx="1115568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" y="426567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链式核心模式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914400" y="4645152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单轮局部多候选 → 选 1 条主链 →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效果分析与状态更新 → 下一轮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4352544" y="3977640"/>
            <a:ext cx="3438144" cy="1435608"/>
          </a:xfrm>
          <a:prstGeom prst="roundRect">
            <a:avLst>
              <a:gd name="adj" fmla="val 5096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90288" y="4224528"/>
            <a:ext cx="1161288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296" y="4265676"/>
            <a:ext cx="1033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横向分支搜索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590288" y="4645152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同一父题的多个路由算子形成分支；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每个分支均完成独立评测闭环。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8019288" y="3977640"/>
            <a:ext cx="3438144" cy="1435608"/>
          </a:xfrm>
          <a:prstGeom prst="roundRect">
            <a:avLst>
              <a:gd name="adj" fmla="val 5096"/>
            </a:avLst>
          </a:prstGeom>
          <a:solidFill>
            <a:srgbClr val="FFFAF0"/>
          </a:solidFill>
          <a:ln w="10160">
            <a:solidFill>
              <a:srgbClr val="F4D79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57032" y="4224528"/>
            <a:ext cx="1243584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426567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6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纵向算子叠加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8257032" y="4645152"/>
            <a:ext cx="28895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仅对已降分 frontier 重新画像、路由；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默认最多两次连续算子。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2679192" y="5650992"/>
            <a:ext cx="676656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5692140"/>
            <a:ext cx="6638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run_loop 默认：multi_operator_branch · step · branch window = 1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CLOSED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核心闭环：每一次“变难”都必须被重新验证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题目变化后，旧答案、旧 Rubric 与旧分数均不再直接可信。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911096"/>
            <a:ext cx="475488" cy="47548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7784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64592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稳定高分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或可探测边界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1161288" y="2148840"/>
            <a:ext cx="969264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911096"/>
            <a:ext cx="475488" cy="47548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9736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066544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定位浅层线索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与能力缺口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3063240" y="2148840"/>
            <a:ext cx="969264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911096"/>
            <a:ext cx="475488" cy="47548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61688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968496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算子生成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局部多候选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965192" y="2148840"/>
            <a:ext cx="969264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91072" y="1911096"/>
            <a:ext cx="475488" cy="47548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870448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新参考答案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新 Rubric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867144" y="2148840"/>
            <a:ext cx="969264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93024" y="1911096"/>
            <a:ext cx="475488" cy="47548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65592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7772400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Trial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重新评分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8769096" y="2148840"/>
            <a:ext cx="969264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94976" y="1911096"/>
            <a:ext cx="475488" cy="475488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94976" y="2039112"/>
            <a:ext cx="4754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67544" y="2542032"/>
            <a:ext cx="566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674352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效果判断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Memory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1170432" y="4462272"/>
            <a:ext cx="9198864" cy="0"/>
          </a:xfrm>
          <a:prstGeom prst="line">
            <a:avLst/>
          </a:prstGeom>
          <a:noFill/>
          <a:ln w="21590">
            <a:solidFill>
              <a:srgbClr val="168F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5840" y="3840480"/>
            <a:ext cx="301752" cy="685800"/>
          </a:xfrm>
          <a:prstGeom prst="line">
            <a:avLst/>
          </a:prstGeom>
          <a:noFill/>
          <a:ln w="15875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938528" y="4956048"/>
            <a:ext cx="8211312" cy="658368"/>
          </a:xfrm>
          <a:prstGeom prst="roundRect">
            <a:avLst>
              <a:gd name="adj" fmla="val 11111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5175504"/>
            <a:ext cx="7717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关键不变量：候选是否“有效”，优先由后验真实评分决定；前置 Validator 只排除致命风险与提供分流信号。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ADMISSION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0：先判断“高分是否稳定”，再投入进化成本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通过多次独立回答与重复评分，避免偶然高分、偶然低分和不稳定样本误导后续策略。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3803904" cy="3456432"/>
          </a:xfrm>
          <a:prstGeom prst="roundRect">
            <a:avLst>
              <a:gd name="adj" fmla="val 2116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93976"/>
            <a:ext cx="987552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13512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默认评测矩阵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987552" y="2679192"/>
            <a:ext cx="1243584" cy="1243584"/>
          </a:xfrm>
          <a:prstGeom prst="ellipse">
            <a:avLst/>
          </a:prstGeom>
          <a:solidFill>
            <a:srgbClr val="FFFFFF"/>
          </a:solidFill>
          <a:ln w="26670">
            <a:solidFill>
              <a:srgbClr val="297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962656"/>
            <a:ext cx="10607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88136" y="3392424"/>
            <a:ext cx="10424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回答 / 自评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731520" y="4041648"/>
            <a:ext cx="17556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次 Qwen 相关调用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2542032" y="2679192"/>
            <a:ext cx="1243584" cy="1243584"/>
          </a:xfrm>
          <a:prstGeom prst="ellipse">
            <a:avLst/>
          </a:prstGeom>
          <a:solidFill>
            <a:srgbClr val="FFFFFF"/>
          </a:solidFill>
          <a:ln w="26670">
            <a:solidFill>
              <a:srgbClr val="16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962656"/>
            <a:ext cx="10607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42616" y="3392424"/>
            <a:ext cx="10424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回答 / 自评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286000" y="4041648"/>
            <a:ext cx="17556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次 GPT 相关调用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32688" y="4370832"/>
            <a:ext cx="31821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0 每题默认：6 次回答 + 12 次评分 = 18 次模型调用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4736592" y="1828800"/>
            <a:ext cx="2743200" cy="3456432"/>
          </a:xfrm>
          <a:prstGeom prst="roundRect">
            <a:avLst>
              <a:gd name="adj" fmla="val 2667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2624" y="2093976"/>
            <a:ext cx="896112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13512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稳定性统计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4992624" y="2606040"/>
            <a:ext cx="2011680" cy="1609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均值 / 中位数 / P75
</a:t>
            </a:r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标准差、极差、满分次数
</a:t>
            </a:r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Rubric 条目稳定性
</a:t>
            </a:r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推荐候选预算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754112" y="1828800"/>
            <a:ext cx="3758184" cy="3456432"/>
          </a:xfrm>
          <a:prstGeom prst="roundRect">
            <a:avLst>
              <a:gd name="adj" fmla="val 2116"/>
            </a:avLst>
          </a:prstGeom>
          <a:solidFill>
            <a:srgbClr val="FFFCF5"/>
          </a:solidFill>
          <a:ln w="10160">
            <a:solidFill>
              <a:srgbClr val="F4D7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2093976"/>
            <a:ext cx="758952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135124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6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准入状态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046720" y="2679192"/>
            <a:ext cx="146304" cy="146304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263347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stable_high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36608" y="2633472"/>
            <a:ext cx="1673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稳定高分，优先进化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3172968"/>
            <a:ext cx="146304" cy="146304"/>
          </a:xfrm>
          <a:prstGeom prst="ellipse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unstable_high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36608" y="3127248"/>
            <a:ext cx="1673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不稳但有强高分信号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46720" y="3666744"/>
            <a:ext cx="146304" cy="146304"/>
          </a:xfrm>
          <a:prstGeom prst="ellipse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621024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borderline_probe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436608" y="3621024"/>
            <a:ext cx="1673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边界附近，低预算探测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4160520"/>
            <a:ext cx="146304" cy="146304"/>
          </a:xfrm>
          <a:prstGeom prst="ellipse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stable_low / uncertain_low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36608" y="4114800"/>
            <a:ext cx="1673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停止或人工复核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DIAGNOSIS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画像与分流：不是“高分就改”，而是选择最有信息价值的样本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系统综合当前得分、稳定性、候选回答、过分诊断和跨轮状态，决定下一步动作。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10512"/>
            <a:ext cx="2944368" cy="3794760"/>
          </a:xfrm>
          <a:prstGeom prst="roundRect">
            <a:avLst>
              <a:gd name="adj" fmla="val 2484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66544"/>
            <a:ext cx="941832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7692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样本画像输入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896112" y="2587752"/>
            <a:ext cx="21488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原题与参考答案
</a:t>
            </a:r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候选模型回答
</a:t>
            </a:r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逐条 Rubric 得分
</a:t>
            </a:r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Round 0 稳定性信息
</a:t>
            </a:r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上一轮状态与失败经验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767328" y="3657600"/>
            <a:ext cx="804672" cy="0"/>
          </a:xfrm>
          <a:prstGeom prst="line">
            <a:avLst/>
          </a:prstGeom>
          <a:noFill/>
          <a:ln w="2159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1810512"/>
            <a:ext cx="2340864" cy="3794760"/>
          </a:xfrm>
          <a:prstGeom prst="roundRect">
            <a:avLst>
              <a:gd name="adj" fmla="val 3125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4336" y="2066544"/>
            <a:ext cx="795528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344" y="210769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诊断输出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983480" y="2670048"/>
            <a:ext cx="16916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sample_profile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882896" y="3136392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overscore_diagnosis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1874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定位：模型为什么答对？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下一步应压测什么？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232904" y="3657600"/>
            <a:ext cx="713232" cy="0"/>
          </a:xfrm>
          <a:prstGeom prst="line">
            <a:avLst/>
          </a:prstGeom>
          <a:noFill/>
          <a:ln w="2159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65008" y="1901952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1901952"/>
            <a:ext cx="73152" cy="502920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20824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高分进化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80576" y="2020824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明显虚高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848088" y="2029968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evolve_high_score_overscore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065008" y="25603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2560320"/>
            <a:ext cx="73152" cy="502920"/>
          </a:xfrm>
          <a:prstGeom prst="rect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679192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低分重构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80576" y="2679192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有边界信号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848088" y="2688336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reconstruct_low_score_boundary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065008" y="3218688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74152" y="3218688"/>
            <a:ext cx="73152" cy="502920"/>
          </a:xfrm>
          <a:prstGeom prst="rect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33756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中分探测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80576" y="3337560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有限探索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848088" y="3346704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probe_middle_score_boundary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065008" y="3877056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4152" y="3877056"/>
            <a:ext cx="73152" cy="502920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3995928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原题透传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80576" y="3995928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无价值 / 噪声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848088" y="4005072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pass_through_or_scoring_noise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065008" y="4535424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74152" y="4535424"/>
            <a:ext cx="73152" cy="502920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4654296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停止进化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80576" y="4654296"/>
            <a:ext cx="6583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终止状态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9848088" y="4663440"/>
            <a:ext cx="141732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stop_evolution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OPERATORS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算子体系：把“如何变难”拆成可控的能力轴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O10–O33 共 24 个算子；内部控制推理结构，但避免把答题脚手架直接写进题面。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47088"/>
            <a:ext cx="5074920" cy="1335024"/>
          </a:xfrm>
          <a:prstGeom prst="roundRect">
            <a:avLst>
              <a:gd name="adj" fmla="val 5479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130552"/>
            <a:ext cx="475488" cy="475488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67712"/>
            <a:ext cx="47548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9105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证据与闭合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591056" y="2441448"/>
            <a:ext cx="3584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最小充分证据、缺失链路、观察可靠性、信息增量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91056" y="2871216"/>
            <a:ext cx="3639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O10 / O13 / O14 / O23 / O28 / O31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6190488" y="1847088"/>
            <a:ext cx="5074920" cy="1335024"/>
          </a:xfrm>
          <a:prstGeom prst="roundRect">
            <a:avLst>
              <a:gd name="adj" fmla="val 5479"/>
            </a:avLst>
          </a:prstGeom>
          <a:solidFill>
            <a:srgbClr val="EAF3FA"/>
          </a:solidFill>
          <a:ln w="10160">
            <a:solidFill>
              <a:srgbClr val="2979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130552"/>
            <a:ext cx="475488" cy="475488"/>
          </a:xfrm>
          <a:prstGeom prst="ellipse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67712"/>
            <a:ext cx="47548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2317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时空与实体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123176" y="2441448"/>
            <a:ext cx="3584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时间窗、路径、对象来源、角色绑定、跨模态一致性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23176" y="2871216"/>
            <a:ext cx="3639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O11 / O19–O22 / O29 / O32 / O33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3584448"/>
            <a:ext cx="5074920" cy="1335024"/>
          </a:xfrm>
          <a:prstGeom prst="roundRect">
            <a:avLst>
              <a:gd name="adj" fmla="val 5479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867912"/>
            <a:ext cx="475488" cy="475488"/>
          </a:xfrm>
          <a:prstGeom prst="ellipse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05072"/>
            <a:ext cx="47548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91056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阈值与校准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591056" y="4178808"/>
            <a:ext cx="3584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反事实、量化传播、事实与行动、跨层结论边界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91056" y="4608576"/>
            <a:ext cx="3639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O12 / O15 / O17 / O25–O27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190488" y="3584448"/>
            <a:ext cx="5074920" cy="1335024"/>
          </a:xfrm>
          <a:prstGeom prst="roundRect">
            <a:avLst>
              <a:gd name="adj" fmla="val 5479"/>
            </a:avLst>
          </a:prstGeom>
          <a:solidFill>
            <a:srgbClr val="FFF0EE"/>
          </a:solidFill>
          <a:ln w="10160">
            <a:solidFill>
              <a:srgbClr val="E86A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3867912"/>
            <a:ext cx="475488" cy="475488"/>
          </a:xfrm>
          <a:prstGeom prst="ellipse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005072"/>
            <a:ext cx="47548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23176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竞争解释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7123176" y="4178808"/>
            <a:ext cx="3584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近似替代、残差比较、基线范围、主动区分观察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23176" y="4608576"/>
            <a:ext cx="3639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O16 / O18 / O24 / O30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58368" y="5468112"/>
            <a:ext cx="10570464" cy="530352"/>
          </a:xfrm>
          <a:prstGeom prst="roundRect">
            <a:avLst>
              <a:gd name="adj" fmla="val 13793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650992"/>
            <a:ext cx="10104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题面约束：不显式要求 A/B 二选一、层级排序、双门槛或动作层标签化作答；保留真实的证据关系、结论承接与事实绑定难度。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ROUTING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混合路由：规则负责边界，LLM 负责语义匹配，Memory 提供经验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输出经 Schema 校验，并冻结为当前父题可调度的候选算子列表。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38528"/>
            <a:ext cx="2331720" cy="1444752"/>
          </a:xfrm>
          <a:prstGeom prst="roundRect">
            <a:avLst>
              <a:gd name="adj" fmla="val 5063"/>
            </a:avLst>
          </a:prstGeom>
          <a:solidFill>
            <a:srgbClr val="EAF3FA"/>
          </a:solidFill>
          <a:ln w="10160">
            <a:solidFill>
              <a:srgbClr val="297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94560"/>
            <a:ext cx="19933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规则约束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算子启用状态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 / 终态 / 重复限制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874520" y="3456432"/>
            <a:ext cx="4206240" cy="512064"/>
          </a:xfrm>
          <a:prstGeom prst="line">
            <a:avLst/>
          </a:prstGeom>
          <a:noFill/>
          <a:ln w="15240">
            <a:solidFill>
              <a:srgbClr val="2979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02152" y="1938528"/>
            <a:ext cx="2331720" cy="1444752"/>
          </a:xfrm>
          <a:prstGeom prst="roundRect">
            <a:avLst>
              <a:gd name="adj" fmla="val 5063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94560"/>
            <a:ext cx="19933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Router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660904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当前题面 + 画像 + 证据片段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输出候选算子及理由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663440" y="3456432"/>
            <a:ext cx="1417320" cy="512064"/>
          </a:xfrm>
          <a:prstGeom prst="line">
            <a:avLst/>
          </a:prstGeom>
          <a:noFill/>
          <a:ln w="1524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91072" y="1938528"/>
            <a:ext cx="2331720" cy="1444752"/>
          </a:xfrm>
          <a:prstGeom prst="roundRect">
            <a:avLst>
              <a:gd name="adj" fmla="val 5063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94560"/>
            <a:ext cx="19933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Bank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660904"/>
            <a:ext cx="1920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历史成功 / 失败形态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同类样本匹配与缓存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 flipH="1">
            <a:off x="6080760" y="3456432"/>
            <a:ext cx="1371600" cy="512064"/>
          </a:xfrm>
          <a:prstGeom prst="line">
            <a:avLst/>
          </a:prstGeom>
          <a:noFill/>
          <a:ln w="15240">
            <a:solidFill>
              <a:srgbClr val="E2A8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07424" y="1938528"/>
            <a:ext cx="2340864" cy="1444752"/>
          </a:xfrm>
          <a:prstGeom prst="roundRect">
            <a:avLst>
              <a:gd name="adj" fmla="val 5063"/>
            </a:avLst>
          </a:prstGeom>
          <a:solidFill>
            <a:srgbClr val="FBFCFE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194560"/>
            <a:ext cx="19019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严格契约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0" y="2660904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证据片段必须来自输入；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不合法候选单独审计。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 flipH="1">
            <a:off x="6080760" y="3456432"/>
            <a:ext cx="4197096" cy="512064"/>
          </a:xfrm>
          <a:prstGeom prst="line">
            <a:avLst/>
          </a:prstGeom>
          <a:noFill/>
          <a:ln w="1524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10912" y="3712464"/>
            <a:ext cx="2121408" cy="9326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68F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3995928"/>
            <a:ext cx="1755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operator_route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4892040"/>
            <a:ext cx="395020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· backup · avoid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selected_operator_ids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337560" y="5614416"/>
            <a:ext cx="530352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5655564"/>
            <a:ext cx="5175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避免“注册表里的所有算子”被自动加入搜索计划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SELECTION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候选选择：用“分流”保留探索，而不是把所有不确定项一刀切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每个算子可生成候选；复杂度、事实和收益校验后，再按主链与探索预算选择。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10512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FFF0EE"/>
          </a:solidFill>
          <a:ln w="10160">
            <a:solidFill>
              <a:srgbClr val="E86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10512"/>
            <a:ext cx="118872" cy="685800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reject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2788920" y="201168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不可答 / 事实错误 / 严重模板化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839712" y="2157984"/>
            <a:ext cx="722376" cy="0"/>
          </a:xfrm>
          <a:prstGeom prst="line">
            <a:avLst/>
          </a:prstGeom>
          <a:noFill/>
          <a:ln w="13970">
            <a:solidFill>
              <a:srgbClr val="E86A5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818120" y="2011680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停止，不进入评分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2770632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770632"/>
            <a:ext cx="118872" cy="685800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7180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chain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2788920" y="297180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clear_gain / probable_gain 等明确收益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39712" y="3118104"/>
            <a:ext cx="722376" cy="0"/>
          </a:xfrm>
          <a:prstGeom prst="line">
            <a:avLst/>
          </a:prstGeom>
          <a:noFill/>
          <a:ln w="1397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818120" y="2971800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进入完整主链评分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58368" y="3730752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3730752"/>
            <a:ext cx="118872" cy="685800"/>
          </a:xfrm>
          <a:prstGeom prst="rect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Exploration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2788920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weak_gain / needs_manual_review 等不确定收益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839712" y="4078224"/>
            <a:ext cx="722376" cy="0"/>
          </a:xfrm>
          <a:prstGeom prst="line">
            <a:avLst/>
          </a:prstGeom>
          <a:noFill/>
          <a:ln w="13970">
            <a:solidFill>
              <a:srgbClr val="E2A83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818120" y="3931920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预算内进入真实评分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58368" y="4690872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EDF2F7"/>
          </a:solidFill>
          <a:ln w="10160">
            <a:solidFill>
              <a:srgbClr val="4865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4690872"/>
            <a:ext cx="118872" cy="685800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9204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through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278892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无探索价值或原始样本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839712" y="5038344"/>
            <a:ext cx="722376" cy="0"/>
          </a:xfrm>
          <a:prstGeom prst="line">
            <a:avLst/>
          </a:prstGeom>
          <a:noFill/>
          <a:ln w="1397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818120" y="4892040"/>
            <a:ext cx="2971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保留原题及已有结果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709928" y="5724144"/>
            <a:ext cx="8759952" cy="420624"/>
          </a:xfrm>
          <a:prstGeom prst="roundRect">
            <a:avLst>
              <a:gd name="adj" fmla="val 17391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38528" y="5843016"/>
            <a:ext cx="830275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控制规则：每个 candidate group 最多选 1 个 exploration candidate；每轮 exploration 数量受总预算限制。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评测闭环：题目变了，参考答案、Rubric 与评分 Prompt 必须全部重建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旧评分材料仅作为 stale 历史保留；新题必须建立独立、可追溯的评测上下文。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2971800" cy="3474720"/>
          </a:xfrm>
          <a:prstGeom prst="roundRect">
            <a:avLst>
              <a:gd name="adj" fmla="val 2462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75688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16836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题目进化后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旧材料失效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reference
</a:t>
            </a:r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rubric
</a:t>
            </a:r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score_prompt
</a:t>
            </a:r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scoring_result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3566160"/>
            <a:ext cx="896112" cy="0"/>
          </a:xfrm>
          <a:prstGeom prst="line">
            <a:avLst/>
          </a:prstGeom>
          <a:noFill/>
          <a:ln w="2286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92040" y="1837944"/>
            <a:ext cx="2880360" cy="740664"/>
          </a:xfrm>
          <a:prstGeom prst="roundRect">
            <a:avLst>
              <a:gd name="adj" fmla="val 9877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2011680"/>
            <a:ext cx="365760" cy="365760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130552"/>
            <a:ext cx="3657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742432" y="2084832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生成新参考答案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889504"/>
            <a:ext cx="2880360" cy="740664"/>
          </a:xfrm>
          <a:prstGeom prst="roundRect">
            <a:avLst>
              <a:gd name="adj" fmla="val 9877"/>
            </a:avLst>
          </a:prstGeom>
          <a:solidFill>
            <a:srgbClr val="EAF3FA"/>
          </a:solidFill>
          <a:ln w="10160">
            <a:solidFill>
              <a:srgbClr val="2979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3063240"/>
            <a:ext cx="365760" cy="365760"/>
          </a:xfrm>
          <a:prstGeom prst="ellipse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3182112"/>
            <a:ext cx="3657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742432" y="3136392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 Rubric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941064"/>
            <a:ext cx="2880360" cy="740664"/>
          </a:xfrm>
          <a:prstGeom prst="roundRect">
            <a:avLst>
              <a:gd name="adj" fmla="val 9877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4114800"/>
            <a:ext cx="365760" cy="365760"/>
          </a:xfrm>
          <a:prstGeom prst="ellipse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4233672"/>
            <a:ext cx="3657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5742432" y="4187952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生成新评分 Prompt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3566160"/>
            <a:ext cx="804672" cy="0"/>
          </a:xfrm>
          <a:prstGeom prst="line">
            <a:avLst/>
          </a:prstGeom>
          <a:noFill/>
          <a:ln w="2286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79408" y="1828800"/>
            <a:ext cx="2523744" cy="3474720"/>
          </a:xfrm>
          <a:prstGeom prst="roundRect">
            <a:avLst>
              <a:gd name="adj" fmla="val 2899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2075688"/>
            <a:ext cx="758952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211683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重新评分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9326880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新题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新答案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新标准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81160" y="4160520"/>
            <a:ext cx="18562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避免“题目已变，但仍用旧标准评分”的伪实验。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SCORING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Trial、双 Judge：在线决策与实验观察严格分离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 score_rate 只使用 Qwen 回答 + Qwen Judge；GPT 结果保留为实验性对照。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47088"/>
            <a:ext cx="3310128" cy="2377440"/>
          </a:xfrm>
          <a:prstGeom prst="roundRect">
            <a:avLst>
              <a:gd name="adj" fmla="val 3077"/>
            </a:avLst>
          </a:prstGeom>
          <a:solidFill>
            <a:srgbClr val="EAF3FA"/>
          </a:solidFill>
          <a:ln w="10160">
            <a:solidFill>
              <a:srgbClr val="297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12264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53412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回答轨道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978408" y="2706624"/>
            <a:ext cx="2697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Qwen：3 个独立回答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GPT：3 个独立回答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014216" y="3044952"/>
            <a:ext cx="347472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43984" y="1847088"/>
            <a:ext cx="3310128" cy="2377440"/>
          </a:xfrm>
          <a:prstGeom prst="roundRect">
            <a:avLst>
              <a:gd name="adj" fmla="val 3077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2112264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53412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评分轨道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754880" y="2706624"/>
            <a:ext cx="2697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自评：每份 2 次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自评：每份 2 次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复评 Qwen：每份 2 次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790688" y="3044952"/>
            <a:ext cx="347472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0456" y="1847088"/>
            <a:ext cx="3310128" cy="2377440"/>
          </a:xfrm>
          <a:prstGeom prst="roundRect">
            <a:avLst>
              <a:gd name="adj" fmla="val 3077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2112264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2153412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聚合与决策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531352" y="2706624"/>
            <a:ext cx="2697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自评全量聚合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顶层 score_rate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汇总仅供对照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67512" y="459028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18888"/>
            <a:ext cx="9326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调用规模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12848" y="4818888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0：18 次 / 题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08576" y="4818888"/>
            <a:ext cx="285292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进化后完整分支：24 次 / 分支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818888"/>
            <a:ext cx="34747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结论：远程模型调用是主要成本，本地 JSONL 和校验通常不是首要瓶颈。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703320" y="5715000"/>
            <a:ext cx="480060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5756148"/>
            <a:ext cx="467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不会覆盖、平均或修改在线 score_rate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FEEDBACK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效果判定与反馈：得分上升是负收益，必须回滚而非“成功终止”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系统同时看前后得分、校验通过情况、题型重复风险和错误方向是否命中预期 focus。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044952" cy="3529584"/>
          </a:xfrm>
          <a:prstGeom prst="roundRect">
            <a:avLst>
              <a:gd name="adj" fmla="val 2402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39696"/>
            <a:ext cx="100584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180844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有效边界候选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914400" y="2679192"/>
            <a:ext cx="2212848" cy="1847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题目确已进化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复杂度 / 可答性通过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非重复题型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得分下降或打破满分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错误方向命中 expected focus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14400" y="4791456"/>
            <a:ext cx="23317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输出：effective_boundary_probe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（仍需人工复核）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553712" y="1874520"/>
            <a:ext cx="3044952" cy="3529584"/>
          </a:xfrm>
          <a:prstGeom prst="roundRect">
            <a:avLst>
              <a:gd name="adj" fmla="val 2402"/>
            </a:avLst>
          </a:prstGeom>
          <a:solidFill>
            <a:srgbClr val="FFF9E9"/>
          </a:solidFill>
          <a:ln w="10160">
            <a:solidFill>
              <a:srgbClr val="F4D7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139696"/>
            <a:ext cx="859536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1808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6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不确定结果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782312" y="2697480"/>
            <a:ext cx="2157984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得分下降幅度小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focus 不充分或不匹配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评分变化难以解释
</a:t>
            </a:r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 needs_manual_review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782312" y="4700016"/>
            <a:ext cx="2194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66B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原则：不把不确定候选误判为强成功经验。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430768" y="1874520"/>
            <a:ext cx="3044952" cy="3529584"/>
          </a:xfrm>
          <a:prstGeom prst="roundRect">
            <a:avLst>
              <a:gd name="adj" fmla="val 2402"/>
            </a:avLst>
          </a:prstGeom>
          <a:solidFill>
            <a:srgbClr val="FFF0EE"/>
          </a:solidFill>
          <a:ln w="10160">
            <a:solidFill>
              <a:srgbClr val="F1B2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7656" y="2139696"/>
            <a:ext cx="932688" cy="246888"/>
          </a:xfrm>
          <a:prstGeom prst="roundRect">
            <a:avLst>
              <a:gd name="adj" fmla="val 2963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1664" y="218084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score_increased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705088" y="2743200"/>
            <a:ext cx="24963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进化后得分升高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当前题目更容易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48672" y="3520440"/>
            <a:ext cx="0" cy="502920"/>
          </a:xfrm>
          <a:prstGeom prst="line">
            <a:avLst/>
          </a:prstGeom>
          <a:noFill/>
          <a:ln w="19050">
            <a:solidFill>
              <a:srgbClr val="E86A5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705088" y="4187952"/>
            <a:ext cx="248716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恢复直接父题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failure memory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下一轮换算子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HORIZONTAL SEARCH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横向多算子分支搜索：同一父题，并行探索不同能力轴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分支不来自全量注册表，而只来自 Router 冻结后的 selected_operator_ids。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779776"/>
            <a:ext cx="1143000" cy="896112"/>
          </a:xfrm>
          <a:prstGeom prst="roundRect">
            <a:avLst>
              <a:gd name="adj" fmla="val 8163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889504"/>
            <a:ext cx="50292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93065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95528" y="3218688"/>
            <a:ext cx="868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已评分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1874520" y="2084832"/>
            <a:ext cx="896112" cy="114300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74520" y="3227832"/>
            <a:ext cx="896112" cy="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74520" y="3227832"/>
            <a:ext cx="896112" cy="1143000"/>
          </a:xfrm>
          <a:prstGeom prst="line">
            <a:avLst/>
          </a:prstGeom>
          <a:noFill/>
          <a:ln w="15875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35808" y="1417320"/>
            <a:ext cx="14081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1527048"/>
            <a:ext cx="493776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15681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O10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172968" y="1856232"/>
            <a:ext cx="113385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降分？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553712" y="1828800"/>
            <a:ext cx="960120" cy="0"/>
          </a:xfrm>
          <a:prstGeom prst="line">
            <a:avLst/>
          </a:prstGeom>
          <a:noFill/>
          <a:ln w="15875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1508760"/>
            <a:ext cx="1901952" cy="640080"/>
          </a:xfrm>
          <a:prstGeom prst="roundRect">
            <a:avLst>
              <a:gd name="adj" fmla="val 11429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673352"/>
            <a:ext cx="149961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状态归并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更新分支结果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035808" y="2560320"/>
            <a:ext cx="14081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5536" y="2670048"/>
            <a:ext cx="493776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9544" y="27111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O15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3172968" y="2999232"/>
            <a:ext cx="113385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降分？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553712" y="2971800"/>
            <a:ext cx="960120" cy="0"/>
          </a:xfrm>
          <a:prstGeom prst="line">
            <a:avLst/>
          </a:prstGeom>
          <a:noFill/>
          <a:ln w="15875">
            <a:solidFill>
              <a:srgbClr val="2979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2651760"/>
            <a:ext cx="1901952" cy="640080"/>
          </a:xfrm>
          <a:prstGeom prst="roundRect">
            <a:avLst>
              <a:gd name="adj" fmla="val 11429"/>
            </a:avLst>
          </a:prstGeom>
          <a:solidFill>
            <a:srgbClr val="EAF3FA"/>
          </a:solidFill>
          <a:ln w="10160">
            <a:solidFill>
              <a:srgbClr val="297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2816352"/>
            <a:ext cx="149961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形成边界候选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或普通终态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3035808" y="3703320"/>
            <a:ext cx="14081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45536" y="3813048"/>
            <a:ext cx="493776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9544" y="38541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O24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172968" y="4142232"/>
            <a:ext cx="113385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降分？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4553712" y="4114800"/>
            <a:ext cx="960120" cy="0"/>
          </a:xfrm>
          <a:prstGeom prst="line">
            <a:avLst/>
          </a:prstGeom>
          <a:noFill/>
          <a:ln w="15875">
            <a:solidFill>
              <a:srgbClr val="E2A83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669280" y="3794760"/>
            <a:ext cx="1901952" cy="640080"/>
          </a:xfrm>
          <a:prstGeom prst="roundRect">
            <a:avLst>
              <a:gd name="adj" fmla="val 11429"/>
            </a:avLst>
          </a:prstGeom>
          <a:solidFill>
            <a:srgbClr val="FFF5D8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3959352"/>
            <a:ext cx="149961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状态归并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更新分支结果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138160" y="2011680"/>
            <a:ext cx="3255264" cy="2587752"/>
          </a:xfrm>
          <a:prstGeom prst="roundRect">
            <a:avLst>
              <a:gd name="adj" fmla="val 2827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94192" y="2276856"/>
            <a:ext cx="1024128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23180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动态窗口与幂等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8366760" y="2779776"/>
            <a:ext cx="2423160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稳定 branch_id = parent + operator
</a:t>
            </a:r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窗口受剩余边界名额限制
</a:t>
            </a:r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已完成分支不重复调度
</a:t>
            </a:r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Qwen 决策完成即可更新状态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2487168" y="5486400"/>
            <a:ext cx="7114032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51176" y="5527548"/>
            <a:ext cx="6986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step：逐阶段编排  ·  stream：有界队列、逐分支补位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VERTICAL SEARCH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纵向算子叠加：只有已降分的节点，才有资格进入下一层探索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目标是发现单一算子难以形成的复合能力边界，而不是无限树搜索。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770632"/>
            <a:ext cx="1298448" cy="850392"/>
          </a:xfrm>
          <a:prstGeom prst="roundRect">
            <a:avLst>
              <a:gd name="adj" fmla="val 8602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80360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92150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1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850392" y="3209544"/>
            <a:ext cx="10241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2121408" y="2258568"/>
            <a:ext cx="850392" cy="932688"/>
          </a:xfrm>
          <a:prstGeom prst="line">
            <a:avLst/>
          </a:prstGeom>
          <a:noFill/>
          <a:ln w="1651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21408" y="3191256"/>
            <a:ext cx="850392" cy="923544"/>
          </a:xfrm>
          <a:prstGeom prst="line">
            <a:avLst/>
          </a:prstGeom>
          <a:noFill/>
          <a:ln w="1651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1847088"/>
            <a:ext cx="1389888" cy="832104"/>
          </a:xfrm>
          <a:prstGeom prst="roundRect">
            <a:avLst>
              <a:gd name="adj" fmla="val 8791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956816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99796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2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11155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703320"/>
            <a:ext cx="1389888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381304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385419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2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337560" y="4142232"/>
            <a:ext cx="111556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O24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不降分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258568"/>
            <a:ext cx="859536" cy="0"/>
          </a:xfrm>
          <a:prstGeom prst="line">
            <a:avLst/>
          </a:prstGeom>
          <a:noFill/>
          <a:ln w="1778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79008" y="1627632"/>
            <a:ext cx="1847088" cy="1252728"/>
          </a:xfrm>
          <a:prstGeom prst="roundRect">
            <a:avLst>
              <a:gd name="adj" fmla="val 5839"/>
            </a:avLst>
          </a:prstGeom>
          <a:solidFill>
            <a:srgbClr val="E7F5F1"/>
          </a:solidFill>
          <a:ln w="10160">
            <a:solidFill>
              <a:srgbClr val="168F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975104"/>
            <a:ext cx="139903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重新画像 + 重新路由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 flipV="1">
            <a:off x="7726680" y="1627632"/>
            <a:ext cx="822960" cy="630936"/>
          </a:xfrm>
          <a:prstGeom prst="line">
            <a:avLst/>
          </a:prstGeom>
          <a:noFill/>
          <a:ln w="15875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26680" y="2258568"/>
            <a:ext cx="822960" cy="649224"/>
          </a:xfrm>
          <a:prstGeom prst="line">
            <a:avLst/>
          </a:prstGeom>
          <a:noFill/>
          <a:ln w="15875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32520" y="1188720"/>
            <a:ext cx="1920240" cy="859536"/>
          </a:xfrm>
          <a:prstGeom prst="roundRect">
            <a:avLst>
              <a:gd name="adj" fmla="val 8511"/>
            </a:avLst>
          </a:prstGeom>
          <a:solidFill>
            <a:srgbClr val="FFFCF5"/>
          </a:solidFill>
          <a:ln w="10160">
            <a:solidFill>
              <a:srgbClr val="E2A8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42248" y="129844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133959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3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869680" y="1627632"/>
            <a:ext cx="1645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O10 → O15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继续降分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732520" y="2505456"/>
            <a:ext cx="19202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42248" y="2615184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06256" y="265633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3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8869680" y="2944368"/>
            <a:ext cx="1645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O10 → O30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不降分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77240" y="5084064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294376"/>
            <a:ext cx="10012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默认约束：最大深度 3；只比较直接父子分数；路径内不重复算子；单算子、叠加算子及总边界均设独立配额。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EFFICIENCY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效率优化：优化等待、重复与恢复，不牺牲实验协议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系统的主要瓶颈是远程模型服务；优化重点是减少无价值调用与服务端排队。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92224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792224"/>
            <a:ext cx="109728" cy="969264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1168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少做无价值调用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2596896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稳定性准入、候选预算、探索预算、透传复用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300216" y="1792224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0216" y="1792224"/>
            <a:ext cx="109728" cy="969264"/>
          </a:xfrm>
          <a:prstGeom prst="rect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5976" y="2011680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分离两种并发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220456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worker ≠ 实际在途请求；Qwen/GPT 各自公平请求池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76656" y="3054096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054096"/>
            <a:ext cx="109728" cy="969264"/>
          </a:xfrm>
          <a:prstGeom prst="rect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273552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避免重复工作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596896" y="3264408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Cache、Memory 倒排索引、本地校验规则版本复用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300216" y="3054096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3054096"/>
            <a:ext cx="109728" cy="969264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3273552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快速恢复运行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220456" y="3264408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partial + checkpoint + manifest + 原子发布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" y="4315968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315968"/>
            <a:ext cx="109728" cy="969264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4535424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提升搜索吞吐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2596896" y="4526280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动态分支窗口、stream 管线、GPT 实验评分解耦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00216" y="4315968"/>
            <a:ext cx="51480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0216" y="4315968"/>
            <a:ext cx="109728" cy="969264"/>
          </a:xfrm>
          <a:prstGeom prst="rect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4535424"/>
            <a:ext cx="1508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控制产物规模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220456" y="4526280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sidecar、compact 分支产物、轻量搜索状态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389888" y="5641848"/>
            <a:ext cx="9464040" cy="438912"/>
          </a:xfrm>
          <a:prstGeom prst="roundRect">
            <a:avLst>
              <a:gd name="adj" fmla="val 16667"/>
            </a:avLst>
          </a:prstGeom>
          <a:solidFill>
            <a:srgbClr val="F5FBFA"/>
          </a:solidFill>
          <a:ln w="10160">
            <a:solidFill>
              <a:srgbClr val="B8E2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36776" y="5769864"/>
            <a:ext cx="89611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性能事件会记录解析、排队、远程等待、重试、写入、队列深度与 RSS 峰值，使瓶颈可被量化定位。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· RELIABILITY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工程可靠性：可恢复、可审计、可复现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阶段间采用 JSONL 契约，正式产物只有在完整校验后才对下游可见。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94560"/>
            <a:ext cx="16276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0428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454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758952" y="2633472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input.jsonl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2596896"/>
            <a:ext cx="475488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9504" y="2194560"/>
            <a:ext cx="16276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30428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3454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2A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3026664" y="2633472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.partial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596896"/>
            <a:ext cx="475488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2194560"/>
            <a:ext cx="16276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6944" y="230428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3454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979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恢复点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294376" y="2633472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.checkpoint.jsonl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39712" y="2596896"/>
            <a:ext cx="475488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24928" y="2194560"/>
            <a:ext cx="16276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34656" y="230428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E7F5F1"/>
          </a:solidFill>
          <a:ln w="12700">
            <a:solidFill>
              <a:srgbClr val="E7F5F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8664" y="23454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正式发布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7562088" y="2633472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output.jsonl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07424" y="2596896"/>
            <a:ext cx="475488" cy="0"/>
          </a:xfrm>
          <a:prstGeom prst="line">
            <a:avLst/>
          </a:prstGeom>
          <a:noFill/>
          <a:ln w="15240">
            <a:solidFill>
              <a:srgbClr val="829AB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94560"/>
            <a:ext cx="162763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02368" y="2304288"/>
            <a:ext cx="640080" cy="246888"/>
          </a:xfrm>
          <a:prstGeom prst="roundRect">
            <a:avLst>
              <a:gd name="adj" fmla="val 2963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6376" y="23454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86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9829800" y="2633472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.manifest.json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sidecar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976" y="3767328"/>
            <a:ext cx="164592" cy="164592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Fail-fast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560320" y="3703320"/>
            <a:ext cx="8183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 API 阶段失败写入 *.failed，并以非零状态退出；禁止不完整正式输出进入下游。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950976" y="4325112"/>
            <a:ext cx="164592" cy="164592"/>
          </a:xfrm>
          <a:prstGeom prst="ellipse">
            <a:avLst/>
          </a:prstGeom>
          <a:solidFill>
            <a:srgbClr val="2979B8"/>
          </a:solidFill>
          <a:ln w="12700">
            <a:solidFill>
              <a:srgbClr val="2979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3312" y="426110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分层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2560320" y="4261104"/>
            <a:ext cx="8183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原始模型响应存入压缩 sidecar，主业务 JSONL 只保留 trace ID，降低复制与存储成本。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50976" y="4882896"/>
            <a:ext cx="164592" cy="164592"/>
          </a:xfrm>
          <a:prstGeom prst="ellipse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53312" y="481888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幂等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2560320" y="4818888"/>
            <a:ext cx="8183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 / failure / invalid 三类 Memory 通过稳定键写入，断点恢复不重复追加。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1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· NEXT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关键风险与后续演进：从“可运行”走向“可规模化验证”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当前系统已具备完整闭环与受控搜索能力，下一步重点是评测可信度、成本控制与实验治理。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08176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73936"/>
            <a:ext cx="10927080" cy="676656"/>
          </a:xfrm>
          <a:prstGeom prst="roundRect">
            <a:avLst>
              <a:gd name="adj" fmla="val 10811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84248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 Judge 偏差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788920" y="1984248"/>
            <a:ext cx="4069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同时承担回答与在线评分；GPT 目前仅为实验对照。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040880" y="2112264"/>
            <a:ext cx="548640" cy="0"/>
          </a:xfrm>
          <a:prstGeom prst="line">
            <a:avLst/>
          </a:prstGeom>
          <a:noFill/>
          <a:ln w="1270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863840" y="1984248"/>
            <a:ext cx="3063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建议：盲审、一致性指标、人工抽检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67512" y="2688336"/>
            <a:ext cx="10927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98648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降分不必然等于变难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2788920" y="2898648"/>
            <a:ext cx="4069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仍可能来自歧义、评分错配或随机波动。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040880" y="3026664"/>
            <a:ext cx="548640" cy="0"/>
          </a:xfrm>
          <a:prstGeom prst="line">
            <a:avLst/>
          </a:prstGeom>
          <a:noFill/>
          <a:ln w="1270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63840" y="2898648"/>
            <a:ext cx="3063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建议：强化 focus 对齐与人工审核闭环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67512" y="3602736"/>
            <a:ext cx="10927080" cy="676656"/>
          </a:xfrm>
          <a:prstGeom prst="roundRect">
            <a:avLst>
              <a:gd name="adj" fmla="val 10811"/>
            </a:avLst>
          </a:prstGeom>
          <a:solidFill>
            <a:srgbClr val="FBFCFE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813048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模型调用成本高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2788920" y="3813048"/>
            <a:ext cx="4069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单条完整进化分支仅评分就至少 24 次调用。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040880" y="3941064"/>
            <a:ext cx="548640" cy="0"/>
          </a:xfrm>
          <a:prstGeom prst="line">
            <a:avLst/>
          </a:prstGeom>
          <a:noFill/>
          <a:ln w="1270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863840" y="3813048"/>
            <a:ext cx="3063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建议：预算、缓存、性能事件、分批灰度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67512" y="4517136"/>
            <a:ext cx="10927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727448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路由偏置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2788920" y="4727448"/>
            <a:ext cx="4069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865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历史经验会加速收敛，也可能固化早期偏好。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040880" y="4855464"/>
            <a:ext cx="548640" cy="0"/>
          </a:xfrm>
          <a:prstGeom prst="line">
            <a:avLst/>
          </a:prstGeom>
          <a:noFill/>
          <a:ln w="12700">
            <a:solidFill>
              <a:srgbClr val="168F8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863840" y="4727448"/>
            <a:ext cx="3063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建议：按算子 / 场景监控收益与覆盖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901952" y="5705856"/>
            <a:ext cx="8366760" cy="246888"/>
          </a:xfrm>
          <a:prstGeom prst="roundRect">
            <a:avLst>
              <a:gd name="adj" fmla="val 2963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5747004"/>
            <a:ext cx="8238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最终目标：让“真实 score drop”成为可解释、可复现、可规模化积累的数据资产。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29A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  ·  项目全景分析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875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F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题目进化的终点，不是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更复杂的题面。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3063240"/>
            <a:ext cx="6876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而是可被验证、可被解释、可持续积累的模型能力边界。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3840480"/>
            <a:ext cx="1243584" cy="0"/>
          </a:xfrm>
          <a:prstGeom prst="line">
            <a:avLst/>
          </a:prstGeom>
          <a:noFill/>
          <a:ln w="38100">
            <a:solidFill>
              <a:srgbClr val="168F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51960"/>
            <a:ext cx="822960" cy="246888"/>
          </a:xfrm>
          <a:prstGeom prst="roundRect">
            <a:avLst>
              <a:gd name="adj" fmla="val 29630"/>
            </a:avLst>
          </a:prstGeom>
          <a:solidFill>
            <a:srgbClr val="163C4A"/>
          </a:solidFill>
          <a:ln w="12700">
            <a:solidFill>
              <a:srgbClr val="163C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42931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稳定准入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1719072" y="4251960"/>
            <a:ext cx="822960" cy="246888"/>
          </a:xfrm>
          <a:prstGeom prst="roundRect">
            <a:avLst>
              <a:gd name="adj" fmla="val 29630"/>
            </a:avLst>
          </a:prstGeom>
          <a:solidFill>
            <a:srgbClr val="163C4A"/>
          </a:solidFill>
          <a:ln w="12700">
            <a:solidFill>
              <a:srgbClr val="163C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42931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真实评分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706624" y="4251960"/>
            <a:ext cx="822960" cy="246888"/>
          </a:xfrm>
          <a:prstGeom prst="roundRect">
            <a:avLst>
              <a:gd name="adj" fmla="val 29630"/>
            </a:avLst>
          </a:prstGeom>
          <a:solidFill>
            <a:srgbClr val="163C4A"/>
          </a:solidFill>
          <a:ln w="12700">
            <a:solidFill>
              <a:srgbClr val="163C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42931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后验反馈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694176" y="4251960"/>
            <a:ext cx="822960" cy="246888"/>
          </a:xfrm>
          <a:prstGeom prst="roundRect">
            <a:avLst>
              <a:gd name="adj" fmla="val 29630"/>
            </a:avLst>
          </a:prstGeom>
          <a:solidFill>
            <a:srgbClr val="163C4A"/>
          </a:solidFill>
          <a:ln w="12700">
            <a:solidFill>
              <a:srgbClr val="163C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42931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6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394192" y="1417320"/>
            <a:ext cx="2231136" cy="2231136"/>
          </a:xfrm>
          <a:prstGeom prst="ellipse">
            <a:avLst/>
          </a:prstGeom>
          <a:solidFill>
            <a:srgbClr val="163C4A"/>
          </a:solidFill>
          <a:ln w="19050">
            <a:solidFill>
              <a:srgbClr val="168F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97696" y="2029968"/>
            <a:ext cx="1024128" cy="1024128"/>
          </a:xfrm>
          <a:prstGeom prst="ellipse">
            <a:avLst/>
          </a:prstGeom>
          <a:solidFill>
            <a:srgbClr val="168F86"/>
          </a:solidFill>
          <a:ln w="12700">
            <a:solidFill>
              <a:srgbClr val="168F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8202168" y="3749040"/>
            <a:ext cx="1289304" cy="777240"/>
          </a:xfrm>
          <a:prstGeom prst="line">
            <a:avLst/>
          </a:prstGeom>
          <a:noFill/>
          <a:ln w="20320">
            <a:solidFill>
              <a:srgbClr val="7FD6C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594360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37392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F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Question Evolution Pipeline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Evolution Pipeline｜项目全景分析</dc:title>
  <dc:subject>Question Evolution Pipeline 项目全景分析</dc:subject>
  <dc:creator>OpenAI Codex</dc:creator>
  <cp:lastModifiedBy>OpenAI Codex</cp:lastModifiedBy>
  <cp:revision>1</cp:revision>
  <dcterms:created xsi:type="dcterms:W3CDTF">2026-07-29T15:37:33Z</dcterms:created>
  <dcterms:modified xsi:type="dcterms:W3CDTF">2026-07-29T15:37:33Z</dcterms:modified>
</cp:coreProperties>
</file>