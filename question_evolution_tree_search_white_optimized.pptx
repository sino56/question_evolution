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3" autoAdjust="0"/>
    <p:restoredTop sz="94610"/>
  </p:normalViewPr>
  <p:slideViewPr>
    <p:cSldViewPr snapToGrid="0" snapToObjects="1">
      <p:cViewPr>
        <p:scale>
          <a:sx n="106" d="100"/>
          <a:sy n="106" d="100"/>
        </p:scale>
        <p:origin x="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04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005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v3.1  ·  TREE SEARCH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13232" y="14447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Evolution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99339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树搜索机制审阅与优化说明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2816352"/>
            <a:ext cx="71323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按照“优化流程全景”版式重构：白色背景、极简结构图、关键文字说明，聚焦代码结构、横向多算子分支、纵向算子叠加与搜索效率优化。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803904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路由收缩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49808" y="41330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470" dirty="0"/>
          </a:p>
        </p:txBody>
      </p:sp>
      <p:sp>
        <p:nvSpPr>
          <p:cNvPr id="9" name="Text 7"/>
          <p:cNvSpPr/>
          <p:nvPr/>
        </p:nvSpPr>
        <p:spPr>
          <a:xfrm>
            <a:off x="1847088" y="3803904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横向分支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847088" y="41330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470" dirty="0"/>
          </a:p>
        </p:txBody>
      </p:sp>
      <p:sp>
        <p:nvSpPr>
          <p:cNvPr id="11" name="Text 9"/>
          <p:cNvSpPr/>
          <p:nvPr/>
        </p:nvSpPr>
        <p:spPr>
          <a:xfrm>
            <a:off x="2944368" y="3803904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纵向叠加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944368" y="41330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470" dirty="0"/>
          </a:p>
        </p:txBody>
      </p:sp>
      <p:sp>
        <p:nvSpPr>
          <p:cNvPr id="13" name="Text 11"/>
          <p:cNvSpPr/>
          <p:nvPr/>
        </p:nvSpPr>
        <p:spPr>
          <a:xfrm>
            <a:off x="4041648" y="3803904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可恢复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041648" y="41330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470" dirty="0"/>
          </a:p>
        </p:txBody>
      </p:sp>
      <p:sp>
        <p:nvSpPr>
          <p:cNvPr id="15" name="Text 13"/>
          <p:cNvSpPr/>
          <p:nvPr/>
        </p:nvSpPr>
        <p:spPr>
          <a:xfrm>
            <a:off x="8275320" y="1444752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受路由约束的有限树搜索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而非标准 MCTS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2999232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默认运行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SEARCH_MODE = multi_operator_branch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窗口默认 1，可灰度至 3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275320" y="4352544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绘图主线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 → Operator → Child → Frontier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再进入重画像与重路由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12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  Contents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DECK MAP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86968" y="1252728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1252728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4081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46504" y="1353312"/>
            <a:ext cx="934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结构总览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46504" y="1627632"/>
            <a:ext cx="9345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代码分层、执行入口与搜索树中的核心对象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86968" y="2167128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2167128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3225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46504" y="2267712"/>
            <a:ext cx="934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搜索机制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746504" y="2542032"/>
            <a:ext cx="9345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收缩算子空间；父节点内横向分支；Frontier 纵向叠加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86968" y="3081528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3081528"/>
            <a:ext cx="6400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32369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46504" y="3182112"/>
            <a:ext cx="934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效率优化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46504" y="3456432"/>
            <a:ext cx="9345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动态窗口、Qwen/GPT 解耦、流式 Pipeline、收益排序与状态瘦身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86968" y="3995928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3995928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41513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46504" y="4096512"/>
            <a:ext cx="9345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绘图建议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746504" y="4370832"/>
            <a:ext cx="9345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用于后续 PPT 绘图的结构布局、关键标注和结论表达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91440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设计原则：每页左侧放结构图，右侧放说明；避免堆叠代码细节，用“对象—关系—状态—终止条件”解释搜索。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核心判断：有限树搜索，不是标准 MCTS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MECHANISM POSITIONING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 flipV="1">
            <a:off x="1847088" y="1572768"/>
            <a:ext cx="1170432" cy="73152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2331720"/>
            <a:ext cx="118872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83080" y="2359153"/>
            <a:ext cx="1234440" cy="658367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20574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已评分题目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35808" y="13716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O10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A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3035808" y="2084832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O15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B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3035808" y="2798064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O17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C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3063240" y="367588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仅降分进入 Frontier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3063240" y="400507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47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搜索依据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= child_score_rate − parent_score_rate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&lt; 0 → boundary_candidate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57150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MCTS 的关键差异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572768"/>
            <a:ext cx="5742432" cy="2761488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43800" y="1783080"/>
            <a:ext cx="15544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当前项目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528048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 MCTS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2029968"/>
            <a:ext cx="5394960" cy="0"/>
          </a:xfrm>
          <a:prstGeom prst="line">
            <a:avLst/>
          </a:prstGeom>
          <a:noFill/>
          <a:ln w="762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103120"/>
            <a:ext cx="1188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节点选择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543800" y="2103120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/ Frontier 顺序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9528048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UCT / UCB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806440" y="2523744"/>
            <a:ext cx="5394960" cy="0"/>
          </a:xfrm>
          <a:prstGeom prst="line">
            <a:avLst/>
          </a:prstGeom>
          <a:noFill/>
          <a:ln w="762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596896"/>
            <a:ext cx="1188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扩展方式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543800" y="2596896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候选算子分支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9528048" y="2596896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未访问动作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806440" y="3017520"/>
            <a:ext cx="5394960" cy="0"/>
          </a:xfrm>
          <a:prstGeom prst="line">
            <a:avLst/>
          </a:prstGeom>
          <a:noFill/>
          <a:ln w="762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090672"/>
            <a:ext cx="1188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543800" y="3090672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完整评测闭环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9528048" y="3090672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Rollout / 价值估计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806440" y="3511296"/>
            <a:ext cx="5394960" cy="0"/>
          </a:xfrm>
          <a:prstGeom prst="line">
            <a:avLst/>
          </a:prstGeom>
          <a:noFill/>
          <a:ln w="7620">
            <a:solidFill>
              <a:srgbClr val="F1F5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543800" y="3584448"/>
            <a:ext cx="1783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跨轮反馈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528048" y="3584448"/>
            <a:ext cx="1463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价值反向传播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715000" y="4800600"/>
            <a:ext cx="54406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一句话：当前机制的目标不是找“全局最优路径”，而是在有限预算内稳定收集多个弱模型降分边界证据。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代码结构：六层协作与职责边界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STRUCTURE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编排层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run_loop.sh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run_loop.ps1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039112" y="187452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50592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诊断路由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profile_samples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operator_router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895344" y="187452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06824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0596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横向搜索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search_coordinator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multi_operator_search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5751576" y="187452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163056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纵向搜索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vertical_search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vertical_operator_search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607808" y="187452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019288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分支闭环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question_evolution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scoring / rubric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9464040" y="1874520"/>
            <a:ext cx="411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875520" y="1417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状态恢复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branch_artifacts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vertical_artifacts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31520" y="2880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执行链路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基线评分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1828800" y="3438144"/>
            <a:ext cx="4572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3317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样本画像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429000" y="3438144"/>
            <a:ext cx="4572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9319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进化准入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0" y="3438144"/>
            <a:ext cx="4572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5321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算子路由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629400" y="3438144"/>
            <a:ext cx="4572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1323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搜索执行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229600" y="3438144"/>
            <a:ext cx="4572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7325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评分归并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9829800" y="3438144"/>
            <a:ext cx="4572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332720" y="324612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更新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731520" y="4370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架构价值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754880"/>
            <a:ext cx="210312" cy="2103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76402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43000" y="4709160"/>
            <a:ext cx="102870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搜索状态与模型调用分离：协调器只维护 ID、状态、计数和分数。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822960" y="5193792"/>
            <a:ext cx="210312" cy="2103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20293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43000" y="5148072"/>
            <a:ext cx="102870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 Runner 被纵向搜索复用，避免复制题目生成与评分逻辑。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22960" y="5632704"/>
            <a:ext cx="210312" cy="2103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64184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3000" y="5586984"/>
            <a:ext cx="102870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完整证据写入追加式产物，支持恢复、审计和离线分析。</a:t>
            </a:r>
            <a:endParaRPr lang="en-US" sz="117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搜索空间收缩：Router 与 Memory 先决定“搜哪里”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ROUTING &amp; PRUNING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0" y="1892808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1892808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1892808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46720" y="1892808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" y="1527048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样本画像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2926080" y="1527048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规则路由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/ backup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5074920" y="1527048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Router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候选排序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7269480" y="1527048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 / 降权 / avoid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326880" y="152704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冻结计划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selected_operator_ids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85800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调度原则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3429000"/>
            <a:ext cx="3063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只调度 selected_operator_ids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不自动补齐其他注册算子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3429000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显式全覆盖实验才遍历全部算子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自然搜索默认候选列表耗尽即停止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3429000"/>
            <a:ext cx="3063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失败经验反馈到下一轮路由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避免重复尝试低收益算子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标注建议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3232" y="5138928"/>
            <a:ext cx="102870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Router 画成“搜索前剪枝器”：它不是评分器，也不是最终判断器；它负责把 O10—O33 的大空间压缩成当前样本的可执行算子计划。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横向多算子搜索：一个父题，多条兄弟分支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HORIZONTAL BRANCH SEARCH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 flipV="1">
            <a:off x="2176272" y="1325880"/>
            <a:ext cx="1069848" cy="832098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2240280"/>
            <a:ext cx="109728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48840" y="2276856"/>
            <a:ext cx="1097280" cy="877824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325880"/>
            <a:ext cx="77724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4880" y="2240280"/>
            <a:ext cx="77724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3154680"/>
            <a:ext cx="777240" cy="0"/>
          </a:xfrm>
          <a:prstGeom prst="line">
            <a:avLst/>
          </a:prstGeom>
          <a:noFill/>
          <a:ln w="1397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196596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score_rate = 0.92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06984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O10 分支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198424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O15 分支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289864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O17 分支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59552" y="106984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A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0.71 ↓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559552" y="198424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B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0.92 =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559552" y="289864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C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0.96 ↑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114032" y="114300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boundary_candidate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7114032" y="147218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SEED</a:t>
            </a:r>
            <a:endParaRPr lang="en-US" sz="470" dirty="0"/>
          </a:p>
        </p:txBody>
      </p:sp>
      <p:sp>
        <p:nvSpPr>
          <p:cNvPr id="24" name="Text 22"/>
          <p:cNvSpPr/>
          <p:nvPr/>
        </p:nvSpPr>
        <p:spPr>
          <a:xfrm>
            <a:off x="7114032" y="205740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no_score_change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114032" y="238658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470" dirty="0"/>
          </a:p>
        </p:txBody>
      </p:sp>
      <p:sp>
        <p:nvSpPr>
          <p:cNvPr id="26" name="Text 24"/>
          <p:cNvSpPr/>
          <p:nvPr/>
        </p:nvSpPr>
        <p:spPr>
          <a:xfrm>
            <a:off x="7114032" y="297180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score_increased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114032" y="330098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470" dirty="0"/>
          </a:p>
        </p:txBody>
      </p:sp>
      <p:sp>
        <p:nvSpPr>
          <p:cNvPr id="28" name="Text 26"/>
          <p:cNvSpPr/>
          <p:nvPr/>
        </p:nvSpPr>
        <p:spPr>
          <a:xfrm>
            <a:off x="9189720" y="1097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调度状态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35440" y="1554480"/>
            <a:ext cx="210312" cy="2103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156362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555480" y="1508760"/>
            <a:ext cx="1920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operator 形成一个稳定 branch_id。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235440" y="2084832"/>
            <a:ext cx="210312" cy="2103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209397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55548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每条分支独立通过生成、门禁和评分闭环。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9235440" y="2615184"/>
            <a:ext cx="210312" cy="2103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262432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555480" y="2569464"/>
            <a:ext cx="1920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所有子分支只和同一个父节点比较，不和兄弟比较。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9235440" y="3145536"/>
            <a:ext cx="210312" cy="2103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3154680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555480" y="3099816"/>
            <a:ext cx="1920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达到 boundary_target 或候选耗尽后终止。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914400" y="4800600"/>
            <a:ext cx="1024128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关键公式：dispatch_count = min(剩余边界名额, 窗口剩余容量, pending 算子数)</a:t>
            </a:r>
            <a:endParaRPr lang="en-US" sz="132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单分支闭环：不是生成题目就入树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 LIFECYCLE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0078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836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算子生成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question_evolution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11810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07568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复杂度校验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53542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9300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事实校验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factual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95274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91032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难度收益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gain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7006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32764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候选选择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select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878738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4496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参考答案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answer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0204704" y="2121408"/>
            <a:ext cx="34747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6228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Rubric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rubric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10579608" y="1691640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弱模型评分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822960" y="3154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通过条件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352044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题目可回答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不泄漏答案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不偏离能力轴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3429000" y="3520440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参考答案与 Rubric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基于新题重新生成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避免评分口径错位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327648" y="352044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 决策分数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与直接父节点比较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形成分支状态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098280" y="352044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 实验 Judge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可异步补齐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不阻塞搜索调度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868680" y="5074920"/>
            <a:ext cx="101955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绘图时可把这一页作为“分支内部小闭环”插入搜索树的每一条边旁边：一个节点只有完成完整评测闭环后，才进入搜索树证据链。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动态窗口：提高吞吐，但不改变边界定义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SCHEDULING OPTIMIZATION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12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branch_window =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同一样本一次只跑一个算子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3258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优化后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branch_window =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同一样本可领取有界分支窗口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1325880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不变量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 分数、父子比较、Memory 写入规则不变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领取公式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246120"/>
            <a:ext cx="10104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remaining_boundary_slots = boundary_target − boundary_candidate_count</a:t>
            </a:r>
            <a:endParaRPr lang="en-US" sz="1320" dirty="0"/>
          </a:p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available_in_flight_slots = branch_window − in_flight_branch_count</a:t>
            </a:r>
            <a:endParaRPr lang="en-US" sz="1320" dirty="0"/>
          </a:p>
          <a:p>
            <a:pPr marL="0" indent="0" algn="l">
              <a:buNone/>
            </a:pPr>
            <a:endParaRPr lang="en-US" sz="1320" dirty="0"/>
          </a:p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dispatch_count = min(remaining_boundary_slots, available_in_flight_slots, pending_selected_operator_count)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60120" y="4937760"/>
            <a:ext cx="210312" cy="2103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4690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80160" y="4892040"/>
            <a:ext cx="9555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候选列表含 N 个算子时，窗口 3 可把完整耗尽波次约降为 ceil(N/3)。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960120" y="5321808"/>
            <a:ext cx="210312" cy="2103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330952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80160" y="5276088"/>
            <a:ext cx="9555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剩余边界名额只有 1 时，即使窗口为 3，也只能再启动 1 个分支。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960120" y="5705856"/>
            <a:ext cx="210312" cy="2103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715000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80160" y="5660136"/>
            <a:ext cx="95554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已在途分支必须完成并保留结果，不因其他兄弟先命中而丢弃。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纵向算子叠加：只扩展降分 Frontier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 STACK SEARCH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 flipV="1">
            <a:off x="1828800" y="1536192"/>
            <a:ext cx="960120" cy="42976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1965960"/>
            <a:ext cx="960120" cy="228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33088" y="1554480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6355080" y="1188721"/>
            <a:ext cx="863867" cy="365759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1554480"/>
            <a:ext cx="914400" cy="228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" y="1700784"/>
            <a:ext cx="114300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1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2788920" y="1298448"/>
            <a:ext cx="1344168" cy="530352"/>
          </a:xfrm>
          <a:prstGeom prst="roundRect">
            <a:avLst>
              <a:gd name="adj" fmla="val 10345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O10 → 降分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Frontier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788920" y="1938528"/>
            <a:ext cx="13441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O15 → 不降分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047488" y="1298448"/>
            <a:ext cx="1307592" cy="530352"/>
          </a:xfrm>
          <a:prstGeom prst="roundRect">
            <a:avLst>
              <a:gd name="adj" fmla="val 10345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重新画像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重新路由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877824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O12 → 继续降分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叠加边界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7269480" y="166420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O14 → 上升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普通终态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189720" y="128016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3 永不继续扩展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189720" y="1609344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LIMIT</a:t>
            </a:r>
            <a:endParaRPr lang="en-US" sz="470" dirty="0"/>
          </a:p>
        </p:txBody>
      </p:sp>
      <p:sp>
        <p:nvSpPr>
          <p:cNvPr id="22" name="Text 20"/>
          <p:cNvSpPr/>
          <p:nvPr/>
        </p:nvSpPr>
        <p:spPr>
          <a:xfrm>
            <a:off x="822960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纵向模式规则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3566160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57530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88720" y="3520440"/>
            <a:ext cx="5349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根节点先完成横向多算子搜索，收集深度 2 降分节点。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68680" y="3995928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005072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88720" y="3950208"/>
            <a:ext cx="5349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Frontier 必须基于当前题面、当前 Rubric 和当前评分重新画像。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68680" y="4425696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434840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88720" y="4379976"/>
            <a:ext cx="5349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第二层使用新的 Router 候选列表，不继承根节点 operator_plan。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68680" y="4855464"/>
            <a:ext cx="210312" cy="2103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864608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88720" y="4809744"/>
            <a:ext cx="53492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 3 只记录评测结果和边界路径，不继续扩展。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086600" y="3474720"/>
            <a:ext cx="3657600" cy="1115568"/>
          </a:xfrm>
          <a:prstGeom prst="roundRect">
            <a:avLst>
              <a:gd name="adj" fmla="val 4918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路径记录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operator_stack = [O10, O12]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O10 → O12 与 O12 → O10 是不同路径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7086600" y="48006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判定仍看直接父子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edge_delta = child − parent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root_delta 只用于分析</a:t>
            </a:r>
            <a:endParaRPr lang="en-US" sz="12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状态与恢复：轻量状态 + 完整证据链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&amp; RECOVERY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40280" y="1874520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20840" y="1874520"/>
            <a:ext cx="914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150876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 State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 / 状态 / 计数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154680" y="15087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 Artifacts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 / 答案 / Rubric / Judge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5394960" y="150876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 Artifacts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node / edge / path / attempt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7635240" y="150876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Checkpoint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阶段级恢复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9646920" y="150876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Manifest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原子发布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恢复逻辑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310128"/>
            <a:ext cx="1417320" cy="2286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已领取但无产物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514600" y="3337560"/>
            <a:ext cx="7132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 pending，不重复写入正式分支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14400" y="3749040"/>
            <a:ext cx="1417320" cy="2286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已生成题目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2514600" y="3776472"/>
            <a:ext cx="7132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从下一阶段继续，不重新生成同一题目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14400" y="4187952"/>
            <a:ext cx="1417320" cy="2286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 决策完成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2514600" y="4215384"/>
            <a:ext cx="7132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搜索可先归并，GPT 实验评测异步补齐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14400" y="4626864"/>
            <a:ext cx="1417320" cy="2286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已完成节点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514600" y="4654296"/>
            <a:ext cx="7132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边界计数和 Memory 均保持幂等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68680" y="5321808"/>
            <a:ext cx="10058400" cy="530352"/>
          </a:xfrm>
          <a:prstGeom prst="roundRect">
            <a:avLst>
              <a:gd name="adj" fmla="val 10345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画法：把状态系统放在主流程底部，作为“工程保障层”；上层搜索树只画业务逻辑，下层状态层解释为何可恢复、可审计、可复现。</a:t>
            </a:r>
            <a:endParaRPr lang="en-US" sz="12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六大效率优化点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76656" y="594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EFFICIENCY OPTIMIZATION</a:t>
            </a:r>
            <a:endParaRPr lang="en-US" sz="740" dirty="0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11137392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13232" y="1298448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298448"/>
            <a:ext cx="73152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路由收缩搜索空间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1832" y="177393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只调度 selected_operator_ids，不再自然搜索中遍历全部注册算子。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0" y="14447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298448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3984" y="1298448"/>
            <a:ext cx="73152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动态分支窗口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72584" y="177393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按剩余边界名额、窗口容量和 pending 算子数领取分支。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88352" y="14447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1298448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1298448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Qwen/GPT 解耦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03336" y="177393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 决策完成即可推进搜索，GPT 实验评测独立补齐。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119104" y="14447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" y="2871216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2871216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流式分支 Pipeline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1832" y="334670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按分支推进阶段队列，减少批次屏障与尾部等待。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0" y="30175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43984" y="2871216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2871216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2584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 / 时间排序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72584" y="334670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根据历史边界命中率、耗时和错误率调整候选顺序。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88352" y="30175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74736" y="2871216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2871216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状态瘦身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03336" y="334670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轻量状态引用完整产物，降低长期运行序列化成本。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19104" y="30175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" y="480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核心转变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" y="5138928"/>
            <a:ext cx="10442448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从“单样本串行试算子”转为“受控窗口 + 可恢复分支 + Router 收缩空间”的搜索执行框架。效率优化不改变边界判定，只降低达到终止条件所需的墙钟时间。</a:t>
            </a:r>
            <a:endParaRPr lang="en-US" sz="12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1078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绘图建议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把树搜索画成“有限深度证据收集器”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395728"/>
            <a:ext cx="89611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不要画成无限展开的 MCTS。推荐画法：Root 横向展开多个算子；只有降分节点成为 Frontier；Frontier 重新画像、重新路由后进入第二层；Depth 3 记录结果并停止。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60120" y="3712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470" dirty="0"/>
          </a:p>
        </p:txBody>
      </p:sp>
      <p:sp>
        <p:nvSpPr>
          <p:cNvPr id="8" name="Text 6"/>
          <p:cNvSpPr/>
          <p:nvPr/>
        </p:nvSpPr>
        <p:spPr>
          <a:xfrm>
            <a:off x="2212848" y="3383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Operator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212848" y="3712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470" dirty="0"/>
          </a:p>
        </p:txBody>
      </p:sp>
      <p:sp>
        <p:nvSpPr>
          <p:cNvPr id="10" name="Text 8"/>
          <p:cNvSpPr/>
          <p:nvPr/>
        </p:nvSpPr>
        <p:spPr>
          <a:xfrm>
            <a:off x="3465576" y="3383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465576" y="3712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470" dirty="0"/>
          </a:p>
        </p:txBody>
      </p:sp>
      <p:sp>
        <p:nvSpPr>
          <p:cNvPr id="12" name="Text 10"/>
          <p:cNvSpPr/>
          <p:nvPr/>
        </p:nvSpPr>
        <p:spPr>
          <a:xfrm>
            <a:off x="4718304" y="3383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Frontier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718304" y="3712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RE-ROUTE</a:t>
            </a:r>
            <a:endParaRPr lang="en-US" sz="470" dirty="0"/>
          </a:p>
        </p:txBody>
      </p:sp>
      <p:sp>
        <p:nvSpPr>
          <p:cNvPr id="14" name="Text 12"/>
          <p:cNvSpPr/>
          <p:nvPr/>
        </p:nvSpPr>
        <p:spPr>
          <a:xfrm>
            <a:off x="5971032" y="3383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Artifacts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971032" y="3712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7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470" dirty="0"/>
          </a:p>
        </p:txBody>
      </p:sp>
      <p:sp>
        <p:nvSpPr>
          <p:cNvPr id="16" name="Text 14"/>
          <p:cNvSpPr/>
          <p:nvPr/>
        </p:nvSpPr>
        <p:spPr>
          <a:xfrm>
            <a:off x="960120" y="4590288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少加规则，多做实验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少做前置否决，多做后验反馈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429768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树搜索机制审阅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白底简约版 · 结构图 + 说明页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4709160" y="58064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65379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Tree Search Review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0378440" y="65196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12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1064</Words>
  <Application>Microsoft Office PowerPoint</Application>
  <PresentationFormat>宽屏</PresentationFormat>
  <Paragraphs>359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Noto Sans CJK SC</vt:lpstr>
      <vt:lpstr>Aptos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Evolution 树搜索机制审阅</dc:title>
  <dc:subject>Question Evolution 树搜索优化机制</dc:subject>
  <dc:creator>OpenAI</dc:creator>
  <cp:lastModifiedBy>xinglong wu</cp:lastModifiedBy>
  <cp:revision>5</cp:revision>
  <dcterms:created xsi:type="dcterms:W3CDTF">2026-07-29T15:08:24Z</dcterms:created>
  <dcterms:modified xsi:type="dcterms:W3CDTF">2026-07-29T15:13:28Z</dcterms:modified>
</cp:coreProperties>
</file>