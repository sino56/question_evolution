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457200"/>
            <a:ext cx="2926080" cy="292608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822960"/>
            <a:ext cx="2194560" cy="2194560"/>
          </a:xfrm>
          <a:prstGeom prst="ellipse">
            <a:avLst/>
          </a:prstGeom>
          <a:solidFill>
            <a:srgbClr val="1A2236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097280"/>
            <a:ext cx="1645920" cy="1645920"/>
          </a:xfrm>
          <a:prstGeom prst="ellipse">
            <a:avLst/>
          </a:prstGeom>
          <a:solidFill>
            <a:srgbClr val="0A0E17">
              <a:alpha val="5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2011680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v3.0  · 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spc="2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Evolution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spc="25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优化流程全景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实验迭代速度优化方案  —  流程对比与效率提升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786384" cy="2743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9476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流式读写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9304" y="3794760"/>
            <a:ext cx="786384" cy="2743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379476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有界并行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12848" y="3794760"/>
            <a:ext cx="786384" cy="2743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379476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中断恢复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36392" y="3794760"/>
            <a:ext cx="786384" cy="2743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379476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原子发布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12</a:t>
            </a:r>
            <a:endParaRPr lang="en-US" sz="8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463040" y="1325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223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48840" y="12161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流程对比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48840" y="16002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优化前串行逐条 vs 优化后流式有界并行，11 个阶段全链路对照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231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1463040" y="2606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2236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48840" y="24963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优化详情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48840" y="28803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评分并行架构 · 有界调度 · 原子发布 · Memory 索引复用四大机制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1188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7033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1463040" y="3886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2236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48840" y="37764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效率提升点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4884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六大优化方向 + 核心效率差异对照表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8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优化标签图例  Optimization Tags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4300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72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并行化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样本级 worker 并行处理，替代逐条串行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14300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0972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流式读写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389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 I/O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57800" y="1508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逐行读取 JSONL，批量落盘，降低内存峰值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05740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0116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有界并发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304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4400" y="24231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输入/输出队列有界，背压控制资源占用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9202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205740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20116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结果复用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2304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257800" y="24231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 + 缓存 + 版本一致时复用校验结果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297180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9260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中断恢复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218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0" y="33375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记录进度，断点续跑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297180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29260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原子发布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3218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257800" y="33375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阶段完整成功后才可见，Manifest 校验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388620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3840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外置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1330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SIDECAR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14400" y="42519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原始响应移至 sidecar，主记录轻量化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8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优化前：串行逐条流程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85216" y="566928"/>
            <a:ext cx="819302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·  Serial Processing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87552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33272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987552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整体读取 JSON → 发布 input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335024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35024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335024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评分阶段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380744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335024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全量加载 → 逐样本串行：Qwen 回答 → Qwen 评分 → GPT 评分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682496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682496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682496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画像阶段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1728216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1682496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全量加载 → 逐样本串行，等待完成再处理下一条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029968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029968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029968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候选分流 + 算子路由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2075688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2029968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全量扫描 memory bank，无索引无缓存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377440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377440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377440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题目进化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2423160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2377440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逐候选串行 → 逐条写入 JSONL，原始响应内嵌主记录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724912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724912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724912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复杂度 / 可回答性校验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14600" y="2770632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35" name="Text 33"/>
          <p:cNvSpPr/>
          <p:nvPr/>
        </p:nvSpPr>
        <p:spPr>
          <a:xfrm>
            <a:off x="2606040" y="2724912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全部重新计算，重复本地计算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072384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072384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072384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候选选择 / 原题透传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14600" y="3118104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40" name="Text 38"/>
          <p:cNvSpPr/>
          <p:nvPr/>
        </p:nvSpPr>
        <p:spPr>
          <a:xfrm>
            <a:off x="2606040" y="3072384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全量扫描后选择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419856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419856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419856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参考答案采集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14600" y="3465576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45" name="Text 43"/>
          <p:cNvSpPr/>
          <p:nvPr/>
        </p:nvSpPr>
        <p:spPr>
          <a:xfrm>
            <a:off x="2606040" y="3419856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逐题串行采样，N 次采样 = N 倍并发，无上限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767328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767328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767328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Rubric 生成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14600" y="3813048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0" name="Text 48"/>
          <p:cNvSpPr/>
          <p:nvPr/>
        </p:nvSpPr>
        <p:spPr>
          <a:xfrm>
            <a:off x="2606040" y="3767328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逐条串行处理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114800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114800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114800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评分阶段 (Round 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14600" y="4160520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5" name="Text 53"/>
          <p:cNvSpPr/>
          <p:nvPr/>
        </p:nvSpPr>
        <p:spPr>
          <a:xfrm>
            <a:off x="2606040" y="4114800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Round 0 串行模式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462272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2A34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4462272"/>
            <a:ext cx="45720" cy="3154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4462272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效果分析 → 状态更新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14600" y="4507992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60" name="Text 58"/>
          <p:cNvSpPr/>
          <p:nvPr/>
        </p:nvSpPr>
        <p:spPr>
          <a:xfrm>
            <a:off x="2606040" y="4462272"/>
            <a:ext cx="612648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全量写入 state_updated.jsonl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800" dirty="0"/>
          </a:p>
        </p:txBody>
      </p:sp>
      <p:sp>
        <p:nvSpPr>
          <p:cNvPr id="6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优化后：流式 + 有界并行流程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85216" y="566928"/>
            <a:ext cx="819302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 ·  Streaming + Bounded Parallel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87552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033272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987552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 input 产物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042416"/>
            <a:ext cx="519379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042416"/>
            <a:ext cx="51937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原子发布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335024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35024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335024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评分阶段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1380744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1335024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流式读取 → 有界 worker；Qwen/GPT 公平请求池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1389888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389888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825082" y="1389888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5082" y="1389888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49363" y="1389888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9363" y="1389888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1682496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682496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1682496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画像阶段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31720" y="1728216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28" name="Text 26"/>
          <p:cNvSpPr/>
          <p:nvPr/>
        </p:nvSpPr>
        <p:spPr>
          <a:xfrm>
            <a:off x="2423160" y="1682496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流式读取 → 有界 worker → trace 外置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1737360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737360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25082" y="1737360"/>
            <a:ext cx="771754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5082" y="1737360"/>
            <a:ext cx="77175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65760" y="2029968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029968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2029968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候选分流 + 算子路由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31720" y="2075688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37" name="Text 35"/>
          <p:cNvSpPr/>
          <p:nvPr/>
        </p:nvSpPr>
        <p:spPr>
          <a:xfrm>
            <a:off x="2423160" y="2029968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倒排索引 + 匹配缓存，只计算候选集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2084832"/>
            <a:ext cx="519379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084832"/>
            <a:ext cx="51937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索引复用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" y="2377440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2377440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2377440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题目进化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31720" y="2423160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44" name="Text 42"/>
          <p:cNvSpPr/>
          <p:nvPr/>
        </p:nvSpPr>
        <p:spPr>
          <a:xfrm>
            <a:off x="2423160" y="2377440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 worker → 候选组 checkpoint → trace 外置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2432304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432304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25082" y="2432304"/>
            <a:ext cx="1024128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25082" y="243230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" y="2724912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2724912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2724912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复杂度 / 可回答性校验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331720" y="2770632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3" name="Text 51"/>
          <p:cNvSpPr/>
          <p:nvPr/>
        </p:nvSpPr>
        <p:spPr>
          <a:xfrm>
            <a:off x="2423160" y="2724912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复用同规则版本进化阶段结果，不一致则重算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0" y="2779776"/>
            <a:ext cx="519379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2779776"/>
            <a:ext cx="51937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计算复用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760" y="3072384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3072384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3072384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候选选择 / 原题透传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331720" y="3118104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60" name="Text 58"/>
          <p:cNvSpPr/>
          <p:nvPr/>
        </p:nvSpPr>
        <p:spPr>
          <a:xfrm>
            <a:off x="2423160" y="3072384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透传样本先校验上游完整性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3419856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3419856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" y="3419856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参考答案采集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331720" y="3465576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65" name="Text 63"/>
          <p:cNvSpPr/>
          <p:nvPr/>
        </p:nvSpPr>
        <p:spPr>
          <a:xfrm>
            <a:off x="2423160" y="3419856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 → 有界 worker → 全局请求池，避免突发 429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00800" y="3474720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3474720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25082" y="3474720"/>
            <a:ext cx="519379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25082" y="3474720"/>
            <a:ext cx="51937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请求上限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65760" y="3767328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5760" y="3767328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2" name="Text 70"/>
          <p:cNvSpPr/>
          <p:nvPr/>
        </p:nvSpPr>
        <p:spPr>
          <a:xfrm>
            <a:off x="502920" y="3767328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Rubric 生成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331720" y="3813048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74" name="Text 72"/>
          <p:cNvSpPr/>
          <p:nvPr/>
        </p:nvSpPr>
        <p:spPr>
          <a:xfrm>
            <a:off x="2423160" y="3767328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 worker 并行处理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00800" y="3822192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0" y="3822192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65760" y="4114800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5760" y="4114800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9" name="Text 77"/>
          <p:cNvSpPr/>
          <p:nvPr/>
        </p:nvSpPr>
        <p:spPr>
          <a:xfrm>
            <a:off x="502920" y="4114800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评分阶段 (Round N)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331720" y="4160520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81" name="Text 79"/>
          <p:cNvSpPr/>
          <p:nvPr/>
        </p:nvSpPr>
        <p:spPr>
          <a:xfrm>
            <a:off x="2423160" y="4114800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 + 有界 + 公平请求池，透传样本先校验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00800" y="4169664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0" y="4169664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825082" y="4169664"/>
            <a:ext cx="351130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25082" y="4169664"/>
            <a:ext cx="3511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65760" y="4462272"/>
            <a:ext cx="8412480" cy="315468"/>
          </a:xfrm>
          <a:prstGeom prst="roundRect">
            <a:avLst>
              <a:gd name="adj" fmla="val 11594"/>
            </a:avLst>
          </a:prstGeom>
          <a:solidFill>
            <a:srgbClr val="1A2236"/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5760" y="4462272"/>
            <a:ext cx="45720" cy="3154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8" name="Text 86"/>
          <p:cNvSpPr/>
          <p:nvPr/>
        </p:nvSpPr>
        <p:spPr>
          <a:xfrm>
            <a:off x="502920" y="4462272"/>
            <a:ext cx="182880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效果分析 → 状态更新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331720" y="4507992"/>
            <a:ext cx="9144" cy="22402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90" name="Text 88"/>
          <p:cNvSpPr/>
          <p:nvPr/>
        </p:nvSpPr>
        <p:spPr>
          <a:xfrm>
            <a:off x="2423160" y="4462272"/>
            <a:ext cx="3931920" cy="3154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+ checkpoint → 原子发布 + manifest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400800" y="4517136"/>
            <a:ext cx="519379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00800" y="4517136"/>
            <a:ext cx="51937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原子发布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993331" y="4517136"/>
            <a:ext cx="519379" cy="201168"/>
          </a:xfrm>
          <a:prstGeom prst="roundRect">
            <a:avLst>
              <a:gd name="adj" fmla="val 13636"/>
            </a:avLst>
          </a:prstGeom>
          <a:solidFill>
            <a:srgbClr val="1A2236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93331" y="4517136"/>
            <a:ext cx="51937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中断恢复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800" dirty="0"/>
          </a:p>
        </p:txBody>
      </p:sp>
      <p:sp>
        <p:nvSpPr>
          <p:cNvPr id="9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评分阶段：受控并行架构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 worker、Qwen 请求池和 GPT 请求池分别配置，默认上限均为 20。Qwen 回答和 judge 共享同一请求池。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A223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97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评分样本 Worker × N (有界)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274320" cy="182880"/>
          </a:xfrm>
          <a:prstGeom prst="downArrow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2606040" cy="347472"/>
          </a:xfrm>
          <a:prstGeom prst="roundRect">
            <a:avLst>
              <a:gd name="adj" fmla="val 13158"/>
            </a:avLst>
          </a:prstGeom>
          <a:solidFill>
            <a:srgbClr val="1A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回答 Trial × 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783080"/>
            <a:ext cx="2606040" cy="347472"/>
          </a:xfrm>
          <a:prstGeom prst="roundRect">
            <a:avLst>
              <a:gd name="adj" fmla="val 13158"/>
            </a:avLst>
          </a:prstGeom>
          <a:solidFill>
            <a:srgbClr val="1A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Judge Repeat × 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606040" cy="347472"/>
          </a:xfrm>
          <a:prstGeom prst="roundRect">
            <a:avLst>
              <a:gd name="adj" fmla="val 13158"/>
            </a:avLst>
          </a:prstGeom>
          <a:solidFill>
            <a:srgbClr val="1A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Judge Repeat × 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2148840"/>
            <a:ext cx="182880" cy="164592"/>
          </a:xfrm>
          <a:prstGeom prst="downArrow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2148840"/>
            <a:ext cx="182880" cy="164592"/>
          </a:xfrm>
          <a:prstGeom prst="downArrow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2148840"/>
            <a:ext cx="182880" cy="164592"/>
          </a:xfrm>
          <a:prstGeom prst="downArrow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23774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A2236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395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公平请求池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+ Judge 共享 · 上限 20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0" y="23774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A223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395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公平请求池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独立服务 · 上限 20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1A2236"/>
          </a:solidFill>
          <a:ln w="9525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363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3649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串行：回答→评分→评分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样本并发 = 服务并发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194560" y="310896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A2236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194560" y="3136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公平调度策略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383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多活跃样本 → 优先让不同样本各获一个名额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有余量 → 再处理同一样本的后续 trial / repeat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49440" y="31089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A2236"/>
          </a:solidFill>
          <a:ln w="9525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136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优化后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3364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样本内 trial 并行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服务并发受池上限约束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A2236"/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核心收益：样本内 trial 并行 + 跨样本公平分配，将「样本并发 = 服务并发」解耦为「样本并发 ≠ 服务并发」，服务并发受独立池上限约束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8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有界任务调度与流式 I/O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仅在队列有容量时提交记录，Writer 批量落盘。内存、协程和待写结果限制在并发配置附近，不随输入线性增长。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1A22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 Reader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逐行读取 JSONL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91640" y="2267712"/>
            <a:ext cx="274320" cy="219456"/>
          </a:xfrm>
          <a:prstGeom prst="rightArrow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20574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1A223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103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输入队列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331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有界容量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248716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背压控制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46120" y="2267712"/>
            <a:ext cx="274320" cy="219456"/>
          </a:xfrm>
          <a:prstGeom prst="rightArrow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1783080"/>
            <a:ext cx="1645920" cy="1280160"/>
          </a:xfrm>
          <a:prstGeom prst="roundRect">
            <a:avLst>
              <a:gd name="adj" fmla="val 5714"/>
            </a:avLst>
          </a:prstGeom>
          <a:solidFill>
            <a:srgbClr val="1A2236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118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池 (固定)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2084832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1A223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084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49040" y="2359152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1A223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359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49040" y="2633472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1A223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6334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... 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03520" y="2267712"/>
            <a:ext cx="274320" cy="219456"/>
          </a:xfrm>
          <a:prstGeom prst="rightArrow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20574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1A223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输出队列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有界容量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66560" y="2267712"/>
            <a:ext cx="274320" cy="219456"/>
          </a:xfrm>
          <a:prstGeom prst="rightArrow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086600" y="21031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A22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148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Writer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395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批量落盘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06040" y="2880360"/>
            <a:ext cx="9144" cy="41148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06040" y="3291840"/>
            <a:ext cx="3520440" cy="9144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26480" y="2880360"/>
            <a:ext cx="9144" cy="41148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0" y="32735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背压反馈：队列满时 Reader 暂停提交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3931920" cy="777240"/>
          </a:xfrm>
          <a:prstGeom prst="roundRect">
            <a:avLst>
              <a:gd name="adj" fmla="val 5882"/>
            </a:avLst>
          </a:prstGeom>
          <a:solidFill>
            <a:srgbClr val="1A2236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794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流式读取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逐行读取 JSONL，跳过空行，即时报错。避免全量加载导致内存峰值。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80560" y="3749040"/>
            <a:ext cx="4297680" cy="777240"/>
          </a:xfrm>
          <a:prstGeom prst="roundRect">
            <a:avLst>
              <a:gd name="adj" fmla="val 5882"/>
            </a:avLst>
          </a:prstGeom>
          <a:solidFill>
            <a:srgbClr val="1A2236"/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794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批量写入 + 尽早 partial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4023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按记录数/字节/时间阈值批量 flush。首批完成结果 → 尽早进入可恢复的 partial 产物 → 降低内存峰值。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80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原子发布与中断恢复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正式产物只在阶段完整成功后才可见。中断后可从 checkpoint 恢复，避免重复计算。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A2236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81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 Worker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产生结果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709928"/>
            <a:ext cx="274320" cy="201168"/>
          </a:xfrm>
          <a:prstGeom prst="rightArrow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15087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A2236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554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文件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8013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尚未发布的记录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0440" y="1709928"/>
            <a:ext cx="274320" cy="201168"/>
          </a:xfrm>
          <a:prstGeom prst="rightArrow">
            <a:avLst/>
          </a:prstGeom>
          <a:solidFill>
            <a:srgbClr val="EC489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15087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A2236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554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8013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已持久化位置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57800" y="1709928"/>
            <a:ext cx="274320" cy="201168"/>
          </a:xfrm>
          <a:prstGeom prst="rightArrow">
            <a:avLst/>
          </a:prstGeom>
          <a:solidFill>
            <a:srgbClr val="EC489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23560" y="1572768"/>
            <a:ext cx="640080" cy="457200"/>
          </a:xfrm>
          <a:prstGeom prst="diamond">
            <a:avLst/>
          </a:prstGeom>
          <a:solidFill>
            <a:srgbClr val="1A223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完成?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70448" y="2103120"/>
            <a:ext cx="146304" cy="274320"/>
          </a:xfrm>
          <a:prstGeom prst="downArrow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4231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23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450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原子替换发布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697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 JSONL + Manifest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09360" y="1709928"/>
            <a:ext cx="274320" cy="201168"/>
          </a:xfrm>
          <a:prstGeom prst="rightArrow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2618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29400" y="15087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A2236"/>
          </a:solidFill>
          <a:ln w="15240">
            <a:solidFill>
              <a:srgbClr val="EF4444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629400" y="1554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重启恢复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18013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checkpoint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42048" y="2148840"/>
            <a:ext cx="146304" cy="256032"/>
          </a:xfrm>
          <a:prstGeom prst="downArrow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242316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1A2236"/>
          </a:solidFill>
          <a:ln w="9525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450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跳过已完成记录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2679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继续未完成部分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1A2236"/>
          </a:solidFill>
          <a:ln w="9525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校验：记录数 + 内容摘要 + 代码版本 + Sidecar 校验信息  →  下游只看到完整结果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原子发布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251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正式产物仅在阶段完整成功后才可见，避免下游读到半写入数据。Manifest 包含记录数、内容摘要和代码版本。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93192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635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中断恢复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251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+ checkpoint 记录已确认进度。中断重启时跳过已完成记录/候选组，从断点继续，避免整轮重跑。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8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索引与本地校验复用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倒排索引 + 匹配缓存避免全量扫描 memory bank；规则版本一致时复用进化阶段的校验结果。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A223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819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 / 负 memory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随轮次增长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1783080"/>
            <a:ext cx="274320" cy="219456"/>
          </a:xfrm>
          <a:prstGeom prst="rightArrow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23160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A223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5819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倒排索引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8288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signature 构建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23160" y="19933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 · 加载一次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274320" cy="219456"/>
          </a:xfrm>
          <a:prstGeom prst="rightArrow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A223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5819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匹配缓存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18288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相同 signature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0560" y="19933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直接命中缓存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74320" cy="219456"/>
          </a:xfrm>
          <a:prstGeom prst="rightArrow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A223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5819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路由结果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18288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/ backup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37960" y="19933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+ 理由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697480"/>
            <a:ext cx="8412480" cy="1005840"/>
          </a:xfrm>
          <a:prstGeom prst="roundRect">
            <a:avLst>
              <a:gd name="adj" fmla="val 5455"/>
            </a:avLst>
          </a:prstGeom>
          <a:solidFill>
            <a:srgbClr val="1A2236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本地复杂度 / 可回答性校验复用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进化阶段保存校验结果 + 规则版本摘要  →  正式校验阶段版本一致时直接复用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版本不一致或缺失  →  重新计算  ·  LLM 校验照常执行不受影响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93192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索引复用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251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signature 构建只读倒排索引，加载一次。匹配缓存避免重复计算相同 signature 的路由结果。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93192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校验复用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4251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同规则版本直接复用进化阶段校验结果，跳过本地重复计算。LLM 校验不受影响，保证语义安全。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8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六大效率提升点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68224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0972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223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</a:rPr>
              <a:t>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097280"/>
            <a:ext cx="1905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样本级并行处理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600200"/>
            <a:ext cx="2362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有界 worker 池让多个样本同时处理，替代逐条串行。worker 数量固定，内存和协程不随输入增长。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2362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逐条串行</a:t>
            </a:r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 worker 并行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30880" y="960120"/>
            <a:ext cx="268224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0880" y="960120"/>
            <a:ext cx="54864" cy="1691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3395472" y="10972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2236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547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9248" y="1097280"/>
            <a:ext cx="1905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模型请求公平调度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95472" y="1600200"/>
            <a:ext cx="2362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Qwen/GPT 分别维护公平请求池，跨样本优先分配名额。避免少数慢题独占额度，降低尾部等待。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95472" y="2304288"/>
            <a:ext cx="2362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样本并发×采样=突发</a:t>
            </a:r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全局上限+公平分配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96000" y="960120"/>
            <a:ext cx="268224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6000" y="96012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0592" y="10972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2236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059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54368" y="1097280"/>
            <a:ext cx="1905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样本内 Trial 并行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0592" y="1600200"/>
            <a:ext cx="2362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同一样本的独立回答 trial 和评分 repeat 在依赖满足后并行执行，结果按索引归位，不改变语义。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60592" y="2304288"/>
            <a:ext cx="2362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trial 串行排队</a:t>
            </a:r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trial 并行+归位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268224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834640"/>
            <a:ext cx="54864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" y="29718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2236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4128" y="2971800"/>
            <a:ext cx="1905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流式读写 + 批量落盘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3474720"/>
            <a:ext cx="2362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逐行读取 JSONL 跳过空行、即时报错。Writer 按记录数/字节/时间阈值批量 flush，减少 I/O 等待。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4178808"/>
            <a:ext cx="2362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全量加载+逐条 flush</a:t>
            </a:r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流式读取+批量写入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30880" y="2834640"/>
            <a:ext cx="268224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0880" y="2834640"/>
            <a:ext cx="54864" cy="1691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5" name="Shape 33"/>
          <p:cNvSpPr/>
          <p:nvPr/>
        </p:nvSpPr>
        <p:spPr>
          <a:xfrm>
            <a:off x="3395472" y="29718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2236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5472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C4899"/>
                </a:solidFill>
              </a:rPr>
              <a:t>↻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89248" y="2971800"/>
            <a:ext cx="1905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中断恢复 &amp; Checkpoint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95472" y="3474720"/>
            <a:ext cx="2362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+ checkpoint 记录已确认进度。中断重启时跳过已完成记录/候选组，从断点继续。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95472" y="4178808"/>
            <a:ext cx="2362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中断=整轮重跑</a:t>
            </a:r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断点续跑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96000" y="2834640"/>
            <a:ext cx="268224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6000" y="2834640"/>
            <a:ext cx="54864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6260592" y="29718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223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0592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54368" y="2971800"/>
            <a:ext cx="1905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计算复用 &amp; Trace 外置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60592" y="3474720"/>
            <a:ext cx="2362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倒排索引 + 缓存避免全量扫描；同规则版本校验结果直接复用；原始响应移至 sidecar 减轻主记录负担。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60592" y="4178808"/>
            <a:ext cx="2362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全量扫描+重复计算</a:t>
            </a:r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索引+缓存+复用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18288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核心效率差异对照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3716"/>
          </a:xfrm>
          <a:prstGeom prst="rect">
            <a:avLst/>
          </a:prstGeom>
          <a:solidFill>
            <a:srgbClr val="2A345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样本处理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逐条串行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有界 worker 并行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模型服务并发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样本并发 × 采样数，无上限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公平请求池，全局上限可控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模式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全量加载 + 逐条写入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流式读取 + 批量落盘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中断处理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整轮重跑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断点续跑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匹配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每条样本全量扫描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倒排索引 + 缓存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校验计算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每次全部重新计算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同规则版本直接复用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产物可见性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写入即可见，可能半写入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原子发布 + Manifest 校验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主记录体积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内嵌原始响应，开销大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sidecar 外置，轻量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3484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1A2236"/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核心转变：从「样本并发 = 服务并发」的线性模型，解耦为流式 + 有界并行 + 公平调度 + 原子发布的可控架构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731520"/>
            <a:ext cx="2103120" cy="210312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286000"/>
            <a:ext cx="2468880" cy="246888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少加规则，多做实验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少做前置否决，多做后验反馈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288036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794760" y="288036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28803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8803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2880360"/>
            <a:ext cx="109728" cy="1097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0680" y="288036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Evolution 优化流程全景  ·  v3.0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流式读写  ·  有界并行  ·  中断恢复  ·  原子发布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2026-07-20T15:41:27Z</dcterms:created>
  <dcterms:modified xsi:type="dcterms:W3CDTF">2026-07-20T15:41:27Z</dcterms:modified>
</cp:coreProperties>
</file>