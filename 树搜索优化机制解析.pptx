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73abf90ced4fda" /><Relationship Type="http://schemas.openxmlformats.org/officeDocument/2006/relationships/extended-properties" Target="/docProps/app.xml" Id="R67547fe083004eb0" /><Relationship Type="http://schemas.openxmlformats.org/officeDocument/2006/relationships/officeDocument" Target="/ppt/presentation.xml" Id="Rfc3bc6a2751048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818f3a833d4817"/>
  </p:sldMasterIdLst>
  <p:notesMasterIdLst>
    <p:notesMasterId xmlns:r="http://schemas.openxmlformats.org/officeDocument/2006/relationships" r:id="R6184c77c40524130"/>
  </p:notesMasterIdLst>
  <p:sldIdLst>
    <p:sldId xmlns:r="http://schemas.openxmlformats.org/officeDocument/2006/relationships" id="256" r:id="R982199ff6a3c4ffb"/>
    <p:sldId xmlns:r="http://schemas.openxmlformats.org/officeDocument/2006/relationships" id="257" r:id="Rf2680103a7ba4542"/>
    <p:sldId xmlns:r="http://schemas.openxmlformats.org/officeDocument/2006/relationships" id="258" r:id="Ra9aa92f6f153411d"/>
    <p:sldId xmlns:r="http://schemas.openxmlformats.org/officeDocument/2006/relationships" id="259" r:id="R55cded401a244c9e"/>
    <p:sldId xmlns:r="http://schemas.openxmlformats.org/officeDocument/2006/relationships" id="260" r:id="R70852aa441f04974"/>
    <p:sldId xmlns:r="http://schemas.openxmlformats.org/officeDocument/2006/relationships" id="261" r:id="R286ad76f63e24ada"/>
    <p:sldId xmlns:r="http://schemas.openxmlformats.org/officeDocument/2006/relationships" id="262" r:id="R8c470c78f8644b1c"/>
    <p:sldId xmlns:r="http://schemas.openxmlformats.org/officeDocument/2006/relationships" id="263" r:id="Rba7f94b80ee843c2"/>
    <p:sldId xmlns:r="http://schemas.openxmlformats.org/officeDocument/2006/relationships" id="264" r:id="Rb380b3bc268d4223"/>
    <p:sldId xmlns:r="http://schemas.openxmlformats.org/officeDocument/2006/relationships" id="265" r:id="R4d65c5aadf8c4b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9c7b8b459b4d79" /><Relationship Type="http://schemas.openxmlformats.org/officeDocument/2006/relationships/slideMaster" Target="/ppt/slideMasters/slideMaster1.xml" Id="R19818f3a833d4817" /><Relationship Type="http://schemas.openxmlformats.org/officeDocument/2006/relationships/notesMaster" Target="/ppt/notesMasters/notesMaster1.xml" Id="R6184c77c40524130" /><Relationship Type="http://schemas.openxmlformats.org/officeDocument/2006/relationships/presProps" Target="/ppt/presProps.xml" Id="R1e3e6598214e46b1" /><Relationship Type="http://schemas.openxmlformats.org/officeDocument/2006/relationships/tableStyles" Target="/ppt/tableStyles.xml" Id="R69a8acf908e84bf5" /><Relationship Type="http://schemas.openxmlformats.org/officeDocument/2006/relationships/slide" Target="/ppt/slides/slide1.xml" Id="R982199ff6a3c4ffb" /><Relationship Type="http://schemas.openxmlformats.org/officeDocument/2006/relationships/slide" Target="/ppt/slides/slide2.xml" Id="Rf2680103a7ba4542" /><Relationship Type="http://schemas.openxmlformats.org/officeDocument/2006/relationships/slide" Target="/ppt/slides/slide3.xml" Id="Ra9aa92f6f153411d" /><Relationship Type="http://schemas.openxmlformats.org/officeDocument/2006/relationships/slide" Target="/ppt/slides/slide4.xml" Id="R55cded401a244c9e" /><Relationship Type="http://schemas.openxmlformats.org/officeDocument/2006/relationships/slide" Target="/ppt/slides/slide5.xml" Id="R70852aa441f04974" /><Relationship Type="http://schemas.openxmlformats.org/officeDocument/2006/relationships/slide" Target="/ppt/slides/slide6.xml" Id="R286ad76f63e24ada" /><Relationship Type="http://schemas.openxmlformats.org/officeDocument/2006/relationships/slide" Target="/ppt/slides/slide7.xml" Id="R8c470c78f8644b1c" /><Relationship Type="http://schemas.openxmlformats.org/officeDocument/2006/relationships/slide" Target="/ppt/slides/slide8.xml" Id="Rba7f94b80ee843c2" /><Relationship Type="http://schemas.openxmlformats.org/officeDocument/2006/relationships/slide" Target="/ppt/slides/slide9.xml" Id="Rb380b3bc268d4223" /><Relationship Type="http://schemas.openxmlformats.org/officeDocument/2006/relationships/slide" Target="/ppt/slides/slide10.xml" Id="R4d65c5aadf8c4b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d5770ee1e449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7f10c2c54846f8" /><Relationship Type="http://schemas.openxmlformats.org/officeDocument/2006/relationships/notesMaster" Target="/ppt/notesMasters/notesMaster1.xml" Id="R0258834224e24a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9e73fcb1db4bb5" /><Relationship Type="http://schemas.openxmlformats.org/officeDocument/2006/relationships/notesMaster" Target="/ppt/notesMasters/notesMaster1.xml" Id="R17c721b42d6c49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614f95a6ff4f03" /><Relationship Type="http://schemas.openxmlformats.org/officeDocument/2006/relationships/notesMaster" Target="/ppt/notesMasters/notesMaster1.xml" Id="Re1a0cee2218041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c894ebe63f4d50" /><Relationship Type="http://schemas.openxmlformats.org/officeDocument/2006/relationships/notesMaster" Target="/ppt/notesMasters/notesMaster1.xml" Id="R25962142d12544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bfd1a7b5534e64" /><Relationship Type="http://schemas.openxmlformats.org/officeDocument/2006/relationships/notesMaster" Target="/ppt/notesMasters/notesMaster1.xml" Id="R791c03706a4f4e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f15328bc6a4671" /><Relationship Type="http://schemas.openxmlformats.org/officeDocument/2006/relationships/notesMaster" Target="/ppt/notesMasters/notesMaster1.xml" Id="Re1498da9e0c341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4727405f574c45" /><Relationship Type="http://schemas.openxmlformats.org/officeDocument/2006/relationships/notesMaster" Target="/ppt/notesMasters/notesMaster1.xml" Id="R8f313c759bbf41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4dadf685644331" /><Relationship Type="http://schemas.openxmlformats.org/officeDocument/2006/relationships/notesMaster" Target="/ppt/notesMasters/notesMaster1.xml" Id="R6365ab3766704e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0e2d3f3a034d4c" /><Relationship Type="http://schemas.openxmlformats.org/officeDocument/2006/relationships/notesMaster" Target="/ppt/notesMasters/notesMaster1.xml" Id="R731a548c975741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754454f07041be" /><Relationship Type="http://schemas.openxmlformats.org/officeDocument/2006/relationships/notesMaster" Target="/ppt/notesMasters/notesMaster1.xml" Id="Rcf457056e9d34a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run_loop.sh</a:t>
            </a:r>
          </a:p>
          <a:p xmlns:a="http://schemas.openxmlformats.org/drawingml/2006/main">
            <a:r>
              <a:t>- Internal implementation: multi_operator_search.py</a:t>
            </a:r>
          </a:p>
          <a:p xmlns:a="http://schemas.openxmlformats.org/drawingml/2006/main">
            <a:r>
              <a:t>- Internal implementation: vertical_operator_search.py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search_coordinator.py — merge_decision_result</a:t>
            </a:r>
          </a:p>
          <a:p xmlns:a="http://schemas.openxmlformats.org/drawingml/2006/main">
            <a:r>
              <a:t>- Internal implementation: vertical_search.py — build_child_node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run_loop.sh — SEARCH_MODE defaults</a:t>
            </a:r>
          </a:p>
          <a:p xmlns:a="http://schemas.openxmlformats.org/drawingml/2006/main">
            <a:r>
              <a:t>- Internal implementation: vertical_operator_search.py — vertical execution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multi_operator_search.py — _run_downstream</a:t>
            </a:r>
          </a:p>
          <a:p xmlns:a="http://schemas.openxmlformats.org/drawingml/2006/main">
            <a:r>
              <a:t>- Internal implementation: update_sample_state.py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search_coordinator.py — parent/child score comparison</a:t>
            </a:r>
          </a:p>
          <a:p xmlns:a="http://schemas.openxmlformats.org/drawingml/2006/main">
            <a:r>
              <a:t>- Internal implementation: analyze_evolution_effect.py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vertical_operator_search.py — _route_frontier</a:t>
            </a:r>
          </a:p>
          <a:p xmlns:a="http://schemas.openxmlformats.org/drawingml/2006/main">
            <a:r>
              <a:t>- Internal implementation: vertical_search.py — claim_next_frontier / build_vertical_operator_plan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multi_operator_search.py — run_stream_async</a:t>
            </a:r>
          </a:p>
          <a:p xmlns:a="http://schemas.openxmlformats.org/drawingml/2006/main">
            <a:r>
              <a:t>- Internal implementation: branch_pipeline.py — BranchPipeline</a:t>
            </a:r>
          </a:p>
          <a:p xmlns:a="http://schemas.openxmlformats.org/drawingml/2006/main">
            <a:r>
              <a:t>- Internal design: docs/树搜索效率优化-已实施.md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vertical_search.py — quota / completion logic</a:t>
            </a:r>
          </a:p>
          <a:p xmlns:a="http://schemas.openxmlformats.org/drawingml/2006/main">
            <a:r>
              <a:t>- Internal implementation: vertical_operator_search.py — budget controls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branch_artifacts.py</a:t>
            </a:r>
          </a:p>
          <a:p xmlns:a="http://schemas.openxmlformats.org/drawingml/2006/main">
            <a:r>
              <a:t>- Internal implementation: vertical_artifacts.py</a:t>
            </a:r>
          </a:p>
          <a:p xmlns:a="http://schemas.openxmlformats.org/drawingml/2006/main">
            <a:r>
              <a:t>- Internal implementation: branch_pipeline.py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vertical_operator_search.py — max depth and quota configuration</a:t>
            </a:r>
          </a:p>
          <a:p xmlns:a="http://schemas.openxmlformats.org/drawingml/2006/main">
            <a:r>
              <a:t>- Internal design: docs/纵向算子叠加方案.md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d58c7d3d540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80a004b7164561" /><Relationship Type="http://schemas.openxmlformats.org/officeDocument/2006/relationships/slideLayout" Target="/ppt/slideLayouts/slideLayout1.xml" Id="Rea206116d80e44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206116d80e44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1a29cc1dd4e36" /><Relationship Type="http://schemas.openxmlformats.org/officeDocument/2006/relationships/notesSlide" Target="/ppt/notesSlides/notesSlide1.xml" Id="R1bd95d1c311b47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18a65fe3b4b3f" /><Relationship Type="http://schemas.openxmlformats.org/officeDocument/2006/relationships/notesSlide" Target="/ppt/notesSlides/notesSlide2.xml" Id="R17f688edf8434b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ddfe0259545b3" /><Relationship Type="http://schemas.openxmlformats.org/officeDocument/2006/relationships/notesSlide" Target="/ppt/notesSlides/notesSlide3.xml" Id="R01c10630646942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fe2a570b6495b" /><Relationship Type="http://schemas.openxmlformats.org/officeDocument/2006/relationships/notesSlide" Target="/ppt/notesSlides/notesSlide4.xml" Id="Re4c2182742db4b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a896f18944aff" /><Relationship Type="http://schemas.openxmlformats.org/officeDocument/2006/relationships/notesSlide" Target="/ppt/notesSlides/notesSlide5.xml" Id="R0ce0d758f0e344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65650c50a466f" /><Relationship Type="http://schemas.openxmlformats.org/officeDocument/2006/relationships/notesSlide" Target="/ppt/notesSlides/notesSlide6.xml" Id="R547d85b8cae349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cf37d59bc4dc8" /><Relationship Type="http://schemas.openxmlformats.org/officeDocument/2006/relationships/notesSlide" Target="/ppt/notesSlides/notesSlide7.xml" Id="R34917f7b24834c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43adc30d64f3a" /><Relationship Type="http://schemas.openxmlformats.org/officeDocument/2006/relationships/notesSlide" Target="/ppt/notesSlides/notesSlide8.xml" Id="R50fceec8f01648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3831ffc3a4ce8" /><Relationship Type="http://schemas.openxmlformats.org/officeDocument/2006/relationships/notesSlide" Target="/ppt/notesSlides/notesSlide9.xml" Id="R56bc923df7d94f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ae2dcf9d24d44" /><Relationship Type="http://schemas.openxmlformats.org/officeDocument/2006/relationships/notesSlide" Target="/ppt/notesSlides/notesSlide10.xml" Id="R51f779a36dfc40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873866ED-8FA0-4F5F-8738-22F29B45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D"/>
                </a:solidFill>
              </a:defRPr>
            </a:pPr>
            <a:r>
              <a:rPr sz="900" b="1">
                <a:solidFill>
                  <a:srgbClr val="0B7D7D"/>
                </a:solidFill>
              </a:rPr>
              <a:t>QUESTION EVOLUTION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EA628C-BB31-40ED-9FA4-5123136E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61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树搜索优化机制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01EAE1B-9577-4DAB-BC1F-BB20E7FB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286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86581"/>
                </a:solidFill>
              </a:defRPr>
            </a:pPr>
            <a:r>
              <a:rPr sz="1875" b="0">
                <a:solidFill>
                  <a:srgbClr val="486581"/>
                </a:solidFill>
              </a:rPr>
              <a:t>从单次题目改写，到有界、可验证的</a:t>
            </a:r>
          </a:p>
          <a:p xmlns:a="http://schemas.openxmlformats.org/drawingml/2006/main">
            <a:pPr algn="l">
              <a:defRPr sz="1875" b="0">
                <a:solidFill>
                  <a:srgbClr val="486581"/>
                </a:solidFill>
              </a:defRPr>
            </a:pPr>
            <a:r>
              <a:rPr sz="1875" b="0">
                <a:solidFill>
                  <a:srgbClr val="486581"/>
                </a:solidFill>
              </a:rPr>
              <a:t>operator 组合探索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E6DE365-9FC1-49F1-84F7-5CD073A2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criptor">
            <a:extLst xmlns:a="http://schemas.openxmlformats.org/drawingml/2006/main">
              <a:ext uri="{FF2B5EF4-FFF2-40B4-BE49-F238E27FC236}">
                <a16:creationId xmlns:a16="http://schemas.microsoft.com/office/drawing/2014/main" id="{BDEA7CDC-1753-4812-8857-42C41615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机制解析 · 简约版技术汇报</a:t>
            </a:r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28B29984-8D4B-4F43-88A9-B011B488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2026.07</a:t>
            </a:r>
          </a:p>
        </p:txBody>
      </p:sp>
      <p:sp>
        <p:nvSpPr>
          <p:cNvPr id="7" name="root">
            <a:extLst xmlns:a="http://schemas.openxmlformats.org/drawingml/2006/main">
              <a:ext uri="{FF2B5EF4-FFF2-40B4-BE49-F238E27FC236}">
                <a16:creationId xmlns:a16="http://schemas.microsoft.com/office/drawing/2014/main" id="{0F93BA83-F09F-492E-AA2B-397B883D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57425"/>
            <a:ext cx="123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9525">
            <a:solidFill>
              <a:srgbClr val="E6EEF9"/>
            </a:solidFill>
            <a:prstDash val="solid"/>
          </a:ln>
        </p:spPr>
      </p:sp>
      <p:sp>
        <p:nvSpPr>
          <p:cNvPr id="8" name="root-text">
            <a:extLst xmlns:a="http://schemas.openxmlformats.org/drawingml/2006/main">
              <a:ext uri="{FF2B5EF4-FFF2-40B4-BE49-F238E27FC236}">
                <a16:creationId xmlns:a16="http://schemas.microsoft.com/office/drawing/2014/main" id="{771BC4C4-136D-49C0-ABF5-ED3DF227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根题</a:t>
            </a:r>
          </a:p>
        </p:txBody>
      </p:sp>
      <p:sp>
        <p:nvSpPr>
          <p:cNvPr id="9" name="op-a">
            <a:extLst xmlns:a="http://schemas.openxmlformats.org/drawingml/2006/main">
              <a:ext uri="{FF2B5EF4-FFF2-40B4-BE49-F238E27FC236}">
                <a16:creationId xmlns:a16="http://schemas.microsoft.com/office/drawing/2014/main" id="{1B8779A6-73D0-4536-8712-B0CBE8AF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466850"/>
            <a:ext cx="1123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9F3F1"/>
            </a:solidFill>
            <a:prstDash val="solid"/>
          </a:ln>
        </p:spPr>
      </p:sp>
      <p:sp>
        <p:nvSpPr>
          <p:cNvPr id="10" name="op-a-text">
            <a:extLst xmlns:a="http://schemas.openxmlformats.org/drawingml/2006/main">
              <a:ext uri="{FF2B5EF4-FFF2-40B4-BE49-F238E27FC236}">
                <a16:creationId xmlns:a16="http://schemas.microsoft.com/office/drawing/2014/main" id="{530BBD42-7AB0-4ACA-AEE9-24C0E87C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43050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D7D"/>
                </a:solidFill>
              </a:defRPr>
            </a:pPr>
            <a:r>
              <a:rPr sz="1200" b="1">
                <a:solidFill>
                  <a:srgbClr val="0B7D7D"/>
                </a:solidFill>
              </a:rPr>
              <a:t>O10</a:t>
            </a:r>
          </a:p>
        </p:txBody>
      </p:sp>
      <p:sp>
        <p:nvSpPr>
          <p:cNvPr id="11" name="op-b">
            <a:extLst xmlns:a="http://schemas.openxmlformats.org/drawingml/2006/main">
              <a:ext uri="{FF2B5EF4-FFF2-40B4-BE49-F238E27FC236}">
                <a16:creationId xmlns:a16="http://schemas.microsoft.com/office/drawing/2014/main" id="{BCA2461A-91B5-41AB-A86B-8D14E6EE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57425"/>
            <a:ext cx="1123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9F3F1"/>
            </a:solidFill>
            <a:prstDash val="solid"/>
          </a:ln>
        </p:spPr>
      </p:sp>
      <p:sp>
        <p:nvSpPr>
          <p:cNvPr id="12" name="op-b-text">
            <a:extLst xmlns:a="http://schemas.openxmlformats.org/drawingml/2006/main">
              <a:ext uri="{FF2B5EF4-FFF2-40B4-BE49-F238E27FC236}">
                <a16:creationId xmlns:a16="http://schemas.microsoft.com/office/drawing/2014/main" id="{DB4E95FA-3FB4-41A2-8F56-A25D8F37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3362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D7D"/>
                </a:solidFill>
              </a:defRPr>
            </a:pPr>
            <a:r>
              <a:rPr sz="1200" b="1">
                <a:solidFill>
                  <a:srgbClr val="0B7D7D"/>
                </a:solidFill>
              </a:rPr>
              <a:t>O14</a:t>
            </a:r>
          </a:p>
        </p:txBody>
      </p:sp>
      <p:sp>
        <p:nvSpPr>
          <p:cNvPr id="13" name="op-c">
            <a:extLst xmlns:a="http://schemas.openxmlformats.org/drawingml/2006/main">
              <a:ext uri="{FF2B5EF4-FFF2-40B4-BE49-F238E27FC236}">
                <a16:creationId xmlns:a16="http://schemas.microsoft.com/office/drawing/2014/main" id="{B63460F4-C5B3-4317-A8ED-72F26D12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123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9F3F1"/>
            </a:solidFill>
            <a:prstDash val="solid"/>
          </a:ln>
        </p:spPr>
      </p:sp>
      <p:sp>
        <p:nvSpPr>
          <p:cNvPr id="14" name="op-c-text">
            <a:extLst xmlns:a="http://schemas.openxmlformats.org/drawingml/2006/main">
              <a:ext uri="{FF2B5EF4-FFF2-40B4-BE49-F238E27FC236}">
                <a16:creationId xmlns:a16="http://schemas.microsoft.com/office/drawing/2014/main" id="{00C9333E-AC23-44D2-AAB6-7BBEAC52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24200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D7D"/>
                </a:solidFill>
              </a:defRPr>
            </a:pPr>
            <a:r>
              <a:rPr sz="1200" b="1">
                <a:solidFill>
                  <a:srgbClr val="0B7D7D"/>
                </a:solidFill>
              </a:rPr>
              <a:t>O17</a:t>
            </a:r>
          </a:p>
        </p:txBody>
      </p:sp>
      <p:sp>
        <p:nvSpPr>
          <p:cNvPr id="15" name="path-a">
            <a:extLst xmlns:a="http://schemas.openxmlformats.org/drawingml/2006/main">
              <a:ext uri="{FF2B5EF4-FFF2-40B4-BE49-F238E27FC236}">
                <a16:creationId xmlns:a16="http://schemas.microsoft.com/office/drawing/2014/main" id="{32A8A31C-8509-4E0A-B522-AF501981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466850"/>
            <a:ext cx="1143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E3F1E5"/>
            </a:solidFill>
            <a:prstDash val="solid"/>
          </a:ln>
        </p:spPr>
      </p:sp>
      <p:sp>
        <p:nvSpPr>
          <p:cNvPr id="16" name="path-a-text">
            <a:extLst xmlns:a="http://schemas.openxmlformats.org/drawingml/2006/main">
              <a:ext uri="{FF2B5EF4-FFF2-40B4-BE49-F238E27FC236}">
                <a16:creationId xmlns:a16="http://schemas.microsoft.com/office/drawing/2014/main" id="{45B55845-6509-49AC-B0BF-B5C2C890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5430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O10 → O17</a:t>
            </a:r>
          </a:p>
        </p:txBody>
      </p:sp>
      <p:sp>
        <p:nvSpPr>
          <p:cNvPr id="17" name="path-b">
            <a:extLst xmlns:a="http://schemas.openxmlformats.org/drawingml/2006/main">
              <a:ext uri="{FF2B5EF4-FFF2-40B4-BE49-F238E27FC236}">
                <a16:creationId xmlns:a16="http://schemas.microsoft.com/office/drawing/2014/main" id="{5E37788F-3185-4453-B89A-ED0ED87F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048000"/>
            <a:ext cx="1143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E3F1E5"/>
            </a:solidFill>
            <a:prstDash val="solid"/>
          </a:ln>
        </p:spPr>
      </p:sp>
      <p:sp>
        <p:nvSpPr>
          <p:cNvPr id="18" name="path-b-text">
            <a:extLst xmlns:a="http://schemas.openxmlformats.org/drawingml/2006/main">
              <a:ext uri="{FF2B5EF4-FFF2-40B4-BE49-F238E27FC236}">
                <a16:creationId xmlns:a16="http://schemas.microsoft.com/office/drawing/2014/main" id="{E2948481-05D0-4435-80D0-3CAED1BD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124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O14 → O13</a:t>
            </a:r>
          </a:p>
        </p:txBody>
      </p: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8572500" y="1724025"/>
            <a:ext cx="80010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7DB1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8572500" y="2514600"/>
            <a:ext cx="8001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7DB1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72500" y="2552700"/>
            <a:ext cx="80010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7DB1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496550" y="1724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F52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496550" y="33051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F52"/>
            </a:solidFill>
            <a:prstDash val="solid"/>
            <a:tailEnd type="arrow" w="sm" len="sm"/>
          </a:ln>
        </p:spPr>
      </p:cxnSp>
      <p:sp>
        <p:nvSpPr>
          <p:cNvPr id="24" name="horizontal-label">
            <a:extLst xmlns:a="http://schemas.openxmlformats.org/drawingml/2006/main">
              <a:ext uri="{FF2B5EF4-FFF2-40B4-BE49-F238E27FC236}">
                <a16:creationId xmlns:a16="http://schemas.microsoft.com/office/drawing/2014/main" id="{80060BEE-092F-4AEF-A53F-327EAD79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905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D7D"/>
                </a:solidFill>
              </a:defRPr>
            </a:pPr>
            <a:r>
              <a:rPr sz="1050" b="1">
                <a:solidFill>
                  <a:srgbClr val="0B7D7D"/>
                </a:solidFill>
              </a:rPr>
              <a:t>横向分支</a:t>
            </a:r>
          </a:p>
        </p:txBody>
      </p:sp>
      <p:sp>
        <p:nvSpPr>
          <p:cNvPr id="25" name="vertical-label">
            <a:extLst xmlns:a="http://schemas.openxmlformats.org/drawingml/2006/main">
              <a:ext uri="{FF2B5EF4-FFF2-40B4-BE49-F238E27FC236}">
                <a16:creationId xmlns:a16="http://schemas.microsoft.com/office/drawing/2014/main" id="{449CE2CC-6062-46B6-BC47-89C1D8FF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905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B7F52"/>
                </a:solidFill>
              </a:defRPr>
            </a:pPr>
            <a:r>
              <a:rPr sz="1050" b="1">
                <a:solidFill>
                  <a:srgbClr val="4B7F52"/>
                </a:solidFill>
              </a:rPr>
              <a:t>纵向叠加</a:t>
            </a:r>
          </a:p>
        </p:txBody>
      </p:sp>
    </p:spTree>
    <p:extLst>
      <p:ext uri="{BB962C8B-B14F-4D97-AF65-F5344CB8AC3E}">
        <p14:creationId xmlns:p14="http://schemas.microsoft.com/office/powerpoint/2010/main" val="2043786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0EC2230D-E0BF-44E6-AAB0-D67DE9E3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D"/>
                </a:solidFill>
              </a:defRPr>
            </a:pPr>
            <a:r>
              <a:rPr sz="900" b="1">
                <a:solidFill>
                  <a:srgbClr val="0B7D7D"/>
                </a:solidFill>
              </a:rPr>
              <a:t>QUESTION EVOLUTION · TREE SEARCH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9D95A24-3C0E-4E64-B7F2-44E54724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搜索的目标不是“题目更复杂”，而是“模型真实失分”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739A048-0CCC-49FB-9B51-828DD361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797B762-CF26-4978-BFF8-3E571AD5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2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02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0446C2DF-F52B-4CD6-A703-6753BCEF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在线决策只依赖完整评分闭环中的直接父子比较。</a:t>
            </a:r>
          </a:p>
        </p:txBody>
      </p:sp>
      <p:sp>
        <p:nvSpPr>
          <p:cNvPr id="6" name="parent-score">
            <a:extLst xmlns:a="http://schemas.openxmlformats.org/drawingml/2006/main">
              <a:ext uri="{FF2B5EF4-FFF2-40B4-BE49-F238E27FC236}">
                <a16:creationId xmlns:a16="http://schemas.microsoft.com/office/drawing/2014/main" id="{10C31BED-90CA-457C-8C2A-1B3301B7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9525">
            <a:solidFill>
              <a:srgbClr val="E6EEF9"/>
            </a:solidFill>
            <a:prstDash val="solid"/>
          </a:ln>
        </p:spPr>
      </p:sp>
      <p:sp>
        <p:nvSpPr>
          <p:cNvPr id="7" name="parent-score-text">
            <a:extLst xmlns:a="http://schemas.openxmlformats.org/drawingml/2006/main">
              <a:ext uri="{FF2B5EF4-FFF2-40B4-BE49-F238E27FC236}">
                <a16:creationId xmlns:a16="http://schemas.microsoft.com/office/drawing/2014/main" id="{2FE75D21-55E8-4EDD-BEB2-402B4AFC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父题</a:t>
            </a:r>
          </a:p>
          <a:p xmlns:a="http://schemas.openxmlformats.org/drawingml/2006/main">
            <a:pPr algn="ctr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score = 0.86</a:t>
            </a:r>
          </a:p>
        </p:txBody>
      </p:sp>
      <p:sp>
        <p:nvSpPr>
          <p:cNvPr id="8" name="score-gate">
            <a:extLst xmlns:a="http://schemas.openxmlformats.org/drawingml/2006/main">
              <a:ext uri="{FF2B5EF4-FFF2-40B4-BE49-F238E27FC236}">
                <a16:creationId xmlns:a16="http://schemas.microsoft.com/office/drawing/2014/main" id="{7CE976EE-78D5-42B8-8737-EB78B542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76500"/>
            <a:ext cx="1428750" cy="914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9" name="gate-text">
            <a:extLst xmlns:a="http://schemas.openxmlformats.org/drawingml/2006/main">
              <a:ext uri="{FF2B5EF4-FFF2-40B4-BE49-F238E27FC236}">
                <a16:creationId xmlns:a16="http://schemas.microsoft.com/office/drawing/2014/main" id="{626B61D4-239A-4E58-B804-F73E6316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860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子题得分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低于父题？</a:t>
            </a:r>
          </a:p>
        </p:txBody>
      </p:sp>
      <p:sp>
        <p:nvSpPr>
          <p:cNvPr id="10" name="good-result">
            <a:extLst xmlns:a="http://schemas.openxmlformats.org/drawingml/2006/main">
              <a:ext uri="{FF2B5EF4-FFF2-40B4-BE49-F238E27FC236}">
                <a16:creationId xmlns:a16="http://schemas.microsoft.com/office/drawing/2014/main" id="{8BF9AF7A-89F3-4DEB-BF3E-402ADF98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23431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E3F1E5"/>
            </a:solidFill>
            <a:prstDash val="solid"/>
          </a:ln>
        </p:spPr>
      </p:sp>
      <p:sp>
        <p:nvSpPr>
          <p:cNvPr id="11" name="good-result-text">
            <a:extLst xmlns:a="http://schemas.openxmlformats.org/drawingml/2006/main">
              <a:ext uri="{FF2B5EF4-FFF2-40B4-BE49-F238E27FC236}">
                <a16:creationId xmlns:a16="http://schemas.microsoft.com/office/drawing/2014/main" id="{185207C6-8390-456D-9FF0-0A868A26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边界候选</a:t>
            </a:r>
          </a:p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可进入 frontier</a:t>
            </a:r>
          </a:p>
        </p:txBody>
      </p:sp>
      <p:sp>
        <p:nvSpPr>
          <p:cNvPr id="12" name="bad-result">
            <a:extLst xmlns:a="http://schemas.openxmlformats.org/drawingml/2006/main">
              <a:ext uri="{FF2B5EF4-FFF2-40B4-BE49-F238E27FC236}">
                <a16:creationId xmlns:a16="http://schemas.microsoft.com/office/drawing/2014/main" id="{12999E56-ED97-4F82-91D1-0AA61D6E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95700"/>
            <a:ext cx="23431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CE6DF"/>
          </a:solidFill>
          <a:ln xmlns:a="http://schemas.openxmlformats.org/drawingml/2006/main" w="9525">
            <a:solidFill>
              <a:srgbClr val="FCE6DF"/>
            </a:solidFill>
            <a:prstDash val="solid"/>
          </a:ln>
        </p:spPr>
      </p:sp>
      <p:sp>
        <p:nvSpPr>
          <p:cNvPr id="13" name="bad-result-text">
            <a:extLst xmlns:a="http://schemas.openxmlformats.org/drawingml/2006/main">
              <a:ext uri="{FF2B5EF4-FFF2-40B4-BE49-F238E27FC236}">
                <a16:creationId xmlns:a16="http://schemas.microsoft.com/office/drawing/2014/main" id="{1FF5AEC0-CE2E-4D39-A9DD-F9BDD2DF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5D39"/>
                </a:solidFill>
              </a:defRPr>
            </a:pPr>
            <a:r>
              <a:rPr sz="1200" b="1">
                <a:solidFill>
                  <a:srgbClr val="D95D39"/>
                </a:solidFill>
              </a:rPr>
              <a:t>终止该分支</a:t>
            </a:r>
          </a:p>
          <a:p xmlns:a="http://schemas.openxmlformats.org/drawingml/2006/main">
            <a:pPr algn="ctr">
              <a:defRPr sz="1200" b="1">
                <a:solidFill>
                  <a:srgbClr val="D95D39"/>
                </a:solidFill>
              </a:defRPr>
            </a:pPr>
            <a:r>
              <a:rPr sz="1200" b="1">
                <a:solidFill>
                  <a:srgbClr val="D95D39"/>
                </a:solidFill>
              </a:rPr>
              <a:t>不再扩展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57550" y="2933700"/>
            <a:ext cx="1800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7DB1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486525" y="2543175"/>
            <a:ext cx="1685925" cy="390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B7F52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8" idx="2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72150" y="3390900"/>
            <a:ext cx="2400300" cy="771525"/>
          </a:xfrm>
          <a:prstGeom xmlns:a="http://schemas.openxmlformats.org/drawingml/2006/main" prst="bentConnector5">
            <a:avLst>
              <a:gd name="adj1" fmla="val 0"/>
              <a:gd name="adj2" fmla="val 29630"/>
              <a:gd name="adj3" fmla="val 90476"/>
            </a:avLst>
          </a:prstGeom>
          <a:ln xmlns:a="http://schemas.openxmlformats.org/drawingml/2006/main" w="19050">
            <a:solidFill>
              <a:srgbClr val="D95D39"/>
            </a:solidFill>
            <a:prstDash val="solid"/>
            <a:tailEnd type="arrow" w="sm" len="sm"/>
          </a:ln>
        </p:spPr>
      </p:cxnSp>
      <p:sp>
        <p:nvSpPr>
          <p:cNvPr id="17" name="status-chip">
            <a:extLst xmlns:a="http://schemas.openxmlformats.org/drawingml/2006/main">
              <a:ext uri="{FF2B5EF4-FFF2-40B4-BE49-F238E27FC236}">
                <a16:creationId xmlns:a16="http://schemas.microsoft.com/office/drawing/2014/main" id="{1B700017-E041-403B-A926-EF0ACFD3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2420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E3F1E5"/>
            </a:solidFill>
            <a:prstDash val="solid"/>
          </a:ln>
        </p:spPr>
      </p:sp>
      <p:sp>
        <p:nvSpPr>
          <p:cNvPr id="18" name="status-chip-text">
            <a:extLst xmlns:a="http://schemas.openxmlformats.org/drawingml/2006/main">
              <a:ext uri="{FF2B5EF4-FFF2-40B4-BE49-F238E27FC236}">
                <a16:creationId xmlns:a16="http://schemas.microsoft.com/office/drawing/2014/main" id="{BC177094-8856-4C16-B2A1-50204F88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813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B7F52"/>
                </a:solidFill>
              </a:defRPr>
            </a:pPr>
            <a:r>
              <a:rPr sz="1050" b="1">
                <a:solidFill>
                  <a:srgbClr val="4B7F52"/>
                </a:solidFill>
              </a:rPr>
              <a:t>child &lt; parent</a:t>
            </a:r>
          </a:p>
        </p:txBody>
      </p:sp>
      <p:sp>
        <p:nvSpPr>
          <p:cNvPr id="19" name="status-chip">
            <a:extLst xmlns:a="http://schemas.openxmlformats.org/drawingml/2006/main">
              <a:ext uri="{FF2B5EF4-FFF2-40B4-BE49-F238E27FC236}">
                <a16:creationId xmlns:a16="http://schemas.microsoft.com/office/drawing/2014/main" id="{DC283CEB-7A09-4E5A-B6E8-236082C3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43450"/>
            <a:ext cx="1866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6DF"/>
          </a:solidFill>
          <a:ln xmlns:a="http://schemas.openxmlformats.org/drawingml/2006/main" w="9525">
            <a:solidFill>
              <a:srgbClr val="FCE6DF"/>
            </a:solidFill>
            <a:prstDash val="solid"/>
          </a:ln>
        </p:spPr>
      </p:sp>
      <p:sp>
        <p:nvSpPr>
          <p:cNvPr id="20" name="status-chip-text">
            <a:extLst xmlns:a="http://schemas.openxmlformats.org/drawingml/2006/main">
              <a:ext uri="{FF2B5EF4-FFF2-40B4-BE49-F238E27FC236}">
                <a16:creationId xmlns:a16="http://schemas.microsoft.com/office/drawing/2014/main" id="{9F3A9453-6901-4CA9-B679-CB5DFF43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00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5D39"/>
                </a:solidFill>
              </a:defRPr>
            </a:pPr>
            <a:r>
              <a:rPr sz="1050" b="1">
                <a:solidFill>
                  <a:srgbClr val="D95D39"/>
                </a:solidFill>
              </a:rPr>
              <a:t>相等 / 增分 / 失败</a:t>
            </a:r>
          </a:p>
        </p:txBody>
      </p:sp>
      <p:sp>
        <p:nvSpPr>
          <p:cNvPr id="21" name="callout-title">
            <a:extLst xmlns:a="http://schemas.openxmlformats.org/drawingml/2006/main">
              <a:ext uri="{FF2B5EF4-FFF2-40B4-BE49-F238E27FC236}">
                <a16:creationId xmlns:a16="http://schemas.microsoft.com/office/drawing/2014/main" id="{3B730720-4B46-404A-BF94-A100252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唯一的自动扩展信号</a:t>
            </a:r>
          </a:p>
        </p:txBody>
      </p:sp>
      <p:sp>
        <p:nvSpPr>
          <p:cNvPr id="22" name="bullet-dot">
            <a:extLst xmlns:a="http://schemas.openxmlformats.org/drawingml/2006/main">
              <a:ext uri="{FF2B5EF4-FFF2-40B4-BE49-F238E27FC236}">
                <a16:creationId xmlns:a16="http://schemas.microsoft.com/office/drawing/2014/main" id="{79D90AF9-24FF-4F6D-A7B1-36886059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23" name="bullet">
            <a:extLst xmlns:a="http://schemas.openxmlformats.org/drawingml/2006/main">
              <a:ext uri="{FF2B5EF4-FFF2-40B4-BE49-F238E27FC236}">
                <a16:creationId xmlns:a16="http://schemas.microsoft.com/office/drawing/2014/main" id="{8D73A8E9-B3A3-4E05-88EB-9716894A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不依赖 LLM 自评</a:t>
            </a:r>
          </a:p>
        </p:txBody>
      </p:sp>
      <p:sp>
        <p:nvSpPr>
          <p:cNvPr id="24" name="bullet-dot">
            <a:extLst xmlns:a="http://schemas.openxmlformats.org/drawingml/2006/main">
              <a:ext uri="{FF2B5EF4-FFF2-40B4-BE49-F238E27FC236}">
                <a16:creationId xmlns:a16="http://schemas.microsoft.com/office/drawing/2014/main" id="{B6226D20-EA96-4F5C-BC8C-1808A44C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9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25" name="bullet">
            <a:extLst xmlns:a="http://schemas.openxmlformats.org/drawingml/2006/main">
              <a:ext uri="{FF2B5EF4-FFF2-40B4-BE49-F238E27FC236}">
                <a16:creationId xmlns:a16="http://schemas.microsoft.com/office/drawing/2014/main" id="{F03A8DED-70E2-442F-9C83-2F92284F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530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不比较兄弟分支</a:t>
            </a:r>
          </a:p>
        </p:txBody>
      </p:sp>
      <p:sp>
        <p:nvSpPr>
          <p:cNvPr id="26" name="bullet-dot">
            <a:extLst xmlns:a="http://schemas.openxmlformats.org/drawingml/2006/main">
              <a:ext uri="{FF2B5EF4-FFF2-40B4-BE49-F238E27FC236}">
                <a16:creationId xmlns:a16="http://schemas.microsoft.com/office/drawing/2014/main" id="{DF13D5DE-1241-4C03-A3F6-0ACDAB9D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81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27" name="bullet">
            <a:extLst xmlns:a="http://schemas.openxmlformats.org/drawingml/2006/main">
              <a:ext uri="{FF2B5EF4-FFF2-40B4-BE49-F238E27FC236}">
                <a16:creationId xmlns:a16="http://schemas.microsoft.com/office/drawing/2014/main" id="{517BCFCC-FF81-4F81-BA19-050322D1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149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不以“生成更长”为成功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55525355-2CCF-40AD-AD28-8A52E2D6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内部技术说明 · 基于当前项目实现</a:t>
            </a:r>
          </a:p>
        </p:txBody>
      </p:sp>
    </p:spTree>
    <p:extLst>
      <p:ext uri="{BB962C8B-B14F-4D97-AF65-F5344CB8AC3E}">
        <p14:creationId xmlns:p14="http://schemas.microsoft.com/office/powerpoint/2010/main" val="685416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">
            <a:extLst xmlns:a="http://schemas.openxmlformats.org/drawingml/2006/main">
              <a:ext uri="{FF2B5EF4-FFF2-40B4-BE49-F238E27FC236}">
                <a16:creationId xmlns:a16="http://schemas.microsoft.com/office/drawing/2014/main" id="{764E36B2-44A2-49C2-B75A-2E15BF4C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D"/>
                </a:solidFill>
              </a:defRPr>
            </a:pPr>
            <a:r>
              <a:rPr sz="900" b="1">
                <a:solidFill>
                  <a:srgbClr val="0B7D7D"/>
                </a:solidFill>
              </a:rPr>
              <a:t>QUESTION EVOLUTION · TREE SEARCH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F4A0DE-7391-4ED6-B64B-CD9A9B05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两层搜索：先横向探索，再纵向叠加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E369714-CD48-4468-BD78-068910F4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6A23DAD-B7C5-4865-B30C-3BAB80B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2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03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BEE08B02-CE35-4F99-B076-449E9730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默认先探索同一父题的多个 operator；只有有效降分节点才获得下一层机会。</a:t>
            </a:r>
          </a:p>
        </p:txBody>
      </p:sp>
      <p:sp>
        <p:nvSpPr>
          <p:cNvPr id="6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5E99E348-A266-4A4D-99B7-8741773C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D7D"/>
                </a:solidFill>
              </a:defRPr>
            </a:pPr>
            <a:r>
              <a:rPr sz="1800" b="1">
                <a:solidFill>
                  <a:srgbClr val="0B7D7D"/>
                </a:solidFill>
              </a:rPr>
              <a:t>第一层：横向多算子</a:t>
            </a:r>
          </a:p>
        </p:txBody>
      </p:sp>
      <p:sp>
        <p:nvSpPr>
          <p:cNvPr id="7" name="left-caption">
            <a:extLst xmlns:a="http://schemas.openxmlformats.org/drawingml/2006/main">
              <a:ext uri="{FF2B5EF4-FFF2-40B4-BE49-F238E27FC236}">
                <a16:creationId xmlns:a16="http://schemas.microsoft.com/office/drawing/2014/main" id="{F4548791-6410-4084-9F81-C1E3D898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一个父题 → 多条 sibling branch</a:t>
            </a:r>
          </a:p>
        </p:txBody>
      </p:sp>
      <p:sp>
        <p:nvSpPr>
          <p:cNvPr id="8" name="hroot">
            <a:extLst xmlns:a="http://schemas.openxmlformats.org/drawingml/2006/main">
              <a:ext uri="{FF2B5EF4-FFF2-40B4-BE49-F238E27FC236}">
                <a16:creationId xmlns:a16="http://schemas.microsoft.com/office/drawing/2014/main" id="{20052F9C-B592-454F-B1E5-BEDF89B1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48025"/>
            <a:ext cx="11239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9525">
            <a:solidFill>
              <a:srgbClr val="E6EEF9"/>
            </a:solidFill>
            <a:prstDash val="solid"/>
          </a:ln>
        </p:spPr>
      </p:sp>
      <p:sp>
        <p:nvSpPr>
          <p:cNvPr id="9" name="hroot-text">
            <a:extLst xmlns:a="http://schemas.openxmlformats.org/drawingml/2006/main">
              <a:ext uri="{FF2B5EF4-FFF2-40B4-BE49-F238E27FC236}">
                <a16:creationId xmlns:a16="http://schemas.microsoft.com/office/drawing/2014/main" id="{1AA5C08B-ACA0-4809-8B22-5D3C5B3E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根题</a:t>
            </a:r>
          </a:p>
        </p:txBody>
      </p:sp>
      <p:sp>
        <p:nvSpPr>
          <p:cNvPr id="10" name="h1">
            <a:extLst xmlns:a="http://schemas.openxmlformats.org/drawingml/2006/main">
              <a:ext uri="{FF2B5EF4-FFF2-40B4-BE49-F238E27FC236}">
                <a16:creationId xmlns:a16="http://schemas.microsoft.com/office/drawing/2014/main" id="{C579E062-A6A7-43F6-BCB5-AF230D79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00350"/>
            <a:ext cx="11049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9F3F1"/>
            </a:solidFill>
            <a:prstDash val="solid"/>
          </a:ln>
        </p:spPr>
      </p:sp>
      <p:sp>
        <p:nvSpPr>
          <p:cNvPr id="11" name="h1-text">
            <a:extLst xmlns:a="http://schemas.openxmlformats.org/drawingml/2006/main">
              <a:ext uri="{FF2B5EF4-FFF2-40B4-BE49-F238E27FC236}">
                <a16:creationId xmlns:a16="http://schemas.microsoft.com/office/drawing/2014/main" id="{86A9C8DA-BB6F-43DF-9EA7-CD8619E8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7655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D7D"/>
                </a:solidFill>
              </a:defRPr>
            </a:pPr>
            <a:r>
              <a:rPr sz="1200" b="1">
                <a:solidFill>
                  <a:srgbClr val="0B7D7D"/>
                </a:solidFill>
              </a:rPr>
              <a:t>O10</a:t>
            </a:r>
          </a:p>
        </p:txBody>
      </p:sp>
      <p:sp>
        <p:nvSpPr>
          <p:cNvPr id="12" name="h2">
            <a:extLst xmlns:a="http://schemas.openxmlformats.org/drawingml/2006/main">
              <a:ext uri="{FF2B5EF4-FFF2-40B4-BE49-F238E27FC236}">
                <a16:creationId xmlns:a16="http://schemas.microsoft.com/office/drawing/2014/main" id="{1939BEBE-E12B-4AB9-859E-A98B290F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00425"/>
            <a:ext cx="11049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9F3F1"/>
            </a:solidFill>
            <a:prstDash val="solid"/>
          </a:ln>
        </p:spPr>
      </p:sp>
      <p:sp>
        <p:nvSpPr>
          <p:cNvPr id="13" name="h2-text">
            <a:extLst xmlns:a="http://schemas.openxmlformats.org/drawingml/2006/main">
              <a:ext uri="{FF2B5EF4-FFF2-40B4-BE49-F238E27FC236}">
                <a16:creationId xmlns:a16="http://schemas.microsoft.com/office/drawing/2014/main" id="{C5D856E9-E5B6-4A8F-963D-F04789A3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7662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D7D"/>
                </a:solidFill>
              </a:defRPr>
            </a:pPr>
            <a:r>
              <a:rPr sz="1200" b="1">
                <a:solidFill>
                  <a:srgbClr val="0B7D7D"/>
                </a:solidFill>
              </a:rPr>
              <a:t>O14</a:t>
            </a:r>
          </a:p>
        </p:txBody>
      </p:sp>
      <p:sp>
        <p:nvSpPr>
          <p:cNvPr id="14" name="h3">
            <a:extLst xmlns:a="http://schemas.openxmlformats.org/drawingml/2006/main">
              <a:ext uri="{FF2B5EF4-FFF2-40B4-BE49-F238E27FC236}">
                <a16:creationId xmlns:a16="http://schemas.microsoft.com/office/drawing/2014/main" id="{CDA88995-CE04-406E-BA3B-71D6AE15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00500"/>
            <a:ext cx="11049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9F3F1"/>
            </a:solidFill>
            <a:prstDash val="solid"/>
          </a:ln>
        </p:spPr>
      </p:sp>
      <p:sp>
        <p:nvSpPr>
          <p:cNvPr id="15" name="h3-text">
            <a:extLst xmlns:a="http://schemas.openxmlformats.org/drawingml/2006/main">
              <a:ext uri="{FF2B5EF4-FFF2-40B4-BE49-F238E27FC236}">
                <a16:creationId xmlns:a16="http://schemas.microsoft.com/office/drawing/2014/main" id="{735096E8-BA13-47D1-A09E-F775FC33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7670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D7D"/>
                </a:solidFill>
              </a:defRPr>
            </a:pPr>
            <a:r>
              <a:rPr sz="1200" b="1">
                <a:solidFill>
                  <a:srgbClr val="0B7D7D"/>
                </a:solidFill>
              </a:rPr>
              <a:t>O17</a:t>
            </a:r>
          </a:p>
        </p:txBody>
      </p: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257425" y="3038475"/>
            <a:ext cx="7429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7DB1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257425" y="3514725"/>
            <a:ext cx="74295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7DB1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257425" y="3514725"/>
            <a:ext cx="74295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7DB1"/>
            </a:solidFill>
            <a:prstDash val="solid"/>
            <a:tailEnd type="arrow" w="sm" len="sm"/>
          </a:ln>
        </p:spPr>
      </p:cxnSp>
      <p:sp>
        <p:nvSpPr>
          <p:cNvPr id="19" name="left-note">
            <a:extLst xmlns:a="http://schemas.openxmlformats.org/drawingml/2006/main">
              <a:ext uri="{FF2B5EF4-FFF2-40B4-BE49-F238E27FC236}">
                <a16:creationId xmlns:a16="http://schemas.microsoft.com/office/drawing/2014/main" id="{7A3FFE56-A11E-471B-AC20-87F7B1EA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冻结 Router 候选列表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每个父题 + 算子只形成一个稳定 branch</a:t>
            </a:r>
          </a:p>
        </p:txBody>
      </p:sp>
      <p:sp>
        <p:nvSpPr>
          <p:cNvPr id="20" name="divider">
            <a:extLst xmlns:a="http://schemas.openxmlformats.org/drawingml/2006/main">
              <a:ext uri="{FF2B5EF4-FFF2-40B4-BE49-F238E27FC236}">
                <a16:creationId xmlns:a16="http://schemas.microsoft.com/office/drawing/2014/main" id="{7BB36135-6233-497F-BEF9-5F78D8DD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4310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B40B085F-8218-4059-85B9-62F83EC9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F52"/>
                </a:solidFill>
              </a:defRPr>
            </a:pPr>
            <a:r>
              <a:rPr sz="1800" b="1">
                <a:solidFill>
                  <a:srgbClr val="4B7F52"/>
                </a:solidFill>
              </a:rPr>
              <a:t>第二层：纵向算子叠加</a:t>
            </a:r>
          </a:p>
        </p:txBody>
      </p:sp>
      <p:sp>
        <p:nvSpPr>
          <p:cNvPr id="22" name="right-caption">
            <a:extLst xmlns:a="http://schemas.openxmlformats.org/drawingml/2006/main">
              <a:ext uri="{FF2B5EF4-FFF2-40B4-BE49-F238E27FC236}">
                <a16:creationId xmlns:a16="http://schemas.microsoft.com/office/drawing/2014/main" id="{A48CB786-1679-417C-8CE7-D09B6836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有效节点重新画像、重新路由</a:t>
            </a:r>
          </a:p>
        </p:txBody>
      </p:sp>
      <p:sp>
        <p:nvSpPr>
          <p:cNvPr id="23" name="vroot">
            <a:extLst xmlns:a="http://schemas.openxmlformats.org/drawingml/2006/main">
              <a:ext uri="{FF2B5EF4-FFF2-40B4-BE49-F238E27FC236}">
                <a16:creationId xmlns:a16="http://schemas.microsoft.com/office/drawing/2014/main" id="{82881B1B-2C15-4064-801E-34DFBB9B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48025"/>
            <a:ext cx="1257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9525">
            <a:solidFill>
              <a:srgbClr val="E6EEF9"/>
            </a:solidFill>
            <a:prstDash val="solid"/>
          </a:ln>
        </p:spPr>
      </p:sp>
      <p:sp>
        <p:nvSpPr>
          <p:cNvPr id="24" name="vroot-text">
            <a:extLst xmlns:a="http://schemas.openxmlformats.org/drawingml/2006/main">
              <a:ext uri="{FF2B5EF4-FFF2-40B4-BE49-F238E27FC236}">
                <a16:creationId xmlns:a16="http://schemas.microsoft.com/office/drawing/2014/main" id="{80C415D1-84EF-4220-B31D-A84FC1FE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24225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根题</a:t>
            </a:r>
          </a:p>
          <a:p xmlns:a="http://schemas.openxmlformats.org/drawingml/2006/main">
            <a:pPr algn="ctr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depth 1</a:t>
            </a:r>
          </a:p>
        </p:txBody>
      </p:sp>
      <p:sp>
        <p:nvSpPr>
          <p:cNvPr id="25" name="v1">
            <a:extLst xmlns:a="http://schemas.openxmlformats.org/drawingml/2006/main">
              <a:ext uri="{FF2B5EF4-FFF2-40B4-BE49-F238E27FC236}">
                <a16:creationId xmlns:a16="http://schemas.microsoft.com/office/drawing/2014/main" id="{4F193EED-98A3-4EFB-AB48-4739CF1A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00350"/>
            <a:ext cx="1219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E3F1E5"/>
            </a:solidFill>
            <a:prstDash val="solid"/>
          </a:ln>
        </p:spPr>
      </p:sp>
      <p:sp>
        <p:nvSpPr>
          <p:cNvPr id="26" name="v1-text">
            <a:extLst xmlns:a="http://schemas.openxmlformats.org/drawingml/2006/main">
              <a:ext uri="{FF2B5EF4-FFF2-40B4-BE49-F238E27FC236}">
                <a16:creationId xmlns:a16="http://schemas.microsoft.com/office/drawing/2014/main" id="{8365FE28-D00F-455C-8B9B-8C5C1DA0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76550"/>
            <a:ext cx="102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O10</a:t>
            </a:r>
          </a:p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depth 2</a:t>
            </a:r>
          </a:p>
        </p:txBody>
      </p:sp>
      <p:sp>
        <p:nvSpPr>
          <p:cNvPr id="27" name="v2">
            <a:extLst xmlns:a="http://schemas.openxmlformats.org/drawingml/2006/main">
              <a:ext uri="{FF2B5EF4-FFF2-40B4-BE49-F238E27FC236}">
                <a16:creationId xmlns:a16="http://schemas.microsoft.com/office/drawing/2014/main" id="{4D9B1F1D-BD97-415D-89FA-835A1C2F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848100"/>
            <a:ext cx="1219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CE6DF"/>
          </a:solidFill>
          <a:ln xmlns:a="http://schemas.openxmlformats.org/drawingml/2006/main" w="9525">
            <a:solidFill>
              <a:srgbClr val="FCE6DF"/>
            </a:solidFill>
            <a:prstDash val="solid"/>
          </a:ln>
        </p:spPr>
      </p:sp>
      <p:sp>
        <p:nvSpPr>
          <p:cNvPr id="28" name="v2-text">
            <a:extLst xmlns:a="http://schemas.openxmlformats.org/drawingml/2006/main">
              <a:ext uri="{FF2B5EF4-FFF2-40B4-BE49-F238E27FC236}">
                <a16:creationId xmlns:a16="http://schemas.microsoft.com/office/drawing/2014/main" id="{89132737-EBE8-4E6B-95E8-FB2ED0A3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924300"/>
            <a:ext cx="102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5D39"/>
                </a:solidFill>
              </a:defRPr>
            </a:pPr>
            <a:r>
              <a:rPr sz="1200" b="1">
                <a:solidFill>
                  <a:srgbClr val="D95D39"/>
                </a:solidFill>
              </a:rPr>
              <a:t>O14</a:t>
            </a:r>
          </a:p>
          <a:p xmlns:a="http://schemas.openxmlformats.org/drawingml/2006/main">
            <a:pPr algn="ctr">
              <a:defRPr sz="1200" b="1">
                <a:solidFill>
                  <a:srgbClr val="D95D39"/>
                </a:solidFill>
              </a:defRPr>
            </a:pPr>
            <a:r>
              <a:rPr sz="1200" b="1">
                <a:solidFill>
                  <a:srgbClr val="D95D39"/>
                </a:solidFill>
              </a:rPr>
              <a:t>depth 2</a:t>
            </a:r>
          </a:p>
        </p:txBody>
      </p:sp>
      <p:sp>
        <p:nvSpPr>
          <p:cNvPr id="29" name="v3">
            <a:extLst xmlns:a="http://schemas.openxmlformats.org/drawingml/2006/main">
              <a:ext uri="{FF2B5EF4-FFF2-40B4-BE49-F238E27FC236}">
                <a16:creationId xmlns:a16="http://schemas.microsoft.com/office/drawing/2014/main" id="{305E9887-13D6-4593-A851-14DD4CC3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0350"/>
            <a:ext cx="133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E3F1E5"/>
            </a:solidFill>
            <a:prstDash val="solid"/>
          </a:ln>
        </p:spPr>
      </p:sp>
      <p:sp>
        <p:nvSpPr>
          <p:cNvPr id="30" name="v3-text">
            <a:extLst xmlns:a="http://schemas.openxmlformats.org/drawingml/2006/main">
              <a:ext uri="{FF2B5EF4-FFF2-40B4-BE49-F238E27FC236}">
                <a16:creationId xmlns:a16="http://schemas.microsoft.com/office/drawing/2014/main" id="{7602B717-7EB4-4ED4-86D9-DE7AB384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765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O10 → O17</a:t>
            </a:r>
          </a:p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depth 3</a:t>
            </a:r>
          </a:p>
        </p:txBody>
      </p:sp>
      <p:cxnSp>
        <p:nvCxnSpPr>
          <p:cNvPr id="67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7905750" y="3076575"/>
            <a:ext cx="733425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F52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905750" y="3543300"/>
            <a:ext cx="733425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5D39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858375" y="30765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F52"/>
            </a:solidFill>
            <a:prstDash val="solid"/>
            <a:tailEnd type="arrow" w="sm" len="sm"/>
          </a:ln>
        </p:spPr>
      </p:cxnSp>
      <p:sp>
        <p:nvSpPr>
          <p:cNvPr id="34" name="frontier-note">
            <a:extLst xmlns:a="http://schemas.openxmlformats.org/drawingml/2006/main">
              <a:ext uri="{FF2B5EF4-FFF2-40B4-BE49-F238E27FC236}">
                <a16:creationId xmlns:a16="http://schemas.microsoft.com/office/drawing/2014/main" id="{438DC957-2FB7-4305-BB82-1AA3051F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434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B7F52"/>
                </a:solidFill>
              </a:defRPr>
            </a:pPr>
            <a:r>
              <a:rPr sz="1275" b="1">
                <a:solidFill>
                  <a:srgbClr val="4B7F52"/>
                </a:solidFill>
              </a:rPr>
              <a:t>仅有效降分节点</a:t>
            </a:r>
          </a:p>
          <a:p xmlns:a="http://schemas.openxmlformats.org/drawingml/2006/main">
            <a:pPr algn="ctr">
              <a:defRPr sz="1275" b="1">
                <a:solidFill>
                  <a:srgbClr val="4B7F52"/>
                </a:solidFill>
              </a:defRPr>
            </a:pPr>
            <a:r>
              <a:rPr sz="1275" b="1">
                <a:solidFill>
                  <a:srgbClr val="4B7F52"/>
                </a:solidFill>
              </a:rPr>
              <a:t>进入 frontier</a:t>
            </a:r>
          </a:p>
        </p:txBody>
      </p:sp>
      <p:sp>
        <p:nvSpPr>
          <p:cNvPr id="35" name="depth-note">
            <a:extLst xmlns:a="http://schemas.openxmlformats.org/drawingml/2006/main">
              <a:ext uri="{FF2B5EF4-FFF2-40B4-BE49-F238E27FC236}">
                <a16:creationId xmlns:a16="http://schemas.microsoft.com/office/drawing/2014/main" id="{DFC4C78A-96FC-418E-8614-2C66A86B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434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默认最大深度 = 3</a:t>
            </a:r>
          </a:p>
        </p:txBody>
      </p:sp>
      <p:sp>
        <p:nvSpPr>
          <p:cNvPr id="36" name="footer">
            <a:extLst xmlns:a="http://schemas.openxmlformats.org/drawingml/2006/main">
              <a:ext uri="{FF2B5EF4-FFF2-40B4-BE49-F238E27FC236}">
                <a16:creationId xmlns:a16="http://schemas.microsoft.com/office/drawing/2014/main" id="{4483B393-99A8-4F53-B13E-3A9A2116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内部技术说明 · 基于当前项目实现</a:t>
            </a:r>
          </a:p>
        </p:txBody>
      </p:sp>
    </p:spTree>
    <p:extLst>
      <p:ext uri="{BB962C8B-B14F-4D97-AF65-F5344CB8AC3E}">
        <p14:creationId xmlns:p14="http://schemas.microsoft.com/office/powerpoint/2010/main" val="2097621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8494E80F-85BF-4F27-9E80-BCF88745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D"/>
                </a:solidFill>
              </a:defRPr>
            </a:pPr>
            <a:r>
              <a:rPr sz="900" b="1">
                <a:solidFill>
                  <a:srgbClr val="0B7D7D"/>
                </a:solidFill>
              </a:rPr>
              <a:t>QUESTION EVOLUTION · TREE SEARCH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E638C8-DD2C-4B85-8924-BCA7CD8D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一条 branch 复用完整评测闭环，而非“生成即通过”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18456B4-9619-4A01-84CD-C792AF37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F6FBCCC-8979-4FA9-9CA9-332EA51C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2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04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AAC69E85-60BA-45BB-98EF-BC8F7731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前置校验只处理致命风险；是否有搜索价值，最终仍由后验真实评分判断。</a:t>
            </a:r>
          </a:p>
        </p:txBody>
      </p:sp>
      <p:sp>
        <p:nvSpPr>
          <p:cNvPr id="6" name="stage-1">
            <a:extLst xmlns:a="http://schemas.openxmlformats.org/drawingml/2006/main">
              <a:ext uri="{FF2B5EF4-FFF2-40B4-BE49-F238E27FC236}">
                <a16:creationId xmlns:a16="http://schemas.microsoft.com/office/drawing/2014/main" id="{520EB53E-281D-4753-AD5C-8634D246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9F3F1"/>
            </a:solidFill>
            <a:prstDash val="solid"/>
          </a:ln>
        </p:spPr>
      </p:sp>
      <p:sp>
        <p:nvSpPr>
          <p:cNvPr id="7" name="stage-1-text">
            <a:extLst xmlns:a="http://schemas.openxmlformats.org/drawingml/2006/main">
              <a:ext uri="{FF2B5EF4-FFF2-40B4-BE49-F238E27FC236}">
                <a16:creationId xmlns:a16="http://schemas.microsoft.com/office/drawing/2014/main" id="{0216716F-1A97-4501-AB45-59A88435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D7D"/>
                </a:solidFill>
              </a:defRPr>
            </a:pPr>
            <a:r>
              <a:rPr sz="1200" b="1">
                <a:solidFill>
                  <a:srgbClr val="0B7D7D"/>
                </a:solidFill>
              </a:rPr>
              <a:t>算子强制</a:t>
            </a:r>
          </a:p>
          <a:p xmlns:a="http://schemas.openxmlformats.org/drawingml/2006/main">
            <a:pPr algn="ctr">
              <a:defRPr sz="1200" b="1">
                <a:solidFill>
                  <a:srgbClr val="0B7D7D"/>
                </a:solidFill>
              </a:defRPr>
            </a:pPr>
            <a:r>
              <a:rPr sz="1200" b="1">
                <a:solidFill>
                  <a:srgbClr val="0B7D7D"/>
                </a:solidFill>
              </a:rPr>
              <a:t>生成题目</a:t>
            </a:r>
          </a:p>
        </p:txBody>
      </p:sp>
      <p:sp>
        <p:nvSpPr>
          <p:cNvPr id="8" name="stage-2">
            <a:extLst xmlns:a="http://schemas.openxmlformats.org/drawingml/2006/main">
              <a:ext uri="{FF2B5EF4-FFF2-40B4-BE49-F238E27FC236}">
                <a16:creationId xmlns:a16="http://schemas.microsoft.com/office/drawing/2014/main" id="{48A9C541-21FB-470D-B2D8-2AFB99EA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813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9525">
            <a:solidFill>
              <a:srgbClr val="E6EEF9"/>
            </a:solidFill>
            <a:prstDash val="solid"/>
          </a:ln>
        </p:spPr>
      </p:sp>
      <p:sp>
        <p:nvSpPr>
          <p:cNvPr id="9" name="stage-2-text">
            <a:extLst xmlns:a="http://schemas.openxmlformats.org/drawingml/2006/main">
              <a:ext uri="{FF2B5EF4-FFF2-40B4-BE49-F238E27FC236}">
                <a16:creationId xmlns:a16="http://schemas.microsoft.com/office/drawing/2014/main" id="{BD607FC5-31AB-41A9-9F85-A59E76E8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575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校验与</a:t>
            </a:r>
          </a:p>
          <a:p xmlns:a="http://schemas.openxmlformats.org/drawingml/2006/main">
            <a:pPr algn="ctr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候选分流</a:t>
            </a:r>
          </a:p>
        </p:txBody>
      </p:sp>
      <p:sp>
        <p:nvSpPr>
          <p:cNvPr id="10" name="stage-3">
            <a:extLst xmlns:a="http://schemas.openxmlformats.org/drawingml/2006/main">
              <a:ext uri="{FF2B5EF4-FFF2-40B4-BE49-F238E27FC236}">
                <a16:creationId xmlns:a16="http://schemas.microsoft.com/office/drawing/2014/main" id="{1255067C-EEFF-41FF-85DF-0F9AC3CC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FFF1D8"/>
            </a:solidFill>
            <a:prstDash val="solid"/>
          </a:ln>
        </p:spPr>
      </p:sp>
      <p:sp>
        <p:nvSpPr>
          <p:cNvPr id="11" name="stage-3-text">
            <a:extLst xmlns:a="http://schemas.openxmlformats.org/drawingml/2006/main">
              <a:ext uri="{FF2B5EF4-FFF2-40B4-BE49-F238E27FC236}">
                <a16:creationId xmlns:a16="http://schemas.microsoft.com/office/drawing/2014/main" id="{D0362364-362A-4C0C-ADC1-FF84DF42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7E16"/>
                </a:solidFill>
              </a:defRPr>
            </a:pPr>
            <a:r>
              <a:rPr sz="1200" b="1">
                <a:solidFill>
                  <a:srgbClr val="C47E16"/>
                </a:solidFill>
              </a:rPr>
              <a:t>回答与</a:t>
            </a:r>
          </a:p>
          <a:p xmlns:a="http://schemas.openxmlformats.org/drawingml/2006/main">
            <a:pPr algn="ctr">
              <a:defRPr sz="1200" b="1">
                <a:solidFill>
                  <a:srgbClr val="C47E16"/>
                </a:solidFill>
              </a:defRPr>
            </a:pPr>
            <a:r>
              <a:rPr sz="1200" b="1">
                <a:solidFill>
                  <a:srgbClr val="C47E16"/>
                </a:solidFill>
              </a:rPr>
              <a:t>Rubric</a:t>
            </a:r>
          </a:p>
        </p:txBody>
      </p:sp>
      <p:sp>
        <p:nvSpPr>
          <p:cNvPr id="12" name="stage-4">
            <a:extLst xmlns:a="http://schemas.openxmlformats.org/drawingml/2006/main">
              <a:ext uri="{FF2B5EF4-FFF2-40B4-BE49-F238E27FC236}">
                <a16:creationId xmlns:a16="http://schemas.microsoft.com/office/drawing/2014/main" id="{4C7CE10A-6CEF-433B-83AF-19FF64A9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813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E3F1E5"/>
            </a:solidFill>
            <a:prstDash val="solid"/>
          </a:ln>
        </p:spPr>
      </p:sp>
      <p:sp>
        <p:nvSpPr>
          <p:cNvPr id="13" name="stage-4-text">
            <a:extLst xmlns:a="http://schemas.openxmlformats.org/drawingml/2006/main">
              <a:ext uri="{FF2B5EF4-FFF2-40B4-BE49-F238E27FC236}">
                <a16:creationId xmlns:a16="http://schemas.microsoft.com/office/drawing/2014/main" id="{EAB2801E-3D21-46F0-848E-7521BB2A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575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评分与</a:t>
            </a:r>
          </a:p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效果分析</a:t>
            </a:r>
          </a:p>
        </p:txBody>
      </p:sp>
      <p:sp>
        <p:nvSpPr>
          <p:cNvPr id="14" name="stage-5">
            <a:extLst xmlns:a="http://schemas.openxmlformats.org/drawingml/2006/main">
              <a:ext uri="{FF2B5EF4-FFF2-40B4-BE49-F238E27FC236}">
                <a16:creationId xmlns:a16="http://schemas.microsoft.com/office/drawing/2014/main" id="{6496F836-C754-4E27-A904-F8FE7458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stage-5-text">
            <a:extLst xmlns:a="http://schemas.openxmlformats.org/drawingml/2006/main">
              <a:ext uri="{FF2B5EF4-FFF2-40B4-BE49-F238E27FC236}">
                <a16:creationId xmlns:a16="http://schemas.microsoft.com/office/drawing/2014/main" id="{E3719095-B36E-4B13-8530-EB1DB3C0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86581"/>
                </a:solidFill>
              </a:defRPr>
            </a:pPr>
            <a:r>
              <a:rPr sz="1200" b="1">
                <a:solidFill>
                  <a:srgbClr val="486581"/>
                </a:solidFill>
              </a:rPr>
              <a:t>状态更新</a:t>
            </a:r>
          </a:p>
          <a:p xmlns:a="http://schemas.openxmlformats.org/drawingml/2006/main">
            <a:pPr algn="ctr">
              <a:defRPr sz="1200" b="1">
                <a:solidFill>
                  <a:srgbClr val="486581"/>
                </a:solidFill>
              </a:defRPr>
            </a:pPr>
            <a:r>
              <a:rPr sz="1200" b="1">
                <a:solidFill>
                  <a:srgbClr val="486581"/>
                </a:solidFill>
              </a:rPr>
              <a:t>Memory</a:t>
            </a:r>
          </a:p>
        </p:txBody>
      </p: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81250" y="31718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19625" y="31718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58000" y="31718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096375" y="31718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7D98"/>
            </a:solidFill>
            <a:prstDash val="solid"/>
            <a:tailEnd type="arrow" w="sm" len="sm"/>
          </a:ln>
        </p:spPr>
      </p:cxnSp>
      <p:sp>
        <p:nvSpPr>
          <p:cNvPr id="20" name="callout">
            <a:extLst xmlns:a="http://schemas.openxmlformats.org/drawingml/2006/main">
              <a:ext uri="{FF2B5EF4-FFF2-40B4-BE49-F238E27FC236}">
                <a16:creationId xmlns:a16="http://schemas.microsoft.com/office/drawing/2014/main" id="{D4436E73-F63F-4F5D-842E-F809E3A0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每一条分支都保存父题快照，因此评分始终与直接父节点对齐。</a:t>
            </a:r>
          </a:p>
        </p:txBody>
      </p:sp>
      <p:sp>
        <p:nvSpPr>
          <p:cNvPr id="21" name="bullet-dot">
            <a:extLst xmlns:a="http://schemas.openxmlformats.org/drawingml/2006/main">
              <a:ext uri="{FF2B5EF4-FFF2-40B4-BE49-F238E27FC236}">
                <a16:creationId xmlns:a16="http://schemas.microsoft.com/office/drawing/2014/main" id="{A7CF6DF7-F3CD-4C0E-86F1-6CDA8929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22" name="bullet">
            <a:extLst xmlns:a="http://schemas.openxmlformats.org/drawingml/2006/main">
              <a:ext uri="{FF2B5EF4-FFF2-40B4-BE49-F238E27FC236}">
                <a16:creationId xmlns:a16="http://schemas.microsoft.com/office/drawing/2014/main" id="{F43353A3-2DC3-4343-BEDF-AE4DDE94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校验失败：终止，不进入评分</a:t>
            </a:r>
          </a:p>
        </p:txBody>
      </p:sp>
      <p:sp>
        <p:nvSpPr>
          <p:cNvPr id="23" name="bullet-dot">
            <a:extLst xmlns:a="http://schemas.openxmlformats.org/drawingml/2006/main">
              <a:ext uri="{FF2B5EF4-FFF2-40B4-BE49-F238E27FC236}">
                <a16:creationId xmlns:a16="http://schemas.microsoft.com/office/drawing/2014/main" id="{87FB07A3-7F26-45C2-AB07-482D3F75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24" name="bullet">
            <a:extLst xmlns:a="http://schemas.openxmlformats.org/drawingml/2006/main">
              <a:ext uri="{FF2B5EF4-FFF2-40B4-BE49-F238E27FC236}">
                <a16:creationId xmlns:a16="http://schemas.microsoft.com/office/drawing/2014/main" id="{36EFB0BF-1A01-446B-9BFA-F2AA37F9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评分完成：写入 branch_status 与 effect_analysis</a:t>
            </a:r>
          </a:p>
        </p:txBody>
      </p:sp>
      <p:sp>
        <p:nvSpPr>
          <p:cNvPr id="25" name="bullet-dot">
            <a:extLst xmlns:a="http://schemas.openxmlformats.org/drawingml/2006/main">
              <a:ext uri="{FF2B5EF4-FFF2-40B4-BE49-F238E27FC236}">
                <a16:creationId xmlns:a16="http://schemas.microsoft.com/office/drawing/2014/main" id="{0117235A-712D-4B94-BBA2-312F5A8F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95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26" name="bullet">
            <a:extLst xmlns:a="http://schemas.openxmlformats.org/drawingml/2006/main">
              <a:ext uri="{FF2B5EF4-FFF2-40B4-BE49-F238E27FC236}">
                <a16:creationId xmlns:a16="http://schemas.microsoft.com/office/drawing/2014/main" id="{A9A6A8C3-EE4F-431C-A88E-90A4F54D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592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降分：形成可追踪的边界边；增分：记录失败形态</a:t>
            </a:r>
          </a:p>
        </p:txBody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3F6FE7CD-5154-4A71-99F1-2781CCFA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内部技术说明 · 基于当前项目实现</a:t>
            </a:r>
          </a:p>
        </p:txBody>
      </p:sp>
    </p:spTree>
    <p:extLst>
      <p:ext uri="{BB962C8B-B14F-4D97-AF65-F5344CB8AC3E}">
        <p14:creationId xmlns:p14="http://schemas.microsoft.com/office/powerpoint/2010/main" val="11051676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">
            <a:extLst xmlns:a="http://schemas.openxmlformats.org/drawingml/2006/main">
              <a:ext uri="{FF2B5EF4-FFF2-40B4-BE49-F238E27FC236}">
                <a16:creationId xmlns:a16="http://schemas.microsoft.com/office/drawing/2014/main" id="{6C6FC0A7-7EA4-4B1D-AA43-8D3C9B2B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D"/>
                </a:solidFill>
              </a:defRPr>
            </a:pPr>
            <a:r>
              <a:rPr sz="900" b="1">
                <a:solidFill>
                  <a:srgbClr val="0B7D7D"/>
                </a:solidFill>
              </a:rPr>
              <a:t>QUESTION EVOLUTION · TREE SEARCH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F715B7-C31A-4E66-A90F-1814E14E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扩展资格只看直接父子降分，不追逐“全局最优分数”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75C0544-B95A-4BCF-98D0-70B91999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0959876-FE08-408C-8565-05925D53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2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05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E589D196-D1CB-46AE-B693-A91BC625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这使每条边都能解释为一次具体 operator 应用带来的可验证难度变化。</a:t>
            </a:r>
          </a:p>
        </p:txBody>
      </p:sp>
      <p:sp>
        <p:nvSpPr>
          <p:cNvPr id="6" name="chart-heading">
            <a:extLst xmlns:a="http://schemas.openxmlformats.org/drawingml/2006/main">
              <a:ext uri="{FF2B5EF4-FFF2-40B4-BE49-F238E27FC236}">
                <a16:creationId xmlns:a16="http://schemas.microsoft.com/office/drawing/2014/main" id="{7F7BBBFD-1582-4804-BD9A-4142604B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同一父题下的三个子分支</a:t>
            </a:r>
          </a:p>
        </p:txBody>
      </p:sp>
      <p:sp>
        <p:nvSpPr>
          <p:cNvPr id="7" name="chart-subheading">
            <a:extLst xmlns:a="http://schemas.openxmlformats.org/drawingml/2006/main">
              <a:ext uri="{FF2B5EF4-FFF2-40B4-BE49-F238E27FC236}">
                <a16:creationId xmlns:a16="http://schemas.microsoft.com/office/drawing/2014/main" id="{616EF449-BCB7-4DEF-BDC1-6792EC02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评分率（示例）</a:t>
            </a:r>
          </a:p>
        </p:txBody>
      </p:sp>
      <p:sp>
        <p:nvSpPr>
          <p:cNvPr id="8" name="bar-label-0">
            <a:extLst xmlns:a="http://schemas.openxmlformats.org/drawingml/2006/main">
              <a:ext uri="{FF2B5EF4-FFF2-40B4-BE49-F238E27FC236}">
                <a16:creationId xmlns:a16="http://schemas.microsoft.com/office/drawing/2014/main" id="{E33565B5-64C6-4A7E-9279-901F7742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895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父题</a:t>
            </a:r>
          </a:p>
        </p:txBody>
      </p:sp>
      <p:sp>
        <p:nvSpPr>
          <p:cNvPr id="9" name="bar-bg-0">
            <a:extLst xmlns:a="http://schemas.openxmlformats.org/drawingml/2006/main">
              <a:ext uri="{FF2B5EF4-FFF2-40B4-BE49-F238E27FC236}">
                <a16:creationId xmlns:a16="http://schemas.microsoft.com/office/drawing/2014/main" id="{B890322A-43FF-45CA-987B-6A21760E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4667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bar-0">
            <a:extLst xmlns:a="http://schemas.openxmlformats.org/drawingml/2006/main">
              <a:ext uri="{FF2B5EF4-FFF2-40B4-BE49-F238E27FC236}">
                <a16:creationId xmlns:a16="http://schemas.microsoft.com/office/drawing/2014/main" id="{E961365E-A7B9-4E20-A72B-CF28467C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40100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7DB1"/>
          </a:solidFill>
          <a:ln xmlns:a="http://schemas.openxmlformats.org/drawingml/2006/main" w="9525">
            <a:solidFill>
              <a:srgbClr val="5B7DB1"/>
            </a:solidFill>
            <a:prstDash val="solid"/>
          </a:ln>
        </p:spPr>
      </p:sp>
      <p:sp>
        <p:nvSpPr>
          <p:cNvPr id="11" name="bar-value-0">
            <a:extLst xmlns:a="http://schemas.openxmlformats.org/drawingml/2006/main">
              <a:ext uri="{FF2B5EF4-FFF2-40B4-BE49-F238E27FC236}">
                <a16:creationId xmlns:a16="http://schemas.microsoft.com/office/drawing/2014/main" id="{D28356D7-0203-4BDC-AE0D-D69DA923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241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0.86</a:t>
            </a:r>
          </a:p>
        </p:txBody>
      </p:sp>
      <p:sp>
        <p:nvSpPr>
          <p:cNvPr id="12" name="bar-label-1">
            <a:extLst xmlns:a="http://schemas.openxmlformats.org/drawingml/2006/main">
              <a:ext uri="{FF2B5EF4-FFF2-40B4-BE49-F238E27FC236}">
                <a16:creationId xmlns:a16="http://schemas.microsoft.com/office/drawing/2014/main" id="{7CF4467E-D545-449F-934A-29E0F482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895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O10 子题</a:t>
            </a:r>
          </a:p>
        </p:txBody>
      </p:sp>
      <p:sp>
        <p:nvSpPr>
          <p:cNvPr id="13" name="bar-bg-1">
            <a:extLst xmlns:a="http://schemas.openxmlformats.org/drawingml/2006/main">
              <a:ext uri="{FF2B5EF4-FFF2-40B4-BE49-F238E27FC236}">
                <a16:creationId xmlns:a16="http://schemas.microsoft.com/office/drawing/2014/main" id="{8F80F2F3-93FA-40F1-A095-AF307C0B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48050"/>
            <a:ext cx="4667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bar-1">
            <a:extLst xmlns:a="http://schemas.openxmlformats.org/drawingml/2006/main">
              <a:ext uri="{FF2B5EF4-FFF2-40B4-BE49-F238E27FC236}">
                <a16:creationId xmlns:a16="http://schemas.microsoft.com/office/drawing/2014/main" id="{ED892212-624B-4A48-A5B6-88D67CDD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48050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52"/>
          </a:solidFill>
          <a:ln xmlns:a="http://schemas.openxmlformats.org/drawingml/2006/main" w="9525">
            <a:solidFill>
              <a:srgbClr val="4B7F52"/>
            </a:solidFill>
            <a:prstDash val="solid"/>
          </a:ln>
        </p:spPr>
      </p:sp>
      <p:sp>
        <p:nvSpPr>
          <p:cNvPr id="15" name="bar-value-1">
            <a:extLst xmlns:a="http://schemas.openxmlformats.org/drawingml/2006/main">
              <a:ext uri="{FF2B5EF4-FFF2-40B4-BE49-F238E27FC236}">
                <a16:creationId xmlns:a16="http://schemas.microsoft.com/office/drawing/2014/main" id="{F39ED87B-E0F3-4059-8A68-AE29CC0E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147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0.64</a:t>
            </a:r>
          </a:p>
        </p:txBody>
      </p:sp>
      <p:sp>
        <p:nvSpPr>
          <p:cNvPr id="16" name="bar-label-2">
            <a:extLst xmlns:a="http://schemas.openxmlformats.org/drawingml/2006/main">
              <a:ext uri="{FF2B5EF4-FFF2-40B4-BE49-F238E27FC236}">
                <a16:creationId xmlns:a16="http://schemas.microsoft.com/office/drawing/2014/main" id="{910E84DE-4140-4383-A721-DCDBA624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895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O14 子题</a:t>
            </a:r>
          </a:p>
        </p:txBody>
      </p:sp>
      <p:sp>
        <p:nvSpPr>
          <p:cNvPr id="17" name="bar-bg-2">
            <a:extLst xmlns:a="http://schemas.openxmlformats.org/drawingml/2006/main">
              <a:ext uri="{FF2B5EF4-FFF2-40B4-BE49-F238E27FC236}">
                <a16:creationId xmlns:a16="http://schemas.microsoft.com/office/drawing/2014/main" id="{444F5852-F8DB-4F31-9946-533756E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38600"/>
            <a:ext cx="4667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bar-2">
            <a:extLst xmlns:a="http://schemas.openxmlformats.org/drawingml/2006/main">
              <a:ext uri="{FF2B5EF4-FFF2-40B4-BE49-F238E27FC236}">
                <a16:creationId xmlns:a16="http://schemas.microsoft.com/office/drawing/2014/main" id="{EC15CE85-0763-4F54-8F0E-97FAA560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38600"/>
            <a:ext cx="40100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D98"/>
          </a:solidFill>
          <a:ln xmlns:a="http://schemas.openxmlformats.org/drawingml/2006/main" w="9525">
            <a:solidFill>
              <a:srgbClr val="627D98"/>
            </a:solidFill>
            <a:prstDash val="solid"/>
          </a:ln>
        </p:spPr>
      </p:sp>
      <p:sp>
        <p:nvSpPr>
          <p:cNvPr id="19" name="bar-value-2">
            <a:extLst xmlns:a="http://schemas.openxmlformats.org/drawingml/2006/main">
              <a:ext uri="{FF2B5EF4-FFF2-40B4-BE49-F238E27FC236}">
                <a16:creationId xmlns:a16="http://schemas.microsoft.com/office/drawing/2014/main" id="{2CB10F43-EE9D-4A59-B28C-62808815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052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0.86</a:t>
            </a:r>
          </a:p>
        </p:txBody>
      </p:sp>
      <p:sp>
        <p:nvSpPr>
          <p:cNvPr id="20" name="bar-label-3">
            <a:extLst xmlns:a="http://schemas.openxmlformats.org/drawingml/2006/main">
              <a:ext uri="{FF2B5EF4-FFF2-40B4-BE49-F238E27FC236}">
                <a16:creationId xmlns:a16="http://schemas.microsoft.com/office/drawing/2014/main" id="{48558D05-E3DD-4C5E-9C74-587442C5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895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O17 子题</a:t>
            </a:r>
          </a:p>
        </p:txBody>
      </p:sp>
      <p:sp>
        <p:nvSpPr>
          <p:cNvPr id="21" name="bar-bg-3">
            <a:extLst xmlns:a="http://schemas.openxmlformats.org/drawingml/2006/main">
              <a:ext uri="{FF2B5EF4-FFF2-40B4-BE49-F238E27FC236}">
                <a16:creationId xmlns:a16="http://schemas.microsoft.com/office/drawing/2014/main" id="{D08C3E4E-A0FF-432E-B49C-62FC1E01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29150"/>
            <a:ext cx="4667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bar-3">
            <a:extLst xmlns:a="http://schemas.openxmlformats.org/drawingml/2006/main">
              <a:ext uri="{FF2B5EF4-FFF2-40B4-BE49-F238E27FC236}">
                <a16:creationId xmlns:a16="http://schemas.microsoft.com/office/drawing/2014/main" id="{4E33AD67-4066-408D-AADD-C3866027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29150"/>
            <a:ext cx="42957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D39"/>
          </a:solidFill>
          <a:ln xmlns:a="http://schemas.openxmlformats.org/drawingml/2006/main" w="9525">
            <a:solidFill>
              <a:srgbClr val="D95D39"/>
            </a:solidFill>
            <a:prstDash val="solid"/>
          </a:ln>
        </p:spPr>
      </p:sp>
      <p:sp>
        <p:nvSpPr>
          <p:cNvPr id="23" name="bar-value-3">
            <a:extLst xmlns:a="http://schemas.openxmlformats.org/drawingml/2006/main">
              <a:ext uri="{FF2B5EF4-FFF2-40B4-BE49-F238E27FC236}">
                <a16:creationId xmlns:a16="http://schemas.microsoft.com/office/drawing/2014/main" id="{17E157E1-5A20-4B40-8EBA-82150743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958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D39"/>
                </a:solidFill>
              </a:defRPr>
            </a:pPr>
            <a:r>
              <a:rPr sz="1200" b="1">
                <a:solidFill>
                  <a:srgbClr val="D95D39"/>
                </a:solidFill>
              </a:rPr>
              <a:t>0.92</a:t>
            </a:r>
          </a:p>
        </p:txBody>
      </p:sp>
      <p:sp>
        <p:nvSpPr>
          <p:cNvPr id="24" name="decision-panel">
            <a:extLst xmlns:a="http://schemas.openxmlformats.org/drawingml/2006/main">
              <a:ext uri="{FF2B5EF4-FFF2-40B4-BE49-F238E27FC236}">
                <a16:creationId xmlns:a16="http://schemas.microsoft.com/office/drawing/2014/main" id="{B365EF77-D77E-40DA-A5B4-57AB67DF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30099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panel-title">
            <a:extLst xmlns:a="http://schemas.openxmlformats.org/drawingml/2006/main">
              <a:ext uri="{FF2B5EF4-FFF2-40B4-BE49-F238E27FC236}">
                <a16:creationId xmlns:a16="http://schemas.microsoft.com/office/drawing/2014/main" id="{3360A98E-E99E-4846-9602-BFDB4924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边的状态</a:t>
            </a:r>
          </a:p>
        </p:txBody>
      </p:sp>
      <p:sp>
        <p:nvSpPr>
          <p:cNvPr id="26" name="status-chip">
            <a:extLst xmlns:a="http://schemas.openxmlformats.org/drawingml/2006/main">
              <a:ext uri="{FF2B5EF4-FFF2-40B4-BE49-F238E27FC236}">
                <a16:creationId xmlns:a16="http://schemas.microsoft.com/office/drawing/2014/main" id="{A202C950-2F77-45E2-B9F8-BE36BE36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2343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E3F1E5"/>
            </a:solidFill>
            <a:prstDash val="solid"/>
          </a:ln>
        </p:spPr>
      </p:sp>
      <p:sp>
        <p:nvSpPr>
          <p:cNvPr id="27" name="status-chip-text">
            <a:extLst xmlns:a="http://schemas.openxmlformats.org/drawingml/2006/main">
              <a:ext uri="{FF2B5EF4-FFF2-40B4-BE49-F238E27FC236}">
                <a16:creationId xmlns:a16="http://schemas.microsoft.com/office/drawing/2014/main" id="{048FC15F-9AAE-4690-8CFF-6ED646C0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B7F52"/>
                </a:solidFill>
              </a:defRPr>
            </a:pPr>
            <a:r>
              <a:rPr sz="1050" b="1">
                <a:solidFill>
                  <a:srgbClr val="4B7F52"/>
                </a:solidFill>
              </a:rPr>
              <a:t>0.64 &lt; 0.86  →  frontier</a:t>
            </a:r>
          </a:p>
        </p:txBody>
      </p:sp>
      <p:sp>
        <p:nvSpPr>
          <p:cNvPr id="28" name="status-chip">
            <a:extLst xmlns:a="http://schemas.openxmlformats.org/drawingml/2006/main">
              <a:ext uri="{FF2B5EF4-FFF2-40B4-BE49-F238E27FC236}">
                <a16:creationId xmlns:a16="http://schemas.microsoft.com/office/drawing/2014/main" id="{75454B22-E64D-4188-939A-5D1CCCA1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52850"/>
            <a:ext cx="2343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9525">
            <a:solidFill>
              <a:srgbClr val="E6EEF9"/>
            </a:solidFill>
            <a:prstDash val="solid"/>
          </a:ln>
        </p:spPr>
      </p:sp>
      <p:sp>
        <p:nvSpPr>
          <p:cNvPr id="29" name="status-chip-text">
            <a:extLst xmlns:a="http://schemas.openxmlformats.org/drawingml/2006/main">
              <a:ext uri="{FF2B5EF4-FFF2-40B4-BE49-F238E27FC236}">
                <a16:creationId xmlns:a16="http://schemas.microsoft.com/office/drawing/2014/main" id="{65CC45F1-1C4F-413C-9AB2-6285D637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7DB1"/>
                </a:solidFill>
              </a:defRPr>
            </a:pPr>
            <a:r>
              <a:rPr sz="1050" b="1">
                <a:solidFill>
                  <a:srgbClr val="5B7DB1"/>
                </a:solidFill>
              </a:rPr>
              <a:t>0.86 = 0.86  →  stop</a:t>
            </a:r>
          </a:p>
        </p:txBody>
      </p:sp>
      <p:sp>
        <p:nvSpPr>
          <p:cNvPr id="30" name="status-chip">
            <a:extLst xmlns:a="http://schemas.openxmlformats.org/drawingml/2006/main">
              <a:ext uri="{FF2B5EF4-FFF2-40B4-BE49-F238E27FC236}">
                <a16:creationId xmlns:a16="http://schemas.microsoft.com/office/drawing/2014/main" id="{20BB355B-AD2E-4A41-BDF8-847CE394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48150"/>
            <a:ext cx="2343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6DF"/>
          </a:solidFill>
          <a:ln xmlns:a="http://schemas.openxmlformats.org/drawingml/2006/main" w="9525">
            <a:solidFill>
              <a:srgbClr val="FCE6DF"/>
            </a:solidFill>
            <a:prstDash val="solid"/>
          </a:ln>
        </p:spPr>
      </p:sp>
      <p:sp>
        <p:nvSpPr>
          <p:cNvPr id="31" name="status-chip-text">
            <a:extLst xmlns:a="http://schemas.openxmlformats.org/drawingml/2006/main">
              <a:ext uri="{FF2B5EF4-FFF2-40B4-BE49-F238E27FC236}">
                <a16:creationId xmlns:a16="http://schemas.microsoft.com/office/drawing/2014/main" id="{A2C8DCDF-5C4A-480A-A7A1-DDA49E14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053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5D39"/>
                </a:solidFill>
              </a:defRPr>
            </a:pPr>
            <a:r>
              <a:rPr sz="1050" b="1">
                <a:solidFill>
                  <a:srgbClr val="D95D39"/>
                </a:solidFill>
              </a:rPr>
              <a:t>0.92 &gt; 0.86  →  failure</a:t>
            </a:r>
          </a:p>
        </p:txBody>
      </p:sp>
      <p:sp>
        <p:nvSpPr>
          <p:cNvPr id="32" name="panel-note">
            <a:extLst xmlns:a="http://schemas.openxmlformats.org/drawingml/2006/main">
              <a:ext uri="{FF2B5EF4-FFF2-40B4-BE49-F238E27FC236}">
                <a16:creationId xmlns:a16="http://schemas.microsoft.com/office/drawing/2014/main" id="{676F761F-75A6-4DA8-B9EF-F9CB7B13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0060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根累计分差用于分析，</a:t>
            </a:r>
          </a:p>
          <a:p xmlns:a="http://schemas.openxmlformats.org/drawingml/2006/main">
            <a:pPr algn="l"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不是下一步扩展的替代条件。</a:t>
            </a:r>
          </a:p>
        </p:txBody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2BEFCB56-4A05-41A5-BAE5-EBF4C2E0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内部技术说明 · 基于当前项目实现</a:t>
            </a:r>
          </a:p>
        </p:txBody>
      </p:sp>
    </p:spTree>
    <p:extLst>
      <p:ext uri="{BB962C8B-B14F-4D97-AF65-F5344CB8AC3E}">
        <p14:creationId xmlns:p14="http://schemas.microsoft.com/office/powerpoint/2010/main" val="985633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DFD698DE-FB17-4EAC-A10E-5689E711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D"/>
                </a:solidFill>
              </a:defRPr>
            </a:pPr>
            <a:r>
              <a:rPr sz="900" b="1">
                <a:solidFill>
                  <a:srgbClr val="0B7D7D"/>
                </a:solidFill>
              </a:rPr>
              <a:t>QUESTION EVOLUTION · TREE SEARCH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A63F65-73AB-45C4-82EE-FA216FAA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纵向扩展：有效节点必须重新画像、重新路由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8AAB862-F2D4-4F9B-B617-8AAF6F4E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8315262-CA7F-4DEA-BE8E-518EA49C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2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06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4DF2425D-0485-4E8C-9D5A-E883FA27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树不会盲目沿用根题的算子计划；每个 frontier 都被当作新的局部问题。</a:t>
            </a:r>
          </a:p>
        </p:txBody>
      </p:sp>
      <p:sp>
        <p:nvSpPr>
          <p:cNvPr id="6" name="root-node">
            <a:extLst xmlns:a="http://schemas.openxmlformats.org/drawingml/2006/main">
              <a:ext uri="{FF2B5EF4-FFF2-40B4-BE49-F238E27FC236}">
                <a16:creationId xmlns:a16="http://schemas.microsoft.com/office/drawing/2014/main" id="{5D4BC4E2-9232-43B7-97D1-5CC4352D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3906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9525">
            <a:solidFill>
              <a:srgbClr val="E6EEF9"/>
            </a:solidFill>
            <a:prstDash val="solid"/>
          </a:ln>
        </p:spPr>
      </p:sp>
      <p:sp>
        <p:nvSpPr>
          <p:cNvPr id="7" name="root-node-text">
            <a:extLst xmlns:a="http://schemas.openxmlformats.org/drawingml/2006/main">
              <a:ext uri="{FF2B5EF4-FFF2-40B4-BE49-F238E27FC236}">
                <a16:creationId xmlns:a16="http://schemas.microsoft.com/office/drawing/2014/main" id="{B742D455-4630-460B-B2BC-B9110462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原始题</a:t>
            </a:r>
          </a:p>
          <a:p xmlns:a="http://schemas.openxmlformats.org/drawingml/2006/main">
            <a:pPr algn="ctr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depth 1</a:t>
            </a:r>
          </a:p>
        </p:txBody>
      </p:sp>
      <p:sp>
        <p:nvSpPr>
          <p:cNvPr id="8" name="depth2-good">
            <a:extLst xmlns:a="http://schemas.openxmlformats.org/drawingml/2006/main">
              <a:ext uri="{FF2B5EF4-FFF2-40B4-BE49-F238E27FC236}">
                <a16:creationId xmlns:a16="http://schemas.microsoft.com/office/drawing/2014/main" id="{1688148A-15F4-47ED-BCBE-F4ED8153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E3F1E5"/>
            </a:solidFill>
            <a:prstDash val="solid"/>
          </a:ln>
        </p:spPr>
      </p:sp>
      <p:sp>
        <p:nvSpPr>
          <p:cNvPr id="9" name="depth2-good-text">
            <a:extLst xmlns:a="http://schemas.openxmlformats.org/drawingml/2006/main">
              <a:ext uri="{FF2B5EF4-FFF2-40B4-BE49-F238E27FC236}">
                <a16:creationId xmlns:a16="http://schemas.microsoft.com/office/drawing/2014/main" id="{443EA739-6AF5-407B-B0C2-940BBC43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O10 后</a:t>
            </a:r>
          </a:p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depth 2</a:t>
            </a:r>
          </a:p>
        </p:txBody>
      </p:sp>
      <p:sp>
        <p:nvSpPr>
          <p:cNvPr id="10" name="depth2-stop">
            <a:extLst xmlns:a="http://schemas.openxmlformats.org/drawingml/2006/main">
              <a:ext uri="{FF2B5EF4-FFF2-40B4-BE49-F238E27FC236}">
                <a16:creationId xmlns:a16="http://schemas.microsoft.com/office/drawing/2014/main" id="{0EFA84CD-733A-4792-B0E2-1507D6AF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338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CE6DF"/>
          </a:solidFill>
          <a:ln xmlns:a="http://schemas.openxmlformats.org/drawingml/2006/main" w="9525">
            <a:solidFill>
              <a:srgbClr val="FCE6DF"/>
            </a:solidFill>
            <a:prstDash val="solid"/>
          </a:ln>
        </p:spPr>
      </p:sp>
      <p:sp>
        <p:nvSpPr>
          <p:cNvPr id="11" name="depth2-stop-text">
            <a:extLst xmlns:a="http://schemas.openxmlformats.org/drawingml/2006/main">
              <a:ext uri="{FF2B5EF4-FFF2-40B4-BE49-F238E27FC236}">
                <a16:creationId xmlns:a16="http://schemas.microsoft.com/office/drawing/2014/main" id="{A082A9DB-6271-415A-8E3B-0D75F026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000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5D39"/>
                </a:solidFill>
              </a:defRPr>
            </a:pPr>
            <a:r>
              <a:rPr sz="1200" b="1">
                <a:solidFill>
                  <a:srgbClr val="D95D39"/>
                </a:solidFill>
              </a:rPr>
              <a:t>O14 后</a:t>
            </a:r>
          </a:p>
          <a:p xmlns:a="http://schemas.openxmlformats.org/drawingml/2006/main">
            <a:pPr algn="ctr">
              <a:defRPr sz="1200" b="1">
                <a:solidFill>
                  <a:srgbClr val="D95D39"/>
                </a:solidFill>
              </a:defRPr>
            </a:pPr>
            <a:r>
              <a:rPr sz="1200" b="1">
                <a:solidFill>
                  <a:srgbClr val="D95D39"/>
                </a:solidFill>
              </a:rPr>
              <a:t>depth 2</a:t>
            </a:r>
          </a:p>
        </p:txBody>
      </p:sp>
      <p:sp>
        <p:nvSpPr>
          <p:cNvPr id="12" name="reprofile">
            <a:extLst xmlns:a="http://schemas.openxmlformats.org/drawingml/2006/main">
              <a:ext uri="{FF2B5EF4-FFF2-40B4-BE49-F238E27FC236}">
                <a16:creationId xmlns:a16="http://schemas.microsoft.com/office/drawing/2014/main" id="{641E0607-2701-43D4-B1E6-F6D0E483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5811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9F3F1"/>
            </a:solidFill>
            <a:prstDash val="solid"/>
          </a:ln>
        </p:spPr>
      </p:sp>
      <p:sp>
        <p:nvSpPr>
          <p:cNvPr id="13" name="reprofile-text">
            <a:extLst xmlns:a="http://schemas.openxmlformats.org/drawingml/2006/main">
              <a:ext uri="{FF2B5EF4-FFF2-40B4-BE49-F238E27FC236}">
                <a16:creationId xmlns:a16="http://schemas.microsoft.com/office/drawing/2014/main" id="{5E5C0E61-E52D-40C8-8E2C-A60A8657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D7D"/>
                </a:solidFill>
              </a:defRPr>
            </a:pPr>
            <a:r>
              <a:rPr sz="1200" b="1">
                <a:solidFill>
                  <a:srgbClr val="0B7D7D"/>
                </a:solidFill>
              </a:rPr>
              <a:t>重新画像</a:t>
            </a:r>
          </a:p>
          <a:p xmlns:a="http://schemas.openxmlformats.org/drawingml/2006/main">
            <a:pPr algn="ctr">
              <a:defRPr sz="1200" b="1">
                <a:solidFill>
                  <a:srgbClr val="0B7D7D"/>
                </a:solidFill>
              </a:defRPr>
            </a:pPr>
            <a:r>
              <a:rPr sz="1200" b="1">
                <a:solidFill>
                  <a:srgbClr val="0B7D7D"/>
                </a:solidFill>
              </a:rPr>
              <a:t>重新路由</a:t>
            </a:r>
          </a:p>
        </p:txBody>
      </p:sp>
      <p:sp>
        <p:nvSpPr>
          <p:cNvPr id="14" name="leaf-a">
            <a:extLst xmlns:a="http://schemas.openxmlformats.org/drawingml/2006/main">
              <a:ext uri="{FF2B5EF4-FFF2-40B4-BE49-F238E27FC236}">
                <a16:creationId xmlns:a16="http://schemas.microsoft.com/office/drawing/2014/main" id="{9523BFC7-E067-4A96-B21F-DB861993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62100"/>
            <a:ext cx="1485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E3F1E5"/>
            </a:solidFill>
            <a:prstDash val="solid"/>
          </a:ln>
        </p:spPr>
      </p:sp>
      <p:sp>
        <p:nvSpPr>
          <p:cNvPr id="15" name="leaf-a-text">
            <a:extLst xmlns:a="http://schemas.openxmlformats.org/drawingml/2006/main">
              <a:ext uri="{FF2B5EF4-FFF2-40B4-BE49-F238E27FC236}">
                <a16:creationId xmlns:a16="http://schemas.microsoft.com/office/drawing/2014/main" id="{2B94DD33-AB84-44C2-A1A7-49AD4584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3830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O10 → O17</a:t>
            </a:r>
          </a:p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depth 3</a:t>
            </a:r>
          </a:p>
        </p:txBody>
      </p:sp>
      <p:sp>
        <p:nvSpPr>
          <p:cNvPr id="16" name="leaf-b">
            <a:extLst xmlns:a="http://schemas.openxmlformats.org/drawingml/2006/main">
              <a:ext uri="{FF2B5EF4-FFF2-40B4-BE49-F238E27FC236}">
                <a16:creationId xmlns:a16="http://schemas.microsoft.com/office/drawing/2014/main" id="{B3330FC1-4D30-4FD2-A6FC-B32C3622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95600"/>
            <a:ext cx="1485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E3F1E5"/>
            </a:solidFill>
            <a:prstDash val="solid"/>
          </a:ln>
        </p:spPr>
      </p:sp>
      <p:sp>
        <p:nvSpPr>
          <p:cNvPr id="17" name="leaf-b-text">
            <a:extLst xmlns:a="http://schemas.openxmlformats.org/drawingml/2006/main">
              <a:ext uri="{FF2B5EF4-FFF2-40B4-BE49-F238E27FC236}">
                <a16:creationId xmlns:a16="http://schemas.microsoft.com/office/drawing/2014/main" id="{9698D01E-8645-477E-B95A-816D2779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7180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O10 → O13</a:t>
            </a:r>
          </a:p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depth 3</a:t>
            </a:r>
          </a:p>
        </p:txBody>
      </p:sp>
      <p:sp>
        <p:nvSpPr>
          <p:cNvPr id="18" name="leaf-c">
            <a:extLst xmlns:a="http://schemas.openxmlformats.org/drawingml/2006/main">
              <a:ext uri="{FF2B5EF4-FFF2-40B4-BE49-F238E27FC236}">
                <a16:creationId xmlns:a16="http://schemas.microsoft.com/office/drawing/2014/main" id="{817B93A8-8AE4-4740-92DB-57D4484B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29100"/>
            <a:ext cx="1485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E3F1E5"/>
            </a:solidFill>
            <a:prstDash val="solid"/>
          </a:ln>
        </p:spPr>
      </p:sp>
      <p:sp>
        <p:nvSpPr>
          <p:cNvPr id="19" name="leaf-c-text">
            <a:extLst xmlns:a="http://schemas.openxmlformats.org/drawingml/2006/main">
              <a:ext uri="{FF2B5EF4-FFF2-40B4-BE49-F238E27FC236}">
                <a16:creationId xmlns:a16="http://schemas.microsoft.com/office/drawing/2014/main" id="{4078E3C3-6D5D-4F9E-9F94-6132AE4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0530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O10 → O16</a:t>
            </a:r>
          </a:p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depth 3</a:t>
            </a:r>
          </a:p>
        </p:txBody>
      </p: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86000" y="2514600"/>
            <a:ext cx="118110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F52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86000" y="3219450"/>
            <a:ext cx="118110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5D39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895850" y="2514600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7D7D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7753350" y="1885950"/>
            <a:ext cx="20002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B7F52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753350" y="2514600"/>
            <a:ext cx="2000250" cy="704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B7F52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53350" y="2514600"/>
            <a:ext cx="2000250" cy="2038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B7F52"/>
            </a:solidFill>
            <a:prstDash val="solid"/>
            <a:tailEnd type="arrow" w="sm" len="sm"/>
          </a:ln>
        </p:spPr>
      </p:cxnSp>
      <p:sp>
        <p:nvSpPr>
          <p:cNvPr id="26" name="stop-note">
            <a:extLst xmlns:a="http://schemas.openxmlformats.org/drawingml/2006/main">
              <a:ext uri="{FF2B5EF4-FFF2-40B4-BE49-F238E27FC236}">
                <a16:creationId xmlns:a16="http://schemas.microsoft.com/office/drawing/2014/main" id="{6684D000-85BA-42FF-9667-433E73C0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291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5D39"/>
                </a:solidFill>
              </a:defRPr>
            </a:pPr>
            <a:r>
              <a:rPr sz="1125" b="0">
                <a:solidFill>
                  <a:srgbClr val="D95D39"/>
                </a:solidFill>
              </a:rPr>
              <a:t>不降分 / 增分</a:t>
            </a:r>
          </a:p>
          <a:p xmlns:a="http://schemas.openxmlformats.org/drawingml/2006/main">
            <a:pPr algn="ctr">
              <a:defRPr sz="1125" b="0">
                <a:solidFill>
                  <a:srgbClr val="D95D39"/>
                </a:solidFill>
              </a:defRPr>
            </a:pPr>
            <a:r>
              <a:rPr sz="1125" b="0">
                <a:solidFill>
                  <a:srgbClr val="D95D39"/>
                </a:solidFill>
              </a:rPr>
              <a:t>不进入 frontier</a:t>
            </a:r>
          </a:p>
        </p:txBody>
      </p:sp>
      <p:sp>
        <p:nvSpPr>
          <p:cNvPr id="27" name="frontier-note">
            <a:extLst xmlns:a="http://schemas.openxmlformats.org/drawingml/2006/main">
              <a:ext uri="{FF2B5EF4-FFF2-40B4-BE49-F238E27FC236}">
                <a16:creationId xmlns:a16="http://schemas.microsoft.com/office/drawing/2014/main" id="{236FD360-4211-4185-AF58-206B18A2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05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7F52"/>
                </a:solidFill>
              </a:defRPr>
            </a:pPr>
            <a:r>
              <a:rPr sz="1200" b="1">
                <a:solidFill>
                  <a:srgbClr val="4B7F52"/>
                </a:solidFill>
              </a:rPr>
              <a:t>仅直接降分节点进入 frontier</a:t>
            </a:r>
          </a:p>
        </p:txBody>
      </p:sp>
      <p:sp>
        <p:nvSpPr>
          <p:cNvPr id="28" name="path-filter">
            <a:extLst xmlns:a="http://schemas.openxmlformats.org/drawingml/2006/main">
              <a:ext uri="{FF2B5EF4-FFF2-40B4-BE49-F238E27FC236}">
                <a16:creationId xmlns:a16="http://schemas.microsoft.com/office/drawing/2014/main" id="{3084142F-2E3E-463B-83E2-D2EBB988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86125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7D7D"/>
                </a:solidFill>
              </a:defRPr>
            </a:pPr>
            <a:r>
              <a:rPr sz="1275" b="1">
                <a:solidFill>
                  <a:srgbClr val="0B7D7D"/>
                </a:solidFill>
              </a:rPr>
              <a:t>默认不重复使用</a:t>
            </a:r>
          </a:p>
          <a:p xmlns:a="http://schemas.openxmlformats.org/drawingml/2006/main">
            <a:pPr algn="ctr">
              <a:defRPr sz="1275" b="1">
                <a:solidFill>
                  <a:srgbClr val="0B7D7D"/>
                </a:solidFill>
              </a:defRPr>
            </a:pPr>
            <a:r>
              <a:rPr sz="1275" b="1">
                <a:solidFill>
                  <a:srgbClr val="0B7D7D"/>
                </a:solidFill>
              </a:rPr>
              <a:t>路径内已有算子</a:t>
            </a:r>
          </a:p>
        </p:txBody>
      </p:sp>
      <p:sp>
        <p:nvSpPr>
          <p:cNvPr id="29" name="max-depth-note">
            <a:extLst xmlns:a="http://schemas.openxmlformats.org/drawingml/2006/main">
              <a:ext uri="{FF2B5EF4-FFF2-40B4-BE49-F238E27FC236}">
                <a16:creationId xmlns:a16="http://schemas.microsoft.com/office/drawing/2014/main" id="{CC35F23F-F9EA-44BF-AA99-470A430B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2197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达到 depth 3 后</a:t>
            </a:r>
          </a:p>
          <a:p xmlns:a="http://schemas.openxmlformats.org/drawingml/2006/main">
            <a:pPr algn="ctr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保留结果，不再展开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EB3BB3D8-94D3-4EFE-9EA8-BC1730E3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内部技术说明 · 基于当前项目实现</a:t>
            </a:r>
          </a:p>
        </p:txBody>
      </p:sp>
    </p:spTree>
    <p:extLst>
      <p:ext uri="{BB962C8B-B14F-4D97-AF65-F5344CB8AC3E}">
        <p14:creationId xmlns:p14="http://schemas.microsoft.com/office/powerpoint/2010/main" val="250510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40312E43-80CE-4DE0-9516-27B9E7C5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D"/>
                </a:solidFill>
              </a:defRPr>
            </a:pPr>
            <a:r>
              <a:rPr sz="900" b="1">
                <a:solidFill>
                  <a:srgbClr val="0B7D7D"/>
                </a:solidFill>
              </a:rPr>
              <a:t>QUESTION EVOLUTION · TREE SEARCH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CF18DB-4343-4276-9B0A-67C52834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性能优化：有界窗口让 branch 以流水线方式推进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DDBB1C6-160B-4867-A661-759E2804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54EBA39-7D9D-413C-ADEC-D01F5403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2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07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EE0F30F9-768F-46BE-A849-09560057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优化的是单位墙钟时间内完成的真实评测分支数，不改变评分口径。</a:t>
            </a:r>
          </a:p>
        </p:txBody>
      </p:sp>
      <p:sp>
        <p:nvSpPr>
          <p:cNvPr id="6" name="window-heading">
            <a:extLst xmlns:a="http://schemas.openxmlformats.org/drawingml/2006/main">
              <a:ext uri="{FF2B5EF4-FFF2-40B4-BE49-F238E27FC236}">
                <a16:creationId xmlns:a16="http://schemas.microsoft.com/office/drawing/2014/main" id="{8555FE2F-B292-4AF1-B8B0-51CB15B2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branch window = 3（示意）</a:t>
            </a:r>
          </a:p>
        </p:txBody>
      </p:sp>
      <p:sp>
        <p:nvSpPr>
          <p:cNvPr id="7" name="branch-0">
            <a:extLst xmlns:a="http://schemas.openxmlformats.org/drawingml/2006/main">
              <a:ext uri="{FF2B5EF4-FFF2-40B4-BE49-F238E27FC236}">
                <a16:creationId xmlns:a16="http://schemas.microsoft.com/office/drawing/2014/main" id="{776377A0-4828-4404-9FF0-E622696B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200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9F3F1"/>
            </a:solidFill>
            <a:prstDash val="solid"/>
          </a:ln>
        </p:spPr>
      </p:sp>
      <p:sp>
        <p:nvSpPr>
          <p:cNvPr id="8" name="branch-0-text">
            <a:extLst xmlns:a="http://schemas.openxmlformats.org/drawingml/2006/main">
              <a:ext uri="{FF2B5EF4-FFF2-40B4-BE49-F238E27FC236}">
                <a16:creationId xmlns:a16="http://schemas.microsoft.com/office/drawing/2014/main" id="{4ECE1015-BA81-46F7-8844-544040A7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D7D"/>
                </a:solidFill>
              </a:defRPr>
            </a:pPr>
            <a:r>
              <a:rPr sz="1200" b="1">
                <a:solidFill>
                  <a:srgbClr val="0B7D7D"/>
                </a:solidFill>
              </a:rPr>
              <a:t>Branch A</a:t>
            </a:r>
          </a:p>
        </p:txBody>
      </p:sp>
      <p:sp>
        <p:nvSpPr>
          <p:cNvPr id="9" name="g-0">
            <a:extLst xmlns:a="http://schemas.openxmlformats.org/drawingml/2006/main">
              <a:ext uri="{FF2B5EF4-FFF2-40B4-BE49-F238E27FC236}">
                <a16:creationId xmlns:a16="http://schemas.microsoft.com/office/drawing/2014/main" id="{3A95780A-BD4B-4632-85EC-576E7FEC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03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</a:defRPr>
            </a:pPr>
            <a:r>
              <a:rPr sz="1125" b="1">
                <a:solidFill>
                  <a:srgbClr val="486581"/>
                </a:solidFill>
              </a:rPr>
              <a:t>生成</a:t>
            </a:r>
          </a:p>
        </p:txBody>
      </p:sp>
      <p:sp>
        <p:nvSpPr>
          <p:cNvPr id="10" name="gen-0">
            <a:extLst xmlns:a="http://schemas.openxmlformats.org/drawingml/2006/main">
              <a:ext uri="{FF2B5EF4-FFF2-40B4-BE49-F238E27FC236}">
                <a16:creationId xmlns:a16="http://schemas.microsoft.com/office/drawing/2014/main" id="{C76B3287-E0CD-402A-868E-9E5A88AA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90825"/>
            <a:ext cx="1028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11" name="v-0">
            <a:extLst xmlns:a="http://schemas.openxmlformats.org/drawingml/2006/main">
              <a:ext uri="{FF2B5EF4-FFF2-40B4-BE49-F238E27FC236}">
                <a16:creationId xmlns:a16="http://schemas.microsoft.com/office/drawing/2014/main" id="{1B6A34D7-A9C6-4BBF-867B-FC6FE475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003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</a:defRPr>
            </a:pPr>
            <a:r>
              <a:rPr sz="1125" b="1">
                <a:solidFill>
                  <a:srgbClr val="486581"/>
                </a:solidFill>
              </a:rPr>
              <a:t>校验</a:t>
            </a:r>
          </a:p>
        </p:txBody>
      </p:sp>
      <p:sp>
        <p:nvSpPr>
          <p:cNvPr id="12" name="val-0">
            <a:extLst xmlns:a="http://schemas.openxmlformats.org/drawingml/2006/main">
              <a:ext uri="{FF2B5EF4-FFF2-40B4-BE49-F238E27FC236}">
                <a16:creationId xmlns:a16="http://schemas.microsoft.com/office/drawing/2014/main" id="{5966FCB3-5465-4BA3-A8D8-85AE86B9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90825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7DB1"/>
          </a:solidFill>
          <a:ln xmlns:a="http://schemas.openxmlformats.org/drawingml/2006/main" w="9525">
            <a:solidFill>
              <a:srgbClr val="5B7DB1"/>
            </a:solidFill>
            <a:prstDash val="solid"/>
          </a:ln>
        </p:spPr>
      </p:sp>
      <p:sp>
        <p:nvSpPr>
          <p:cNvPr id="13" name="s-0">
            <a:extLst xmlns:a="http://schemas.openxmlformats.org/drawingml/2006/main">
              <a:ext uri="{FF2B5EF4-FFF2-40B4-BE49-F238E27FC236}">
                <a16:creationId xmlns:a16="http://schemas.microsoft.com/office/drawing/2014/main" id="{F2A803A6-1806-4D14-81E3-2EF53AB6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03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</a:defRPr>
            </a:pPr>
            <a:r>
              <a:rPr sz="1125" b="1">
                <a:solidFill>
                  <a:srgbClr val="486581"/>
                </a:solidFill>
              </a:rPr>
              <a:t>评分</a:t>
            </a:r>
          </a:p>
        </p:txBody>
      </p:sp>
      <p:sp>
        <p:nvSpPr>
          <p:cNvPr id="14" name="score-0">
            <a:extLst xmlns:a="http://schemas.openxmlformats.org/drawingml/2006/main">
              <a:ext uri="{FF2B5EF4-FFF2-40B4-BE49-F238E27FC236}">
                <a16:creationId xmlns:a16="http://schemas.microsoft.com/office/drawing/2014/main" id="{1A299BDD-DCF9-44CA-A43A-0FADBADD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90825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52"/>
          </a:solidFill>
          <a:ln xmlns:a="http://schemas.openxmlformats.org/drawingml/2006/main" w="9525">
            <a:solidFill>
              <a:srgbClr val="4B7F52"/>
            </a:solidFill>
            <a:prstDash val="solid"/>
          </a:ln>
        </p:spPr>
      </p:sp>
      <p:sp>
        <p:nvSpPr>
          <p:cNvPr id="15" name="branch-1">
            <a:extLst xmlns:a="http://schemas.openxmlformats.org/drawingml/2006/main">
              <a:ext uri="{FF2B5EF4-FFF2-40B4-BE49-F238E27FC236}">
                <a16:creationId xmlns:a16="http://schemas.microsoft.com/office/drawing/2014/main" id="{C19B451E-61BE-4B1A-B43A-85FB1A14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200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9525">
            <a:solidFill>
              <a:srgbClr val="E6EEF9"/>
            </a:solidFill>
            <a:prstDash val="solid"/>
          </a:ln>
        </p:spPr>
      </p:sp>
      <p:sp>
        <p:nvSpPr>
          <p:cNvPr id="16" name="branch-1-text">
            <a:extLst xmlns:a="http://schemas.openxmlformats.org/drawingml/2006/main">
              <a:ext uri="{FF2B5EF4-FFF2-40B4-BE49-F238E27FC236}">
                <a16:creationId xmlns:a16="http://schemas.microsoft.com/office/drawing/2014/main" id="{126E9643-D263-4F2D-9BD5-0BA661FD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Branch B</a:t>
            </a:r>
          </a:p>
        </p:txBody>
      </p:sp>
      <p:sp>
        <p:nvSpPr>
          <p:cNvPr id="17" name="g-1">
            <a:extLst xmlns:a="http://schemas.openxmlformats.org/drawingml/2006/main">
              <a:ext uri="{FF2B5EF4-FFF2-40B4-BE49-F238E27FC236}">
                <a16:creationId xmlns:a16="http://schemas.microsoft.com/office/drawing/2014/main" id="{7E4C90F5-87F1-4C08-8E9A-A14F7E57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38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</a:defRPr>
            </a:pPr>
            <a:r>
              <a:rPr sz="1125" b="1">
                <a:solidFill>
                  <a:srgbClr val="486581"/>
                </a:solidFill>
              </a:rPr>
              <a:t>生成</a:t>
            </a:r>
          </a:p>
        </p:txBody>
      </p:sp>
      <p:sp>
        <p:nvSpPr>
          <p:cNvPr id="18" name="gen-1">
            <a:extLst xmlns:a="http://schemas.openxmlformats.org/drawingml/2006/main">
              <a:ext uri="{FF2B5EF4-FFF2-40B4-BE49-F238E27FC236}">
                <a16:creationId xmlns:a16="http://schemas.microsoft.com/office/drawing/2014/main" id="{66B844CC-A5D5-4968-A424-EA93E5EC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29025"/>
            <a:ext cx="1028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7DB1"/>
          </a:solidFill>
          <a:ln xmlns:a="http://schemas.openxmlformats.org/drawingml/2006/main" w="9525">
            <a:solidFill>
              <a:srgbClr val="5B7DB1"/>
            </a:solidFill>
            <a:prstDash val="solid"/>
          </a:ln>
        </p:spPr>
      </p:sp>
      <p:sp>
        <p:nvSpPr>
          <p:cNvPr id="19" name="v-1">
            <a:extLst xmlns:a="http://schemas.openxmlformats.org/drawingml/2006/main">
              <a:ext uri="{FF2B5EF4-FFF2-40B4-BE49-F238E27FC236}">
                <a16:creationId xmlns:a16="http://schemas.microsoft.com/office/drawing/2014/main" id="{41429A39-3D00-40E2-9E1E-A920493E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8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</a:defRPr>
            </a:pPr>
            <a:r>
              <a:rPr sz="1125" b="1">
                <a:solidFill>
                  <a:srgbClr val="486581"/>
                </a:solidFill>
              </a:rPr>
              <a:t>校验</a:t>
            </a:r>
          </a:p>
        </p:txBody>
      </p:sp>
      <p:sp>
        <p:nvSpPr>
          <p:cNvPr id="20" name="val-1">
            <a:extLst xmlns:a="http://schemas.openxmlformats.org/drawingml/2006/main">
              <a:ext uri="{FF2B5EF4-FFF2-40B4-BE49-F238E27FC236}">
                <a16:creationId xmlns:a16="http://schemas.microsoft.com/office/drawing/2014/main" id="{70C12E27-A231-4723-8D66-01E1ABB6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29025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7DB1"/>
          </a:solidFill>
          <a:ln xmlns:a="http://schemas.openxmlformats.org/drawingml/2006/main" w="9525">
            <a:solidFill>
              <a:srgbClr val="5B7DB1"/>
            </a:solidFill>
            <a:prstDash val="solid"/>
          </a:ln>
        </p:spPr>
      </p:sp>
      <p:sp>
        <p:nvSpPr>
          <p:cNvPr id="21" name="s-1">
            <a:extLst xmlns:a="http://schemas.openxmlformats.org/drawingml/2006/main">
              <a:ext uri="{FF2B5EF4-FFF2-40B4-BE49-F238E27FC236}">
                <a16:creationId xmlns:a16="http://schemas.microsoft.com/office/drawing/2014/main" id="{88598B7C-8E3D-446F-A6A2-52F3F642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</a:defRPr>
            </a:pPr>
            <a:r>
              <a:rPr sz="1125" b="1">
                <a:solidFill>
                  <a:srgbClr val="486581"/>
                </a:solidFill>
              </a:rPr>
              <a:t>评分</a:t>
            </a:r>
          </a:p>
        </p:txBody>
      </p:sp>
      <p:sp>
        <p:nvSpPr>
          <p:cNvPr id="22" name="score-1">
            <a:extLst xmlns:a="http://schemas.openxmlformats.org/drawingml/2006/main">
              <a:ext uri="{FF2B5EF4-FFF2-40B4-BE49-F238E27FC236}">
                <a16:creationId xmlns:a16="http://schemas.microsoft.com/office/drawing/2014/main" id="{9E4C49D6-21AC-4CF5-AB59-F552AD8A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29025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52"/>
          </a:solidFill>
          <a:ln xmlns:a="http://schemas.openxmlformats.org/drawingml/2006/main" w="9525">
            <a:solidFill>
              <a:srgbClr val="4B7F52"/>
            </a:solidFill>
            <a:prstDash val="solid"/>
          </a:ln>
        </p:spPr>
      </p:sp>
      <p:sp>
        <p:nvSpPr>
          <p:cNvPr id="23" name="branch-2">
            <a:extLst xmlns:a="http://schemas.openxmlformats.org/drawingml/2006/main">
              <a:ext uri="{FF2B5EF4-FFF2-40B4-BE49-F238E27FC236}">
                <a16:creationId xmlns:a16="http://schemas.microsoft.com/office/drawing/2014/main" id="{B9215D84-E518-49E8-AA65-A1075F58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1200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FFF1D8"/>
            </a:solidFill>
            <a:prstDash val="solid"/>
          </a:ln>
        </p:spPr>
      </p:sp>
      <p:sp>
        <p:nvSpPr>
          <p:cNvPr id="24" name="branch-2-text">
            <a:extLst xmlns:a="http://schemas.openxmlformats.org/drawingml/2006/main">
              <a:ext uri="{FF2B5EF4-FFF2-40B4-BE49-F238E27FC236}">
                <a16:creationId xmlns:a16="http://schemas.microsoft.com/office/drawing/2014/main" id="{101CAC54-AEBA-4B78-A11A-105E4126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7E16"/>
                </a:solidFill>
              </a:defRPr>
            </a:pPr>
            <a:r>
              <a:rPr sz="1200" b="1">
                <a:solidFill>
                  <a:srgbClr val="C47E16"/>
                </a:solidFill>
              </a:rPr>
              <a:t>Branch C</a:t>
            </a:r>
          </a:p>
        </p:txBody>
      </p:sp>
      <p:sp>
        <p:nvSpPr>
          <p:cNvPr id="25" name="g-2">
            <a:extLst xmlns:a="http://schemas.openxmlformats.org/drawingml/2006/main">
              <a:ext uri="{FF2B5EF4-FFF2-40B4-BE49-F238E27FC236}">
                <a16:creationId xmlns:a16="http://schemas.microsoft.com/office/drawing/2014/main" id="{B1A29E7C-125D-43F4-AB0F-3E48F44A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76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</a:defRPr>
            </a:pPr>
            <a:r>
              <a:rPr sz="1125" b="1">
                <a:solidFill>
                  <a:srgbClr val="486581"/>
                </a:solidFill>
              </a:rPr>
              <a:t>生成</a:t>
            </a:r>
          </a:p>
        </p:txBody>
      </p:sp>
      <p:sp>
        <p:nvSpPr>
          <p:cNvPr id="26" name="gen-2">
            <a:extLst xmlns:a="http://schemas.openxmlformats.org/drawingml/2006/main">
              <a:ext uri="{FF2B5EF4-FFF2-40B4-BE49-F238E27FC236}">
                <a16:creationId xmlns:a16="http://schemas.microsoft.com/office/drawing/2014/main" id="{E33999B0-7B96-4B78-8373-30230EFC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67225"/>
            <a:ext cx="1028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E16"/>
          </a:solidFill>
          <a:ln xmlns:a="http://schemas.openxmlformats.org/drawingml/2006/main" w="9525">
            <a:solidFill>
              <a:srgbClr val="C47E16"/>
            </a:solidFill>
            <a:prstDash val="solid"/>
          </a:ln>
        </p:spPr>
      </p:sp>
      <p:sp>
        <p:nvSpPr>
          <p:cNvPr id="27" name="v-2">
            <a:extLst xmlns:a="http://schemas.openxmlformats.org/drawingml/2006/main">
              <a:ext uri="{FF2B5EF4-FFF2-40B4-BE49-F238E27FC236}">
                <a16:creationId xmlns:a16="http://schemas.microsoft.com/office/drawing/2014/main" id="{8C04D8D2-0F65-4CCC-8446-A84D4DB2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76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</a:defRPr>
            </a:pPr>
            <a:r>
              <a:rPr sz="1125" b="1">
                <a:solidFill>
                  <a:srgbClr val="486581"/>
                </a:solidFill>
              </a:rPr>
              <a:t>校验</a:t>
            </a:r>
          </a:p>
        </p:txBody>
      </p:sp>
      <p:sp>
        <p:nvSpPr>
          <p:cNvPr id="28" name="val-2">
            <a:extLst xmlns:a="http://schemas.openxmlformats.org/drawingml/2006/main">
              <a:ext uri="{FF2B5EF4-FFF2-40B4-BE49-F238E27FC236}">
                <a16:creationId xmlns:a16="http://schemas.microsoft.com/office/drawing/2014/main" id="{49C38D1D-AB02-4B5F-9A08-BF27E446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67225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7DB1"/>
          </a:solidFill>
          <a:ln xmlns:a="http://schemas.openxmlformats.org/drawingml/2006/main" w="9525">
            <a:solidFill>
              <a:srgbClr val="5B7DB1"/>
            </a:solidFill>
            <a:prstDash val="solid"/>
          </a:ln>
        </p:spPr>
      </p:sp>
      <p:sp>
        <p:nvSpPr>
          <p:cNvPr id="29" name="s-2">
            <a:extLst xmlns:a="http://schemas.openxmlformats.org/drawingml/2006/main">
              <a:ext uri="{FF2B5EF4-FFF2-40B4-BE49-F238E27FC236}">
                <a16:creationId xmlns:a16="http://schemas.microsoft.com/office/drawing/2014/main" id="{96693D6D-6786-4C51-965D-46D442EE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76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</a:defRPr>
            </a:pPr>
            <a:r>
              <a:rPr sz="1125" b="1">
                <a:solidFill>
                  <a:srgbClr val="486581"/>
                </a:solidFill>
              </a:rPr>
              <a:t>评分</a:t>
            </a:r>
          </a:p>
        </p:txBody>
      </p:sp>
      <p:sp>
        <p:nvSpPr>
          <p:cNvPr id="30" name="score-2">
            <a:extLst xmlns:a="http://schemas.openxmlformats.org/drawingml/2006/main">
              <a:ext uri="{FF2B5EF4-FFF2-40B4-BE49-F238E27FC236}">
                <a16:creationId xmlns:a16="http://schemas.microsoft.com/office/drawing/2014/main" id="{AF7A29E0-6784-4DF6-889D-D983ED16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67225"/>
            <a:ext cx="1257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F52"/>
          </a:solidFill>
          <a:ln xmlns:a="http://schemas.openxmlformats.org/drawingml/2006/main" w="9525">
            <a:solidFill>
              <a:srgbClr val="4B7F52"/>
            </a:solidFill>
            <a:prstDash val="solid"/>
          </a:ln>
        </p:spPr>
      </p:sp>
      <p:sp>
        <p:nvSpPr>
          <p:cNvPr id="31" name="pipeline-note">
            <a:extLst xmlns:a="http://schemas.openxmlformats.org/drawingml/2006/main">
              <a:ext uri="{FF2B5EF4-FFF2-40B4-BE49-F238E27FC236}">
                <a16:creationId xmlns:a16="http://schemas.microsoft.com/office/drawing/2014/main" id="{9CFCC4F1-8E17-42F6-91C0-94E6B9AF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同一父节点的生成顺序保持稳定；后续阶段可以重叠执行。</a:t>
            </a:r>
          </a:p>
        </p:txBody>
      </p:sp>
      <p:sp>
        <p:nvSpPr>
          <p:cNvPr id="32" name="throughput-panel">
            <a:extLst xmlns:a="http://schemas.openxmlformats.org/drawingml/2006/main">
              <a:ext uri="{FF2B5EF4-FFF2-40B4-BE49-F238E27FC236}">
                <a16:creationId xmlns:a16="http://schemas.microsoft.com/office/drawing/2014/main" id="{5E78DF16-4F49-4B14-A88F-B0B28ACA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2305050" cy="312420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speed-title">
            <a:extLst xmlns:a="http://schemas.openxmlformats.org/drawingml/2006/main">
              <a:ext uri="{FF2B5EF4-FFF2-40B4-BE49-F238E27FC236}">
                <a16:creationId xmlns:a16="http://schemas.microsoft.com/office/drawing/2014/main" id="{075BA297-DBB8-4026-929C-648450C8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四个提速点</a:t>
            </a:r>
          </a:p>
        </p:txBody>
      </p:sp>
      <p:sp>
        <p:nvSpPr>
          <p:cNvPr id="34" name="bullet-dot">
            <a:extLst xmlns:a="http://schemas.openxmlformats.org/drawingml/2006/main">
              <a:ext uri="{FF2B5EF4-FFF2-40B4-BE49-F238E27FC236}">
                <a16:creationId xmlns:a16="http://schemas.microsoft.com/office/drawing/2014/main" id="{92A88821-5CC1-419E-A36D-F99AC603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35" name="bullet">
            <a:extLst xmlns:a="http://schemas.openxmlformats.org/drawingml/2006/main">
              <a:ext uri="{FF2B5EF4-FFF2-40B4-BE49-F238E27FC236}">
                <a16:creationId xmlns:a16="http://schemas.microsoft.com/office/drawing/2014/main" id="{353ACE1C-1544-412F-A1AA-2E04ADB2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7657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动态补位</a:t>
            </a:r>
          </a:p>
        </p:txBody>
      </p:sp>
      <p:sp>
        <p:nvSpPr>
          <p:cNvPr id="36" name="bullet-dot">
            <a:extLst xmlns:a="http://schemas.openxmlformats.org/drawingml/2006/main">
              <a:ext uri="{FF2B5EF4-FFF2-40B4-BE49-F238E27FC236}">
                <a16:creationId xmlns:a16="http://schemas.microsoft.com/office/drawing/2014/main" id="{CDE770AD-8234-4F6A-A236-6FA663C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37" name="bullet">
            <a:extLst xmlns:a="http://schemas.openxmlformats.org/drawingml/2006/main">
              <a:ext uri="{FF2B5EF4-FFF2-40B4-BE49-F238E27FC236}">
                <a16:creationId xmlns:a16="http://schemas.microsoft.com/office/drawing/2014/main" id="{86120EC5-2D92-4E1D-B078-E81D6CB0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242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stream 队列</a:t>
            </a:r>
          </a:p>
        </p:txBody>
      </p:sp>
      <p:sp>
        <p:nvSpPr>
          <p:cNvPr id="38" name="bullet-dot">
            <a:extLst xmlns:a="http://schemas.openxmlformats.org/drawingml/2006/main">
              <a:ext uri="{FF2B5EF4-FFF2-40B4-BE49-F238E27FC236}">
                <a16:creationId xmlns:a16="http://schemas.microsoft.com/office/drawing/2014/main" id="{D6C1CC4A-2267-442A-8F90-7ABBA4C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38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39" name="bullet">
            <a:extLst xmlns:a="http://schemas.openxmlformats.org/drawingml/2006/main">
              <a:ext uri="{FF2B5EF4-FFF2-40B4-BE49-F238E27FC236}">
                <a16:creationId xmlns:a16="http://schemas.microsoft.com/office/drawing/2014/main" id="{4405247D-3A4A-4C2A-886F-CC68482F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7192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公平请求池</a:t>
            </a:r>
          </a:p>
        </p:txBody>
      </p:sp>
      <p:sp>
        <p:nvSpPr>
          <p:cNvPr id="40" name="bullet-dot">
            <a:extLst xmlns:a="http://schemas.openxmlformats.org/drawingml/2006/main">
              <a:ext uri="{FF2B5EF4-FFF2-40B4-BE49-F238E27FC236}">
                <a16:creationId xmlns:a16="http://schemas.microsoft.com/office/drawing/2014/main" id="{9E686F4D-4DB9-42F3-890C-578A3A62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86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41" name="bullet">
            <a:extLst xmlns:a="http://schemas.openxmlformats.org/drawingml/2006/main">
              <a:ext uri="{FF2B5EF4-FFF2-40B4-BE49-F238E27FC236}">
                <a16:creationId xmlns:a16="http://schemas.microsoft.com/office/drawing/2014/main" id="{CD49622E-D4A0-4C47-985C-732A4976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196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GPT 异步补齐</a:t>
            </a:r>
          </a:p>
        </p:txBody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15FC23E1-FC06-424C-8A8A-2A093F0F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内部技术说明 · 基于当前项目实现</a:t>
            </a:r>
          </a:p>
        </p:txBody>
      </p:sp>
    </p:spTree>
    <p:extLst>
      <p:ext uri="{BB962C8B-B14F-4D97-AF65-F5344CB8AC3E}">
        <p14:creationId xmlns:p14="http://schemas.microsoft.com/office/powerpoint/2010/main" val="14504014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AFAD0A22-E3D2-4888-8294-899150CA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D"/>
                </a:solidFill>
              </a:defRPr>
            </a:pPr>
            <a:r>
              <a:rPr sz="900" b="1">
                <a:solidFill>
                  <a:srgbClr val="0B7D7D"/>
                </a:solidFill>
              </a:rPr>
              <a:t>QUESTION EVOLUTION · TREE SEARCH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0F3A74-AE67-4300-8C13-59EA4725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剪枝与配额让搜索保持可控、可解释、可复现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235BFDB-721F-4F7B-8CCF-E5304907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13954B9-79F6-48EC-AE49-68F281D8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2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08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4F9FDB8A-4129-40C9-A3A5-52058D6A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系统不靠“尽可能多试”发现边界，而是按路由、路径、结果和预算四层收缩搜索空间。</a:t>
            </a:r>
          </a:p>
        </p:txBody>
      </p:sp>
      <p:sp>
        <p:nvSpPr>
          <p:cNvPr id="6" name="guard-row-0">
            <a:extLst xmlns:a="http://schemas.openxmlformats.org/drawingml/2006/main">
              <a:ext uri="{FF2B5EF4-FFF2-40B4-BE49-F238E27FC236}">
                <a16:creationId xmlns:a16="http://schemas.microsoft.com/office/drawing/2014/main" id="{3A5B29F7-3A01-4FA6-86B6-2D573816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971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guard-label-0">
            <a:extLst xmlns:a="http://schemas.openxmlformats.org/drawingml/2006/main">
              <a:ext uri="{FF2B5EF4-FFF2-40B4-BE49-F238E27FC236}">
                <a16:creationId xmlns:a16="http://schemas.microsoft.com/office/drawing/2014/main" id="{7E7AFC08-DA09-4D98-9121-D21681EE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447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D9F3F1"/>
            </a:solidFill>
            <a:prstDash val="solid"/>
          </a:ln>
        </p:spPr>
      </p:sp>
      <p:sp>
        <p:nvSpPr>
          <p:cNvPr id="8" name="guard-title-0">
            <a:extLst xmlns:a="http://schemas.openxmlformats.org/drawingml/2006/main">
              <a:ext uri="{FF2B5EF4-FFF2-40B4-BE49-F238E27FC236}">
                <a16:creationId xmlns:a16="http://schemas.microsoft.com/office/drawing/2014/main" id="{E992254E-430B-4F97-AB4C-3F3F5E0F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860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D7D"/>
                </a:solidFill>
              </a:defRPr>
            </a:pPr>
            <a:r>
              <a:rPr sz="1200" b="1">
                <a:solidFill>
                  <a:srgbClr val="0B7D7D"/>
                </a:solidFill>
              </a:rPr>
              <a:t>路由剪枝</a:t>
            </a:r>
          </a:p>
        </p:txBody>
      </p:sp>
      <p:sp>
        <p:nvSpPr>
          <p:cNvPr id="9" name="guard-copy-0">
            <a:extLst xmlns:a="http://schemas.openxmlformats.org/drawingml/2006/main">
              <a:ext uri="{FF2B5EF4-FFF2-40B4-BE49-F238E27FC236}">
                <a16:creationId xmlns:a16="http://schemas.microsoft.com/office/drawing/2014/main" id="{5D6F71B0-C859-4DAB-9505-CA0386B7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只执行 Router 冻结的候选列表</a:t>
            </a:r>
          </a:p>
        </p:txBody>
      </p:sp>
      <p:sp>
        <p:nvSpPr>
          <p:cNvPr id="10" name="guard-row-1">
            <a:extLst xmlns:a="http://schemas.openxmlformats.org/drawingml/2006/main">
              <a:ext uri="{FF2B5EF4-FFF2-40B4-BE49-F238E27FC236}">
                <a16:creationId xmlns:a16="http://schemas.microsoft.com/office/drawing/2014/main" id="{6EBED748-1347-4646-A364-22B359C6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971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guard-label-1">
            <a:extLst xmlns:a="http://schemas.openxmlformats.org/drawingml/2006/main">
              <a:ext uri="{FF2B5EF4-FFF2-40B4-BE49-F238E27FC236}">
                <a16:creationId xmlns:a16="http://schemas.microsoft.com/office/drawing/2014/main" id="{5672B085-4844-43E8-AD67-11F95396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1447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9525">
            <a:solidFill>
              <a:srgbClr val="E6EEF9"/>
            </a:solidFill>
            <a:prstDash val="solid"/>
          </a:ln>
        </p:spPr>
      </p:sp>
      <p:sp>
        <p:nvSpPr>
          <p:cNvPr id="12" name="guard-title-1">
            <a:extLst xmlns:a="http://schemas.openxmlformats.org/drawingml/2006/main">
              <a:ext uri="{FF2B5EF4-FFF2-40B4-BE49-F238E27FC236}">
                <a16:creationId xmlns:a16="http://schemas.microsoft.com/office/drawing/2014/main" id="{EF4D6864-C34A-4F19-B6CF-AF676DE7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7DB1"/>
                </a:solidFill>
              </a:defRPr>
            </a:pPr>
            <a:r>
              <a:rPr sz="1200" b="1">
                <a:solidFill>
                  <a:srgbClr val="5B7DB1"/>
                </a:solidFill>
              </a:rPr>
              <a:t>路径剪枝</a:t>
            </a:r>
          </a:p>
        </p:txBody>
      </p:sp>
      <p:sp>
        <p:nvSpPr>
          <p:cNvPr id="13" name="guard-copy-1">
            <a:extLst xmlns:a="http://schemas.openxmlformats.org/drawingml/2006/main">
              <a:ext uri="{FF2B5EF4-FFF2-40B4-BE49-F238E27FC236}">
                <a16:creationId xmlns:a16="http://schemas.microsoft.com/office/drawing/2014/main" id="{DC8DB81A-7340-4C93-B400-C50FED20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默认不复用路径中已出现的 operator</a:t>
            </a:r>
          </a:p>
        </p:txBody>
      </p:sp>
      <p:sp>
        <p:nvSpPr>
          <p:cNvPr id="14" name="guard-row-2">
            <a:extLst xmlns:a="http://schemas.openxmlformats.org/drawingml/2006/main">
              <a:ext uri="{FF2B5EF4-FFF2-40B4-BE49-F238E27FC236}">
                <a16:creationId xmlns:a16="http://schemas.microsoft.com/office/drawing/2014/main" id="{18D41186-E402-4F20-B271-EC91DFEF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971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guard-label-2">
            <a:extLst xmlns:a="http://schemas.openxmlformats.org/drawingml/2006/main">
              <a:ext uri="{FF2B5EF4-FFF2-40B4-BE49-F238E27FC236}">
                <a16:creationId xmlns:a16="http://schemas.microsoft.com/office/drawing/2014/main" id="{18254E0F-B438-4FE5-A0BA-BE10C2A8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1447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6DF"/>
          </a:solidFill>
          <a:ln xmlns:a="http://schemas.openxmlformats.org/drawingml/2006/main" w="9525">
            <a:solidFill>
              <a:srgbClr val="FCE6DF"/>
            </a:solidFill>
            <a:prstDash val="solid"/>
          </a:ln>
        </p:spPr>
      </p:sp>
      <p:sp>
        <p:nvSpPr>
          <p:cNvPr id="16" name="guard-title-2">
            <a:extLst xmlns:a="http://schemas.openxmlformats.org/drawingml/2006/main">
              <a:ext uri="{FF2B5EF4-FFF2-40B4-BE49-F238E27FC236}">
                <a16:creationId xmlns:a16="http://schemas.microsoft.com/office/drawing/2014/main" id="{1BC5AC76-4D84-4F85-B317-0CD06AA8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862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5D39"/>
                </a:solidFill>
              </a:defRPr>
            </a:pPr>
            <a:r>
              <a:rPr sz="1200" b="1">
                <a:solidFill>
                  <a:srgbClr val="D95D39"/>
                </a:solidFill>
              </a:rPr>
              <a:t>结果剪枝</a:t>
            </a:r>
          </a:p>
        </p:txBody>
      </p:sp>
      <p:sp>
        <p:nvSpPr>
          <p:cNvPr id="17" name="guard-copy-2">
            <a:extLst xmlns:a="http://schemas.openxmlformats.org/drawingml/2006/main">
              <a:ext uri="{FF2B5EF4-FFF2-40B4-BE49-F238E27FC236}">
                <a16:creationId xmlns:a16="http://schemas.microsoft.com/office/drawing/2014/main" id="{D69FB718-511E-4EF7-8D0A-2305D1B6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576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增分、持平、校验失败、重复、错误均终止</a:t>
            </a:r>
          </a:p>
        </p:txBody>
      </p:sp>
      <p:sp>
        <p:nvSpPr>
          <p:cNvPr id="18" name="guard-row-3">
            <a:extLst xmlns:a="http://schemas.openxmlformats.org/drawingml/2006/main">
              <a:ext uri="{FF2B5EF4-FFF2-40B4-BE49-F238E27FC236}">
                <a16:creationId xmlns:a16="http://schemas.microsoft.com/office/drawing/2014/main" id="{6C4BE5AB-9408-4B0A-B15F-504E2795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971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guard-label-3">
            <a:extLst xmlns:a="http://schemas.openxmlformats.org/drawingml/2006/main">
              <a:ext uri="{FF2B5EF4-FFF2-40B4-BE49-F238E27FC236}">
                <a16:creationId xmlns:a16="http://schemas.microsoft.com/office/drawing/2014/main" id="{61CA2E76-89DF-4F6F-B5D5-8A07E29C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00600"/>
            <a:ext cx="1447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FFF1D8"/>
            </a:solidFill>
            <a:prstDash val="solid"/>
          </a:ln>
        </p:spPr>
      </p:sp>
      <p:sp>
        <p:nvSpPr>
          <p:cNvPr id="20" name="guard-title-3">
            <a:extLst xmlns:a="http://schemas.openxmlformats.org/drawingml/2006/main">
              <a:ext uri="{FF2B5EF4-FFF2-40B4-BE49-F238E27FC236}">
                <a16:creationId xmlns:a16="http://schemas.microsoft.com/office/drawing/2014/main" id="{ADCF0F8B-034C-49B8-B0CA-D369ADAD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863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7E16"/>
                </a:solidFill>
              </a:defRPr>
            </a:pPr>
            <a:r>
              <a:rPr sz="1200" b="1">
                <a:solidFill>
                  <a:srgbClr val="C47E16"/>
                </a:solidFill>
              </a:rPr>
              <a:t>预算剪枝</a:t>
            </a:r>
          </a:p>
        </p:txBody>
      </p:sp>
      <p:sp>
        <p:nvSpPr>
          <p:cNvPr id="21" name="guard-copy-3">
            <a:extLst xmlns:a="http://schemas.openxmlformats.org/drawingml/2006/main">
              <a:ext uri="{FF2B5EF4-FFF2-40B4-BE49-F238E27FC236}">
                <a16:creationId xmlns:a16="http://schemas.microsoft.com/office/drawing/2014/main" id="{222AB21D-B08C-4B15-A177-761CC2E4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深度、分层边界目标、总硬上限、超时</a:t>
            </a:r>
          </a:p>
        </p:txBody>
      </p:sp>
      <p:sp>
        <p:nvSpPr>
          <p:cNvPr id="22" name="quota-callout">
            <a:extLst xmlns:a="http://schemas.openxmlformats.org/drawingml/2006/main">
              <a:ext uri="{FF2B5EF4-FFF2-40B4-BE49-F238E27FC236}">
                <a16:creationId xmlns:a16="http://schemas.microsoft.com/office/drawing/2014/main" id="{9AA36DA2-0EF7-4743-860B-EA08C109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默认纵向边界：单算子 5 + 叠加 5；总数不超过 10；最大深度 3。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E084B127-04ED-496B-AC31-A06D7F1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内部技术说明 · 基于当前项目实现</a:t>
            </a:r>
          </a:p>
        </p:txBody>
      </p:sp>
    </p:spTree>
    <p:extLst>
      <p:ext uri="{BB962C8B-B14F-4D97-AF65-F5344CB8AC3E}">
        <p14:creationId xmlns:p14="http://schemas.microsoft.com/office/powerpoint/2010/main" val="973587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">
            <a:extLst xmlns:a="http://schemas.openxmlformats.org/drawingml/2006/main">
              <a:ext uri="{FF2B5EF4-FFF2-40B4-BE49-F238E27FC236}">
                <a16:creationId xmlns:a16="http://schemas.microsoft.com/office/drawing/2014/main" id="{390A450A-4453-4BB4-A531-1D28B4C2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D"/>
                </a:solidFill>
              </a:defRPr>
            </a:pPr>
            <a:r>
              <a:rPr sz="900" b="1">
                <a:solidFill>
                  <a:srgbClr val="0B7D7D"/>
                </a:solidFill>
              </a:rPr>
              <a:t>QUESTION EVOLUTION · TREE SEARCH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B62396-3F95-484E-A757-003313F1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搜索过程被拆成可恢复状态与完整证据两类产物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7A216FC-1D69-49C5-9489-F92A8B1F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353590F-9057-4FC9-8661-4D740806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2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09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7D2FB305-4D70-49CA-96B9-1020DECA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86581"/>
                </a:solidFill>
              </a:defRPr>
            </a:pPr>
            <a:r>
              <a:rPr sz="1575" b="0">
                <a:solidFill>
                  <a:srgbClr val="486581"/>
                </a:solidFill>
              </a:rPr>
              <a:t>这使中断恢复不会重复确认过的模型调用，也让每条边界路径可回溯审阅。</a:t>
            </a:r>
          </a:p>
        </p:txBody>
      </p:sp>
      <p:sp>
        <p:nvSpPr>
          <p:cNvPr id="6" name="state-layer">
            <a:extLst xmlns:a="http://schemas.openxmlformats.org/drawingml/2006/main">
              <a:ext uri="{FF2B5EF4-FFF2-40B4-BE49-F238E27FC236}">
                <a16:creationId xmlns:a16="http://schemas.microsoft.com/office/drawing/2014/main" id="{2B8EB4DE-B989-44B8-815F-5AF590E7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8194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9525">
            <a:solidFill>
              <a:srgbClr val="5B7DB1"/>
            </a:solidFill>
            <a:prstDash val="solid"/>
          </a:ln>
        </p:spPr>
      </p:sp>
      <p:sp>
        <p:nvSpPr>
          <p:cNvPr id="7" name="evidence-layer">
            <a:extLst xmlns:a="http://schemas.openxmlformats.org/drawingml/2006/main">
              <a:ext uri="{FF2B5EF4-FFF2-40B4-BE49-F238E27FC236}">
                <a16:creationId xmlns:a16="http://schemas.microsoft.com/office/drawing/2014/main" id="{6EBCE427-4205-4413-8E0B-0BE40577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28194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4B7F52"/>
            </a:solidFill>
            <a:prstDash val="solid"/>
          </a:ln>
        </p:spPr>
      </p:sp>
      <p:sp>
        <p:nvSpPr>
          <p:cNvPr id="8" name="insight-layer">
            <a:extLst xmlns:a="http://schemas.openxmlformats.org/drawingml/2006/main">
              <a:ext uri="{FF2B5EF4-FFF2-40B4-BE49-F238E27FC236}">
                <a16:creationId xmlns:a16="http://schemas.microsoft.com/office/drawing/2014/main" id="{AF2EF300-3857-4176-9951-2BB42E41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28194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D9F3F1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9" name="state-title">
            <a:extLst xmlns:a="http://schemas.openxmlformats.org/drawingml/2006/main">
              <a:ext uri="{FF2B5EF4-FFF2-40B4-BE49-F238E27FC236}">
                <a16:creationId xmlns:a16="http://schemas.microsoft.com/office/drawing/2014/main" id="{17FA6FBE-A7FF-424D-889E-35B352B0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B7DB1"/>
                </a:solidFill>
              </a:defRPr>
            </a:pPr>
            <a:r>
              <a:rPr sz="1950" b="1">
                <a:solidFill>
                  <a:srgbClr val="5B7DB1"/>
                </a:solidFill>
              </a:rPr>
              <a:t>轻量状态</a:t>
            </a:r>
          </a:p>
        </p:txBody>
      </p:sp>
      <p:sp>
        <p:nvSpPr>
          <p:cNvPr id="10" name="bullet-dot">
            <a:extLst xmlns:a="http://schemas.openxmlformats.org/drawingml/2006/main">
              <a:ext uri="{FF2B5EF4-FFF2-40B4-BE49-F238E27FC236}">
                <a16:creationId xmlns:a16="http://schemas.microsoft.com/office/drawing/2014/main" id="{D32AFA9A-7147-48EB-B62A-9561D6F3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43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11" name="bullet">
            <a:extLst xmlns:a="http://schemas.openxmlformats.org/drawingml/2006/main">
              <a:ext uri="{FF2B5EF4-FFF2-40B4-BE49-F238E27FC236}">
                <a16:creationId xmlns:a16="http://schemas.microsoft.com/office/drawing/2014/main" id="{71607481-AD9C-475E-97B0-B34A60F5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search state</a:t>
            </a:r>
          </a:p>
        </p:txBody>
      </p:sp>
      <p:sp>
        <p:nvSpPr>
          <p:cNvPr id="12" name="bullet-dot">
            <a:extLst xmlns:a="http://schemas.openxmlformats.org/drawingml/2006/main">
              <a:ext uri="{FF2B5EF4-FFF2-40B4-BE49-F238E27FC236}">
                <a16:creationId xmlns:a16="http://schemas.microsoft.com/office/drawing/2014/main" id="{E89E2B77-89C0-41D1-A73E-A09F75A7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13" name="bullet">
            <a:extLst xmlns:a="http://schemas.openxmlformats.org/drawingml/2006/main">
              <a:ext uri="{FF2B5EF4-FFF2-40B4-BE49-F238E27FC236}">
                <a16:creationId xmlns:a16="http://schemas.microsoft.com/office/drawing/2014/main" id="{4688B31A-4944-4363-BAD6-17DEC041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frontier ownership</a:t>
            </a:r>
          </a:p>
        </p:txBody>
      </p:sp>
      <p:sp>
        <p:nvSpPr>
          <p:cNvPr id="14" name="bullet-dot">
            <a:extLst xmlns:a="http://schemas.openxmlformats.org/drawingml/2006/main">
              <a:ext uri="{FF2B5EF4-FFF2-40B4-BE49-F238E27FC236}">
                <a16:creationId xmlns:a16="http://schemas.microsoft.com/office/drawing/2014/main" id="{300772C9-F183-43F9-83B7-46123337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24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15" name="bullet">
            <a:extLst xmlns:a="http://schemas.openxmlformats.org/drawingml/2006/main">
              <a:ext uri="{FF2B5EF4-FFF2-40B4-BE49-F238E27FC236}">
                <a16:creationId xmlns:a16="http://schemas.microsoft.com/office/drawing/2014/main" id="{A0A8789A-42FE-4F90-932D-8D651EAA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checkpoint</a:t>
            </a:r>
          </a:p>
        </p:txBody>
      </p:sp>
      <p:sp>
        <p:nvSpPr>
          <p:cNvPr id="16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B90C5509-2CFB-4EE6-BF50-65DE4CBA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B7F52"/>
                </a:solidFill>
              </a:defRPr>
            </a:pPr>
            <a:r>
              <a:rPr sz="1950" b="1">
                <a:solidFill>
                  <a:srgbClr val="4B7F52"/>
                </a:solidFill>
              </a:rPr>
              <a:t>完整证据</a:t>
            </a:r>
          </a:p>
        </p:txBody>
      </p:sp>
      <p:sp>
        <p:nvSpPr>
          <p:cNvPr id="17" name="bullet-dot">
            <a:extLst xmlns:a="http://schemas.openxmlformats.org/drawingml/2006/main">
              <a:ext uri="{FF2B5EF4-FFF2-40B4-BE49-F238E27FC236}">
                <a16:creationId xmlns:a16="http://schemas.microsoft.com/office/drawing/2014/main" id="{939F4F8B-CFB0-4E49-9AE0-271F94F8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43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18" name="bullet">
            <a:extLst xmlns:a="http://schemas.openxmlformats.org/drawingml/2006/main">
              <a:ext uri="{FF2B5EF4-FFF2-40B4-BE49-F238E27FC236}">
                <a16:creationId xmlns:a16="http://schemas.microsoft.com/office/drawing/2014/main" id="{C0D06C08-D6F1-4A4F-B486-A67551A5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branch results</a:t>
            </a:r>
          </a:p>
        </p:txBody>
      </p:sp>
      <p:sp>
        <p:nvSpPr>
          <p:cNvPr id="19" name="bullet-dot">
            <a:extLst xmlns:a="http://schemas.openxmlformats.org/drawingml/2006/main">
              <a:ext uri="{FF2B5EF4-FFF2-40B4-BE49-F238E27FC236}">
                <a16:creationId xmlns:a16="http://schemas.microsoft.com/office/drawing/2014/main" id="{9417A220-C918-4E41-BAA1-6A0D46B7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20" name="bullet">
            <a:extLst xmlns:a="http://schemas.openxmlformats.org/drawingml/2006/main">
              <a:ext uri="{FF2B5EF4-FFF2-40B4-BE49-F238E27FC236}">
                <a16:creationId xmlns:a16="http://schemas.microsoft.com/office/drawing/2014/main" id="{1623C380-801C-4FAE-A532-06B42806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67125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nodes / edges</a:t>
            </a:r>
          </a:p>
        </p:txBody>
      </p:sp>
      <p:sp>
        <p:nvSpPr>
          <p:cNvPr id="21" name="bullet-dot">
            <a:extLst xmlns:a="http://schemas.openxmlformats.org/drawingml/2006/main">
              <a:ext uri="{FF2B5EF4-FFF2-40B4-BE49-F238E27FC236}">
                <a16:creationId xmlns:a16="http://schemas.microsoft.com/office/drawing/2014/main" id="{2501F165-BAF1-490E-8607-B2EE5EE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24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22" name="bullet">
            <a:extLst xmlns:a="http://schemas.openxmlformats.org/drawingml/2006/main">
              <a:ext uri="{FF2B5EF4-FFF2-40B4-BE49-F238E27FC236}">
                <a16:creationId xmlns:a16="http://schemas.microsoft.com/office/drawing/2014/main" id="{F66D8563-5735-487F-8035-17339528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57650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paths / attempts</a:t>
            </a:r>
          </a:p>
        </p:txBody>
      </p:sp>
      <p:sp>
        <p:nvSpPr>
          <p:cNvPr id="23" name="insight-title">
            <a:extLst xmlns:a="http://schemas.openxmlformats.org/drawingml/2006/main">
              <a:ext uri="{FF2B5EF4-FFF2-40B4-BE49-F238E27FC236}">
                <a16:creationId xmlns:a16="http://schemas.microsoft.com/office/drawing/2014/main" id="{3CA6D7FD-C257-4CBD-9631-C0C0A380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7D7D"/>
                </a:solidFill>
              </a:defRPr>
            </a:pPr>
            <a:r>
              <a:rPr sz="1950" b="1">
                <a:solidFill>
                  <a:srgbClr val="0B7D7D"/>
                </a:solidFill>
              </a:rPr>
              <a:t>实验洞察</a:t>
            </a:r>
          </a:p>
        </p:txBody>
      </p:sp>
      <p:sp>
        <p:nvSpPr>
          <p:cNvPr id="24" name="bullet-dot">
            <a:extLst xmlns:a="http://schemas.openxmlformats.org/drawingml/2006/main">
              <a:ext uri="{FF2B5EF4-FFF2-40B4-BE49-F238E27FC236}">
                <a16:creationId xmlns:a16="http://schemas.microsoft.com/office/drawing/2014/main" id="{C16BF782-DF5F-4095-AFF9-13A9567F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43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25" name="bullet">
            <a:extLst xmlns:a="http://schemas.openxmlformats.org/drawingml/2006/main">
              <a:ext uri="{FF2B5EF4-FFF2-40B4-BE49-F238E27FC236}">
                <a16:creationId xmlns:a16="http://schemas.microsoft.com/office/drawing/2014/main" id="{F93D6009-79D6-4804-8BCF-F1464FE2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76600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operator yield</a:t>
            </a:r>
          </a:p>
        </p:txBody>
      </p:sp>
      <p:sp>
        <p:nvSpPr>
          <p:cNvPr id="26" name="bullet-dot">
            <a:extLst xmlns:a="http://schemas.openxmlformats.org/drawingml/2006/main">
              <a:ext uri="{FF2B5EF4-FFF2-40B4-BE49-F238E27FC236}">
                <a16:creationId xmlns:a16="http://schemas.microsoft.com/office/drawing/2014/main" id="{C07BC85C-03FB-4256-BF8A-8866542A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33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27" name="bullet">
            <a:extLst xmlns:a="http://schemas.openxmlformats.org/drawingml/2006/main">
              <a:ext uri="{FF2B5EF4-FFF2-40B4-BE49-F238E27FC236}">
                <a16:creationId xmlns:a16="http://schemas.microsoft.com/office/drawing/2014/main" id="{FAE081A1-74C1-4055-8F57-428CBAAF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路径成本</a:t>
            </a:r>
          </a:p>
        </p:txBody>
      </p:sp>
      <p:sp>
        <p:nvSpPr>
          <p:cNvPr id="28" name="bullet-dot">
            <a:extLst xmlns:a="http://schemas.openxmlformats.org/drawingml/2006/main">
              <a:ext uri="{FF2B5EF4-FFF2-40B4-BE49-F238E27FC236}">
                <a16:creationId xmlns:a16="http://schemas.microsoft.com/office/drawing/2014/main" id="{0A5D3F4F-2469-43BB-A05D-34F86FC4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24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29" name="bullet">
            <a:extLst xmlns:a="http://schemas.openxmlformats.org/drawingml/2006/main">
              <a:ext uri="{FF2B5EF4-FFF2-40B4-BE49-F238E27FC236}">
                <a16:creationId xmlns:a16="http://schemas.microsoft.com/office/drawing/2014/main" id="{E9283CB9-DA14-47F7-A4FF-64C080E3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人工审核</a:t>
            </a:r>
          </a:p>
        </p:txBody>
      </p:sp>
      <p:cxnSp>
        <p:nvCxnSpPr>
          <p:cNvPr id="6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76650" y="370522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7DB1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05700" y="370522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F52"/>
            </a:solidFill>
            <a:prstDash val="solid"/>
            <a:tailEnd type="arrow" w="sm" len="sm"/>
          </a:ln>
        </p:spPr>
      </p:cxnSp>
      <p:sp>
        <p:nvSpPr>
          <p:cNvPr id="32" name="id-callout">
            <a:extLst xmlns:a="http://schemas.openxmlformats.org/drawingml/2006/main">
              <a:ext uri="{FF2B5EF4-FFF2-40B4-BE49-F238E27FC236}">
                <a16:creationId xmlns:a16="http://schemas.microsoft.com/office/drawing/2014/main" id="{5A4AC7DA-23C5-4413-87B3-6D9A5529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稳定 ID：root → node → attempt → path</a:t>
            </a:r>
          </a:p>
        </p:txBody>
      </p:sp>
      <p:sp>
        <p:nvSpPr>
          <p:cNvPr id="33" name="recovery-callout">
            <a:extLst xmlns:a="http://schemas.openxmlformats.org/drawingml/2006/main">
              <a:ext uri="{FF2B5EF4-FFF2-40B4-BE49-F238E27FC236}">
                <a16:creationId xmlns:a16="http://schemas.microsoft.com/office/drawing/2014/main" id="{7EFF1B4D-63F7-4559-AD84-B559AD73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43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精确 prompt hash 去重 + 一次重生成 + Memory 幂等写入</a:t>
            </a:r>
          </a:p>
        </p:txBody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F3DAD191-AC8C-4C67-8545-A71C0F5B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内部技术说明 · 基于当前项目实现</a:t>
            </a:r>
          </a:p>
        </p:txBody>
      </p:sp>
    </p:spTree>
    <p:extLst>
      <p:ext uri="{BB962C8B-B14F-4D97-AF65-F5344CB8AC3E}">
        <p14:creationId xmlns:p14="http://schemas.microsoft.com/office/powerpoint/2010/main" val="8494757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59711337-60A3-4E6C-A44B-3A312D31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D7D"/>
                </a:solidFill>
              </a:defRPr>
            </a:pPr>
            <a:r>
              <a:rPr sz="900" b="1">
                <a:solidFill>
                  <a:srgbClr val="0B7D7D"/>
                </a:solidFill>
              </a:rPr>
              <a:t>QUESTION EVOLUTION · TREE SEARCH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03A6F3-D048-4B47-9820-617AD36A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它是有限、可审计的实验搜索，不是通用 MCTS 引擎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D62D5A1-61F3-4553-95E3-82516E6A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B37BC20-FA60-4D72-B709-5BD6440B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2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10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CFC319B7-ED36-4780-AD7E-FCB1D9A5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最合适的定位：以真实评测驱动的 operator-composition search。</a:t>
            </a:r>
          </a:p>
        </p:txBody>
      </p:sp>
      <p:sp>
        <p:nvSpPr>
          <p:cNvPr id="6" name="yes-panel">
            <a:extLst xmlns:a="http://schemas.openxmlformats.org/drawingml/2006/main">
              <a:ext uri="{FF2B5EF4-FFF2-40B4-BE49-F238E27FC236}">
                <a16:creationId xmlns:a16="http://schemas.microsoft.com/office/drawing/2014/main" id="{C8742EEC-ABE7-486A-B9D9-AC43A019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5148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3F1E5"/>
          </a:solidFill>
          <a:ln xmlns:a="http://schemas.openxmlformats.org/drawingml/2006/main" w="9525">
            <a:solidFill>
              <a:srgbClr val="4B7F52"/>
            </a:solidFill>
            <a:prstDash val="solid"/>
          </a:ln>
        </p:spPr>
      </p:sp>
      <p:sp>
        <p:nvSpPr>
          <p:cNvPr id="7" name="no-panel">
            <a:extLst xmlns:a="http://schemas.openxmlformats.org/drawingml/2006/main">
              <a:ext uri="{FF2B5EF4-FFF2-40B4-BE49-F238E27FC236}">
                <a16:creationId xmlns:a16="http://schemas.microsoft.com/office/drawing/2014/main" id="{2F6AE5F4-AE58-46A2-A6AC-C3767EC6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45148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CE6DF"/>
          </a:solidFill>
          <a:ln xmlns:a="http://schemas.openxmlformats.org/drawingml/2006/main" w="9525">
            <a:solidFill>
              <a:srgbClr val="D95D39"/>
            </a:solidFill>
            <a:prstDash val="solid"/>
          </a:ln>
        </p:spPr>
      </p:sp>
      <p:sp>
        <p:nvSpPr>
          <p:cNvPr id="8" name="yes-title">
            <a:extLst xmlns:a="http://schemas.openxmlformats.org/drawingml/2006/main">
              <a:ext uri="{FF2B5EF4-FFF2-40B4-BE49-F238E27FC236}">
                <a16:creationId xmlns:a16="http://schemas.microsoft.com/office/drawing/2014/main" id="{298ADADB-94A2-4B62-B591-B844197A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7F52"/>
                </a:solidFill>
              </a:defRPr>
            </a:pPr>
            <a:r>
              <a:rPr sz="2025" b="1">
                <a:solidFill>
                  <a:srgbClr val="4B7F52"/>
                </a:solidFill>
              </a:rPr>
              <a:t>当前机制具备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A0D9551A-108F-4A91-879A-E4833A98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28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5E129D12-A706-4797-8B30-55E2F8C2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62300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直接父子真实评分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204F3047-81F7-4A9F-88A8-53BBA243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12" name="bullet">
            <a:extLst xmlns:a="http://schemas.openxmlformats.org/drawingml/2006/main">
              <a:ext uri="{FF2B5EF4-FFF2-40B4-BE49-F238E27FC236}">
                <a16:creationId xmlns:a16="http://schemas.microsoft.com/office/drawing/2014/main" id="{D92F5102-DA9D-4066-806C-3174127A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90925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有界深度与分层配额</a:t>
            </a:r>
          </a:p>
        </p:txBody>
      </p:sp>
      <p:sp>
        <p:nvSpPr>
          <p:cNvPr id="13" name="bullet-dot">
            <a:extLst xmlns:a="http://schemas.openxmlformats.org/drawingml/2006/main">
              <a:ext uri="{FF2B5EF4-FFF2-40B4-BE49-F238E27FC236}">
                <a16:creationId xmlns:a16="http://schemas.microsoft.com/office/drawing/2014/main" id="{7AF19A9F-6E98-4524-8339-69E90FA0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86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14" name="bullet">
            <a:extLst xmlns:a="http://schemas.openxmlformats.org/drawingml/2006/main">
              <a:ext uri="{FF2B5EF4-FFF2-40B4-BE49-F238E27FC236}">
                <a16:creationId xmlns:a16="http://schemas.microsoft.com/office/drawing/2014/main" id="{95C0F5B0-D41F-463F-A885-51C18BC9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195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重路由、去重、恢复、审计</a:t>
            </a:r>
          </a:p>
        </p:txBody>
      </p:sp>
      <p:sp>
        <p:nvSpPr>
          <p:cNvPr id="15" name="no-title">
            <a:extLst xmlns:a="http://schemas.openxmlformats.org/drawingml/2006/main">
              <a:ext uri="{FF2B5EF4-FFF2-40B4-BE49-F238E27FC236}">
                <a16:creationId xmlns:a16="http://schemas.microsoft.com/office/drawing/2014/main" id="{9DE4C056-9D63-4AA7-A0F3-BEC1118D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5D39"/>
                </a:solidFill>
              </a:defRPr>
            </a:pPr>
            <a:r>
              <a:rPr sz="2025" b="1">
                <a:solidFill>
                  <a:srgbClr val="D95D39"/>
                </a:solidFill>
              </a:rPr>
              <a:t>当前机制不包含</a:t>
            </a:r>
          </a:p>
        </p:txBody>
      </p:sp>
      <p:sp>
        <p:nvSpPr>
          <p:cNvPr id="16" name="bullet-dot">
            <a:extLst xmlns:a="http://schemas.openxmlformats.org/drawingml/2006/main">
              <a:ext uri="{FF2B5EF4-FFF2-40B4-BE49-F238E27FC236}">
                <a16:creationId xmlns:a16="http://schemas.microsoft.com/office/drawing/2014/main" id="{AC652FA7-2D41-43E0-B4E7-E22D319C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28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17" name="bullet">
            <a:extLst xmlns:a="http://schemas.openxmlformats.org/drawingml/2006/main">
              <a:ext uri="{FF2B5EF4-FFF2-40B4-BE49-F238E27FC236}">
                <a16:creationId xmlns:a16="http://schemas.microsoft.com/office/drawing/2014/main" id="{1B94045E-FF66-4BE8-9242-DB14C77F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UCB / PUCT / value backprop</a:t>
            </a:r>
          </a:p>
        </p:txBody>
      </p:sp>
      <p:sp>
        <p:nvSpPr>
          <p:cNvPr id="18" name="bullet-dot">
            <a:extLst xmlns:a="http://schemas.openxmlformats.org/drawingml/2006/main">
              <a:ext uri="{FF2B5EF4-FFF2-40B4-BE49-F238E27FC236}">
                <a16:creationId xmlns:a16="http://schemas.microsoft.com/office/drawing/2014/main" id="{1ED8C64F-5EA0-490B-8080-F20433DA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57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19" name="bullet">
            <a:extLst xmlns:a="http://schemas.openxmlformats.org/drawingml/2006/main">
              <a:ext uri="{FF2B5EF4-FFF2-40B4-BE49-F238E27FC236}">
                <a16:creationId xmlns:a16="http://schemas.microsoft.com/office/drawing/2014/main" id="{6CFAD3BC-7C43-4814-B271-80C98866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90925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无限深度递归</a:t>
            </a:r>
          </a:p>
        </p:txBody>
      </p:sp>
      <p:sp>
        <p:nvSpPr>
          <p:cNvPr id="20" name="bullet-dot">
            <a:extLst xmlns:a="http://schemas.openxmlformats.org/drawingml/2006/main">
              <a:ext uri="{FF2B5EF4-FFF2-40B4-BE49-F238E27FC236}">
                <a16:creationId xmlns:a16="http://schemas.microsoft.com/office/drawing/2014/main" id="{98707CCA-7F24-4B4C-B3B6-B0CEE12A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86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D7D"/>
          </a:solidFill>
          <a:ln xmlns:a="http://schemas.openxmlformats.org/drawingml/2006/main" w="9525">
            <a:solidFill>
              <a:srgbClr val="0B7D7D"/>
            </a:solidFill>
            <a:prstDash val="solid"/>
          </a:ln>
        </p:spPr>
      </p:sp>
      <p:sp>
        <p:nvSpPr>
          <p:cNvPr id="21" name="bullet">
            <a:extLst xmlns:a="http://schemas.openxmlformats.org/drawingml/2006/main">
              <a:ext uri="{FF2B5EF4-FFF2-40B4-BE49-F238E27FC236}">
                <a16:creationId xmlns:a16="http://schemas.microsoft.com/office/drawing/2014/main" id="{8C6A0F01-52A7-468B-AF52-FA7517A0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全局 top-k / beam 选点</a:t>
            </a:r>
          </a:p>
        </p:txBody>
      </p:sp>
      <p:sp>
        <p:nvSpPr>
          <p:cNvPr id="22" name="recommend-title">
            <a:extLst xmlns:a="http://schemas.openxmlformats.org/drawingml/2006/main">
              <a:ext uri="{FF2B5EF4-FFF2-40B4-BE49-F238E27FC236}">
                <a16:creationId xmlns:a16="http://schemas.microsoft.com/office/drawing/2014/main" id="{7A5CFF1F-50F0-4F0C-B0C6-85A642C4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建议的首次正式实验配置</a:t>
            </a:r>
          </a:p>
        </p:txBody>
      </p:sp>
      <p:sp>
        <p:nvSpPr>
          <p:cNvPr id="23" name="recommend-config">
            <a:extLst xmlns:a="http://schemas.openxmlformats.org/drawingml/2006/main">
              <a:ext uri="{FF2B5EF4-FFF2-40B4-BE49-F238E27FC236}">
                <a16:creationId xmlns:a16="http://schemas.microsoft.com/office/drawing/2014/main" id="{F4E758BE-4CE2-40A8-A3CC-A3D54258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D7D"/>
                </a:solidFill>
              </a:defRPr>
            </a:pPr>
            <a:r>
              <a:rPr sz="1350" b="1">
                <a:solidFill>
                  <a:srgbClr val="0B7D7D"/>
                </a:solidFill>
              </a:rPr>
              <a:t>multi_operator_vertical_stack  ·  max_depth = 3  ·  单算子目标 5  ·  叠加目标 5  ·  总上限 10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4D4BEF12-D6B7-4187-AF17-77E81AF7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内部技术说明 · 基于当前项目实现</a:t>
            </a:r>
          </a:p>
        </p:txBody>
      </p:sp>
    </p:spTree>
    <p:extLst>
      <p:ext uri="{BB962C8B-B14F-4D97-AF65-F5344CB8AC3E}">
        <p14:creationId xmlns:p14="http://schemas.microsoft.com/office/powerpoint/2010/main" val="1767772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2026-07-29T14:47:59.7640000Z</dcterms:created>
  <dcterms:modified xsi:type="dcterms:W3CDTF">2026-07-29T14:47:59.7640000Z</dcterms:modified>
</coreProperties>
</file>