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03189" y="679622"/>
            <a:ext cx="8855675" cy="70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90" b="1" dirty="0">
                <a:solidFill>
                  <a:srgbClr val="17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 Evolution Agent完全体设计原理</a:t>
            </a:r>
            <a:endParaRPr lang="en-US" sz="3290" dirty="0"/>
          </a:p>
        </p:txBody>
      </p:sp>
      <p:sp>
        <p:nvSpPr>
          <p:cNvPr id="6" name="Text 4"/>
          <p:cNvSpPr txBox="1"/>
          <p:nvPr/>
        </p:nvSpPr>
        <p:spPr>
          <a:xfrm>
            <a:off x="823784" y="1729946"/>
            <a:ext cx="6796216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265C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受控实验 Agent Harness：已实施路径 + 目标态治理闭环</a:t>
            </a:r>
            <a:endParaRPr lang="en-US" sz="147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1132703" cy="43248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3784" y="3048000"/>
            <a:ext cx="100913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540" dirty="0"/>
          </a:p>
        </p:txBody>
      </p:sp>
      <p:sp>
        <p:nvSpPr>
          <p:cNvPr id="9" name="Shape 7"/>
          <p:cNvSpPr/>
          <p:nvPr/>
        </p:nvSpPr>
        <p:spPr>
          <a:xfrm>
            <a:off x="1935892" y="3264243"/>
            <a:ext cx="267730" cy="0"/>
          </a:xfrm>
          <a:prstGeom prst="line">
            <a:avLst/>
          </a:prstGeom>
          <a:noFill/>
          <a:ln w="13970">
            <a:solidFill>
              <a:srgbClr val="8CA0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0" y="3048000"/>
            <a:ext cx="1132703" cy="43248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347784" y="3048000"/>
            <a:ext cx="100913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3459892" y="3264243"/>
            <a:ext cx="267730" cy="0"/>
          </a:xfrm>
          <a:prstGeom prst="line">
            <a:avLst/>
          </a:prstGeom>
          <a:noFill/>
          <a:ln w="13970">
            <a:solidFill>
              <a:srgbClr val="8CA0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10000" y="3048000"/>
            <a:ext cx="1132703" cy="43248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71784" y="3048000"/>
            <a:ext cx="100913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4983892" y="3264243"/>
            <a:ext cx="288324" cy="0"/>
          </a:xfrm>
          <a:prstGeom prst="line">
            <a:avLst/>
          </a:prstGeom>
          <a:noFill/>
          <a:ln w="13970">
            <a:solidFill>
              <a:srgbClr val="8CA0A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54594" y="3048000"/>
            <a:ext cx="1132703" cy="43248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16378" y="3048000"/>
            <a:ext cx="100913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6528486" y="3264243"/>
            <a:ext cx="267730" cy="0"/>
          </a:xfrm>
          <a:prstGeom prst="line">
            <a:avLst/>
          </a:prstGeom>
          <a:noFill/>
          <a:ln w="13970">
            <a:solidFill>
              <a:srgbClr val="8CA0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78594" y="3048000"/>
            <a:ext cx="1132703" cy="432486"/>
          </a:xfrm>
          <a:prstGeom prst="roundRect">
            <a:avLst/>
          </a:prstGeom>
          <a:solidFill>
            <a:srgbClr val="FBEFEB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40378" y="3048000"/>
            <a:ext cx="100913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B557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</a:t>
            </a:r>
            <a:endParaRPr lang="en-US" sz="1540" dirty="0"/>
          </a:p>
        </p:txBody>
      </p:sp>
      <p:sp>
        <p:nvSpPr>
          <p:cNvPr id="21" name="Shape 19"/>
          <p:cNvSpPr/>
          <p:nvPr/>
        </p:nvSpPr>
        <p:spPr>
          <a:xfrm>
            <a:off x="741405" y="4407243"/>
            <a:ext cx="8938054" cy="473676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9FB6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3784" y="4427838"/>
            <a:ext cx="8752702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12" b="1" dirty="0">
                <a:solidFill>
                  <a:srgbClr val="274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核心：Agent 不替代业务流水线，而是把实验控制变得可计划、可恢复、可审计。</a:t>
            </a:r>
            <a:endParaRPr lang="en-US" sz="1512" dirty="0"/>
          </a:p>
        </p:txBody>
      </p:sp>
      <p:sp>
        <p:nvSpPr>
          <p:cNvPr id="23" name="Shape 21"/>
          <p:cNvSpPr/>
          <p:nvPr/>
        </p:nvSpPr>
        <p:spPr>
          <a:xfrm>
            <a:off x="10070757" y="3871784"/>
            <a:ext cx="1812324" cy="1812324"/>
          </a:xfrm>
          <a:prstGeom prst="ellipse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6108" y="4057135"/>
            <a:ext cx="1441622" cy="1441622"/>
          </a:xfrm>
          <a:prstGeom prst="ellipse">
            <a:avLst/>
          </a:prstGeom>
          <a:solidFill>
            <a:srgbClr val="E6E6E6"/>
          </a:solidFill>
          <a:ln w="12700">
            <a:solidFill>
              <a:srgbClr val="E6E6E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41459" y="4242486"/>
            <a:ext cx="1070919" cy="1070919"/>
          </a:xfrm>
          <a:prstGeom prst="ellipse">
            <a:avLst/>
          </a:prstGeom>
          <a:solidFill>
            <a:srgbClr val="D2D2D2"/>
          </a:solidFill>
          <a:ln w="12700">
            <a:solidFill>
              <a:srgbClr val="D2D2D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85621" y="4386649"/>
            <a:ext cx="782595" cy="782595"/>
          </a:xfrm>
          <a:prstGeom prst="ellipse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设计定位：Agent 是控制器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在问题进化系统外编排立项规划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23784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973" y="947351"/>
            <a:ext cx="3068595" cy="210064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0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351" y="926757"/>
            <a:ext cx="3398108" cy="21212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0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3189" y="988541"/>
            <a:ext cx="1729946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控制器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8999838" y="988541"/>
            <a:ext cx="2594919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 Evolution 执行层</a:t>
            </a:r>
            <a:endParaRPr lang="en-US" sz="1204" dirty="0"/>
          </a:p>
        </p:txBody>
      </p:sp>
      <p:sp>
        <p:nvSpPr>
          <p:cNvPr id="12" name="Shape 10"/>
          <p:cNvSpPr/>
          <p:nvPr/>
        </p:nvSpPr>
        <p:spPr>
          <a:xfrm>
            <a:off x="288324" y="1524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4270" y="1400432"/>
            <a:ext cx="2574324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把用户目标转为 AgentTask</a:t>
            </a:r>
            <a:endParaRPr lang="en-US" sz="1302" dirty="0"/>
          </a:p>
        </p:txBody>
      </p:sp>
      <p:sp>
        <p:nvSpPr>
          <p:cNvPr id="14" name="Shape 12"/>
          <p:cNvSpPr/>
          <p:nvPr/>
        </p:nvSpPr>
        <p:spPr>
          <a:xfrm>
            <a:off x="288324" y="191529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4270" y="1791730"/>
            <a:ext cx="2574324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生成可审计 AgentPlan</a:t>
            </a:r>
            <a:endParaRPr lang="en-US" sz="1302" dirty="0"/>
          </a:p>
        </p:txBody>
      </p:sp>
      <p:sp>
        <p:nvSpPr>
          <p:cNvPr id="16" name="Shape 14"/>
          <p:cNvSpPr/>
          <p:nvPr/>
        </p:nvSpPr>
        <p:spPr>
          <a:xfrm>
            <a:off x="288324" y="230659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4270" y="2183027"/>
            <a:ext cx="2574324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检查工具、环境、预算和权限</a:t>
            </a:r>
            <a:endParaRPr lang="en-US" sz="1302" dirty="0"/>
          </a:p>
        </p:txBody>
      </p:sp>
      <p:sp>
        <p:nvSpPr>
          <p:cNvPr id="18" name="Shape 16"/>
          <p:cNvSpPr/>
          <p:nvPr/>
        </p:nvSpPr>
        <p:spPr>
          <a:xfrm>
            <a:off x="288324" y="2697892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4270" y="2574324"/>
            <a:ext cx="2574324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2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观察实验产物并输出决策</a:t>
            </a:r>
            <a:endParaRPr lang="en-US" sz="1302" dirty="0"/>
          </a:p>
        </p:txBody>
      </p:sp>
      <p:sp>
        <p:nvSpPr>
          <p:cNvPr id="20" name="Shape 18"/>
          <p:cNvSpPr/>
          <p:nvPr/>
        </p:nvSpPr>
        <p:spPr>
          <a:xfrm>
            <a:off x="8752702" y="1524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58648" y="1400432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样本画像与算子路由</a:t>
            </a:r>
            <a:endParaRPr lang="en-US" sz="1246" dirty="0"/>
          </a:p>
        </p:txBody>
      </p:sp>
      <p:sp>
        <p:nvSpPr>
          <p:cNvPr id="22" name="Shape 20"/>
          <p:cNvSpPr/>
          <p:nvPr/>
        </p:nvSpPr>
        <p:spPr>
          <a:xfrm>
            <a:off x="8752702" y="191529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58648" y="1791730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候选题生成与校验</a:t>
            </a:r>
            <a:endParaRPr lang="en-US" sz="1246" dirty="0"/>
          </a:p>
        </p:txBody>
      </p:sp>
      <p:sp>
        <p:nvSpPr>
          <p:cNvPr id="24" name="Shape 22"/>
          <p:cNvSpPr/>
          <p:nvPr/>
        </p:nvSpPr>
        <p:spPr>
          <a:xfrm>
            <a:off x="8752702" y="230659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8648" y="2183027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作答、Rubric、真实评分</a:t>
            </a:r>
            <a:endParaRPr lang="en-US" sz="1246" dirty="0"/>
          </a:p>
        </p:txBody>
      </p:sp>
      <p:sp>
        <p:nvSpPr>
          <p:cNvPr id="26" name="Shape 24"/>
          <p:cNvSpPr/>
          <p:nvPr/>
        </p:nvSpPr>
        <p:spPr>
          <a:xfrm>
            <a:off x="8752702" y="2697892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58648" y="2574324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效果分析、状态和 Memory 更新</a:t>
            </a:r>
            <a:endParaRPr lang="en-US" sz="1246" dirty="0"/>
          </a:p>
        </p:txBody>
      </p:sp>
      <p:sp>
        <p:nvSpPr>
          <p:cNvPr id="28" name="Shape 26"/>
          <p:cNvSpPr/>
          <p:nvPr/>
        </p:nvSpPr>
        <p:spPr>
          <a:xfrm>
            <a:off x="3480486" y="1503405"/>
            <a:ext cx="4695567" cy="1009135"/>
          </a:xfrm>
          <a:prstGeom prst="roundRect">
            <a:avLst/>
          </a:prstGeom>
          <a:solidFill>
            <a:srgbClr val="DDECF7"/>
          </a:solidFill>
          <a:ln w="11430">
            <a:solidFill>
              <a:srgbClr val="B4C8D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810000" y="1565189"/>
            <a:ext cx="4036540" cy="864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315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两层之间只通过</a:t>
            </a:r>
            <a:endParaRPr lang="en-US" sz="1428" dirty="0"/>
          </a:p>
          <a:p>
            <a:pPr algn="ctr" indent="0" marL="0">
              <a:buNone/>
            </a:pPr>
            <a:r>
              <a:rPr lang="en-US" sz="1428" b="1" dirty="0">
                <a:solidFill>
                  <a:srgbClr val="315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工具契约 + 观察层 + 实验结果记录</a:t>
            </a:r>
            <a:endParaRPr lang="en-US" sz="1428" dirty="0"/>
          </a:p>
          <a:p>
            <a:pPr algn="ctr" indent="0" marL="0">
              <a:buNone/>
            </a:pPr>
            <a:r>
              <a:rPr lang="en-US" sz="1428" b="1" dirty="0">
                <a:solidFill>
                  <a:srgbClr val="315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进行交互</a:t>
            </a:r>
            <a:endParaRPr lang="en-US" sz="1428" dirty="0"/>
          </a:p>
        </p:txBody>
      </p:sp>
      <p:sp>
        <p:nvSpPr>
          <p:cNvPr id="30" name="Shape 28"/>
          <p:cNvSpPr/>
          <p:nvPr/>
        </p:nvSpPr>
        <p:spPr>
          <a:xfrm>
            <a:off x="3192162" y="1977081"/>
            <a:ext cx="267730" cy="0"/>
          </a:xfrm>
          <a:prstGeom prst="line">
            <a:avLst/>
          </a:prstGeom>
          <a:noFill/>
          <a:ln w="20320">
            <a:solidFill>
              <a:srgbClr val="2D709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8196648" y="1977081"/>
            <a:ext cx="350108" cy="0"/>
          </a:xfrm>
          <a:prstGeom prst="line">
            <a:avLst/>
          </a:prstGeom>
          <a:noFill/>
          <a:ln w="20320">
            <a:solidFill>
              <a:srgbClr val="2D7098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44162" y="3295135"/>
            <a:ext cx="4736757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总体架构：两层闭环</a:t>
            </a:r>
            <a:endParaRPr lang="en-US" sz="1820" dirty="0"/>
          </a:p>
        </p:txBody>
      </p:sp>
      <p:sp>
        <p:nvSpPr>
          <p:cNvPr id="33" name="Text 31"/>
          <p:cNvSpPr txBox="1"/>
          <p:nvPr/>
        </p:nvSpPr>
        <p:spPr>
          <a:xfrm>
            <a:off x="164757" y="3665838"/>
            <a:ext cx="638432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6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上层控制执行节奏，下层完成题目进化和评分闭环</a:t>
            </a:r>
            <a:endParaRPr lang="en-US" sz="1176" dirty="0"/>
          </a:p>
        </p:txBody>
      </p:sp>
      <p:sp>
        <p:nvSpPr>
          <p:cNvPr id="34" name="Shape 32"/>
          <p:cNvSpPr/>
          <p:nvPr/>
        </p:nvSpPr>
        <p:spPr>
          <a:xfrm>
            <a:off x="144162" y="3974757"/>
            <a:ext cx="11182865" cy="0"/>
          </a:xfrm>
          <a:prstGeom prst="line">
            <a:avLst/>
          </a:prstGeom>
          <a:noFill/>
          <a:ln w="12700">
            <a:solidFill>
              <a:srgbClr val="95A3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5351" y="4263081"/>
            <a:ext cx="2986216" cy="30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D709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Harness 控制层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144162" y="4654378"/>
            <a:ext cx="1215081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205946" y="4654378"/>
            <a:ext cx="1091513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AgentTask</a:t>
            </a:r>
            <a:endParaRPr lang="en-US" sz="1190" dirty="0"/>
          </a:p>
        </p:txBody>
      </p:sp>
      <p:sp>
        <p:nvSpPr>
          <p:cNvPr id="38" name="Shape 36"/>
          <p:cNvSpPr/>
          <p:nvPr/>
        </p:nvSpPr>
        <p:spPr>
          <a:xfrm>
            <a:off x="1379838" y="4880919"/>
            <a:ext cx="123568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544595" y="4613189"/>
            <a:ext cx="1091513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1606378" y="4613189"/>
            <a:ext cx="967946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lang="en-US" sz="1190" dirty="0"/>
          </a:p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Builder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2656703" y="4880919"/>
            <a:ext cx="226541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924432" y="4633784"/>
            <a:ext cx="1132703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986216" y="4633784"/>
            <a:ext cx="1009135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190" dirty="0"/>
          </a:p>
        </p:txBody>
      </p:sp>
      <p:sp>
        <p:nvSpPr>
          <p:cNvPr id="44" name="Shape 42"/>
          <p:cNvSpPr/>
          <p:nvPr/>
        </p:nvSpPr>
        <p:spPr>
          <a:xfrm>
            <a:off x="4077730" y="4880919"/>
            <a:ext cx="205946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324865" y="4613189"/>
            <a:ext cx="1112108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386649" y="4613189"/>
            <a:ext cx="988541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190" dirty="0"/>
          </a:p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5457567" y="4880919"/>
            <a:ext cx="185351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684108" y="4613189"/>
            <a:ext cx="1112108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5745892" y="4613189"/>
            <a:ext cx="988541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</a:t>
            </a:r>
            <a:endParaRPr lang="en-US" sz="1190" dirty="0"/>
          </a:p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</a:t>
            </a:r>
            <a:endParaRPr lang="en-US" sz="1190" dirty="0"/>
          </a:p>
        </p:txBody>
      </p:sp>
      <p:sp>
        <p:nvSpPr>
          <p:cNvPr id="50" name="Shape 48"/>
          <p:cNvSpPr/>
          <p:nvPr/>
        </p:nvSpPr>
        <p:spPr>
          <a:xfrm>
            <a:off x="6816811" y="4880919"/>
            <a:ext cx="205946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063946" y="4633784"/>
            <a:ext cx="1132703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125730" y="4633784"/>
            <a:ext cx="1009135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Observer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8217243" y="4880919"/>
            <a:ext cx="144162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402594" y="4633784"/>
            <a:ext cx="1132703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464378" y="4633784"/>
            <a:ext cx="1009135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90" dirty="0"/>
          </a:p>
        </p:txBody>
      </p:sp>
      <p:sp>
        <p:nvSpPr>
          <p:cNvPr id="56" name="Shape 54"/>
          <p:cNvSpPr/>
          <p:nvPr/>
        </p:nvSpPr>
        <p:spPr>
          <a:xfrm>
            <a:off x="9555892" y="4880919"/>
            <a:ext cx="144162" cy="0"/>
          </a:xfrm>
          <a:prstGeom prst="line">
            <a:avLst/>
          </a:prstGeom>
          <a:noFill/>
          <a:ln w="12700">
            <a:solidFill>
              <a:srgbClr val="7895A4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741243" y="4633784"/>
            <a:ext cx="1112108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9803027" y="4633784"/>
            <a:ext cx="988541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Reporter</a:t>
            </a:r>
            <a:endParaRPr lang="en-US" sz="1190" dirty="0"/>
          </a:p>
        </p:txBody>
      </p:sp>
      <p:sp>
        <p:nvSpPr>
          <p:cNvPr id="59" name="Text 57"/>
          <p:cNvSpPr txBox="1"/>
          <p:nvPr/>
        </p:nvSpPr>
        <p:spPr>
          <a:xfrm>
            <a:off x="4819135" y="4077730"/>
            <a:ext cx="4324865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必要时重规划，重新调整预算</a:t>
            </a:r>
            <a:endParaRPr lang="en-US" sz="1302" dirty="0"/>
          </a:p>
        </p:txBody>
      </p:sp>
      <p:sp>
        <p:nvSpPr>
          <p:cNvPr id="60" name="Shape 58"/>
          <p:cNvSpPr/>
          <p:nvPr/>
        </p:nvSpPr>
        <p:spPr>
          <a:xfrm flipV="1">
            <a:off x="3521676" y="4407243"/>
            <a:ext cx="0" cy="205946"/>
          </a:xfrm>
          <a:prstGeom prst="line">
            <a:avLst/>
          </a:prstGeom>
          <a:noFill/>
          <a:ln w="13970">
            <a:solidFill>
              <a:srgbClr val="2D709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21676" y="4407243"/>
            <a:ext cx="5416378" cy="0"/>
          </a:xfrm>
          <a:prstGeom prst="line">
            <a:avLst/>
          </a:prstGeom>
          <a:noFill/>
          <a:ln w="13970">
            <a:solidFill>
              <a:srgbClr val="2D709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38054" y="4407243"/>
            <a:ext cx="0" cy="205946"/>
          </a:xfrm>
          <a:prstGeom prst="line">
            <a:avLst/>
          </a:prstGeom>
          <a:noFill/>
          <a:ln w="13970">
            <a:solidFill>
              <a:srgbClr val="2D709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02594" y="5169243"/>
            <a:ext cx="1235676" cy="30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2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下一步决策</a:t>
            </a:r>
            <a:endParaRPr lang="en-US" sz="1162" dirty="0"/>
          </a:p>
        </p:txBody>
      </p:sp>
      <p:sp>
        <p:nvSpPr>
          <p:cNvPr id="64" name="Text 62"/>
          <p:cNvSpPr txBox="1"/>
          <p:nvPr/>
        </p:nvSpPr>
        <p:spPr>
          <a:xfrm>
            <a:off x="9823621" y="5169243"/>
            <a:ext cx="1132703" cy="30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2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人工审计</a:t>
            </a:r>
            <a:endParaRPr lang="en-US" sz="1162" dirty="0"/>
          </a:p>
        </p:txBody>
      </p:sp>
      <p:sp>
        <p:nvSpPr>
          <p:cNvPr id="65" name="Shape 63"/>
          <p:cNvSpPr/>
          <p:nvPr/>
        </p:nvSpPr>
        <p:spPr>
          <a:xfrm>
            <a:off x="5601730" y="5375189"/>
            <a:ext cx="3315730" cy="576649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C5CCC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5745892" y="5395784"/>
            <a:ext cx="3027405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工具执行产生实验产物</a:t>
            </a:r>
            <a:endParaRPr lang="en-US" sz="1204" dirty="0"/>
          </a:p>
          <a:p>
            <a:pPr algn="ctr" indent="0" marL="0">
              <a:buNone/>
            </a:pPr>
            <a:r>
              <a:rPr lang="en-US" sz="120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观察层汇总为可决策状态</a:t>
            </a:r>
            <a:endParaRPr lang="en-US" sz="1204" dirty="0"/>
          </a:p>
        </p:txBody>
      </p:sp>
      <p:sp>
        <p:nvSpPr>
          <p:cNvPr id="67" name="Text 65"/>
          <p:cNvSpPr txBox="1"/>
          <p:nvPr/>
        </p:nvSpPr>
        <p:spPr>
          <a:xfrm>
            <a:off x="164757" y="5890054"/>
            <a:ext cx="3295135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Evolution 执行层</a:t>
            </a:r>
            <a:endParaRPr lang="en-US" sz="1288" dirty="0"/>
          </a:p>
        </p:txBody>
      </p:sp>
      <p:sp>
        <p:nvSpPr>
          <p:cNvPr id="68" name="Shape 66"/>
          <p:cNvSpPr/>
          <p:nvPr/>
        </p:nvSpPr>
        <p:spPr>
          <a:xfrm>
            <a:off x="164757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226541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148" dirty="0"/>
          </a:p>
        </p:txBody>
      </p:sp>
      <p:sp>
        <p:nvSpPr>
          <p:cNvPr id="70" name="Shape 68"/>
          <p:cNvSpPr/>
          <p:nvPr/>
        </p:nvSpPr>
        <p:spPr>
          <a:xfrm>
            <a:off x="1400432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462216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1524000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1148" dirty="0"/>
          </a:p>
        </p:txBody>
      </p:sp>
      <p:sp>
        <p:nvSpPr>
          <p:cNvPr id="73" name="Shape 71"/>
          <p:cNvSpPr/>
          <p:nvPr/>
        </p:nvSpPr>
        <p:spPr>
          <a:xfrm>
            <a:off x="2697892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2759676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2821459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48" dirty="0"/>
          </a:p>
        </p:txBody>
      </p:sp>
      <p:sp>
        <p:nvSpPr>
          <p:cNvPr id="76" name="Shape 74"/>
          <p:cNvSpPr/>
          <p:nvPr/>
        </p:nvSpPr>
        <p:spPr>
          <a:xfrm>
            <a:off x="3995351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057135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78" name="Text 76"/>
          <p:cNvSpPr txBox="1"/>
          <p:nvPr/>
        </p:nvSpPr>
        <p:spPr>
          <a:xfrm>
            <a:off x="4118919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148" dirty="0"/>
          </a:p>
        </p:txBody>
      </p:sp>
      <p:sp>
        <p:nvSpPr>
          <p:cNvPr id="79" name="Shape 77"/>
          <p:cNvSpPr/>
          <p:nvPr/>
        </p:nvSpPr>
        <p:spPr>
          <a:xfrm>
            <a:off x="5292811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354594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81" name="Text 79"/>
          <p:cNvSpPr txBox="1"/>
          <p:nvPr/>
        </p:nvSpPr>
        <p:spPr>
          <a:xfrm>
            <a:off x="5416378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148" dirty="0"/>
          </a:p>
        </p:txBody>
      </p:sp>
      <p:sp>
        <p:nvSpPr>
          <p:cNvPr id="82" name="Shape 80"/>
          <p:cNvSpPr/>
          <p:nvPr/>
        </p:nvSpPr>
        <p:spPr>
          <a:xfrm>
            <a:off x="6590270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652054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84" name="Text 82"/>
          <p:cNvSpPr txBox="1"/>
          <p:nvPr/>
        </p:nvSpPr>
        <p:spPr>
          <a:xfrm>
            <a:off x="6713838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1148" dirty="0"/>
          </a:p>
        </p:txBody>
      </p:sp>
      <p:sp>
        <p:nvSpPr>
          <p:cNvPr id="85" name="Shape 83"/>
          <p:cNvSpPr/>
          <p:nvPr/>
        </p:nvSpPr>
        <p:spPr>
          <a:xfrm>
            <a:off x="7887730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949513" y="6178378"/>
            <a:ext cx="1215081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8011297" y="6178378"/>
            <a:ext cx="1091513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148" dirty="0"/>
          </a:p>
        </p:txBody>
      </p:sp>
      <p:sp>
        <p:nvSpPr>
          <p:cNvPr id="88" name="Shape 86"/>
          <p:cNvSpPr/>
          <p:nvPr/>
        </p:nvSpPr>
        <p:spPr>
          <a:xfrm>
            <a:off x="9185189" y="6384324"/>
            <a:ext cx="20595" cy="0"/>
          </a:xfrm>
          <a:prstGeom prst="line">
            <a:avLst/>
          </a:prstGeom>
          <a:noFill/>
          <a:ln w="11430">
            <a:solidFill>
              <a:srgbClr val="7BAF97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9246973" y="6178378"/>
            <a:ext cx="782595" cy="411892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0" name="Text 88"/>
          <p:cNvSpPr txBox="1"/>
          <p:nvPr/>
        </p:nvSpPr>
        <p:spPr>
          <a:xfrm>
            <a:off x="9308757" y="6178378"/>
            <a:ext cx="659027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48" dirty="0"/>
          </a:p>
        </p:txBody>
      </p:sp>
      <p:sp>
        <p:nvSpPr>
          <p:cNvPr id="91" name="Shape 89"/>
          <p:cNvSpPr/>
          <p:nvPr/>
        </p:nvSpPr>
        <p:spPr>
          <a:xfrm>
            <a:off x="82378" y="6075405"/>
            <a:ext cx="10153135" cy="638432"/>
          </a:xfrm>
          <a:prstGeom prst="round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684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运行主链：从任务到报告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支持恢复和复盘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432" y="967946"/>
            <a:ext cx="2141838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20811" y="988541"/>
            <a:ext cx="1977081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AgentTask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 / input_file / budget</a:t>
            </a:r>
            <a:endParaRPr lang="en-US" sz="1162" dirty="0"/>
          </a:p>
        </p:txBody>
      </p:sp>
      <p:sp>
        <p:nvSpPr>
          <p:cNvPr id="10" name="Shape 8"/>
          <p:cNvSpPr/>
          <p:nvPr/>
        </p:nvSpPr>
        <p:spPr>
          <a:xfrm>
            <a:off x="267730" y="967946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514" y="967946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90" dirty="0"/>
          </a:p>
        </p:txBody>
      </p:sp>
      <p:sp>
        <p:nvSpPr>
          <p:cNvPr id="12" name="Shape 10"/>
          <p:cNvSpPr/>
          <p:nvPr/>
        </p:nvSpPr>
        <p:spPr>
          <a:xfrm>
            <a:off x="3480486" y="967946"/>
            <a:ext cx="2141838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62865" y="988541"/>
            <a:ext cx="1977081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创建运行目录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agent_runs/&lt;date&gt;/&lt;id&gt;</a:t>
            </a:r>
            <a:endParaRPr lang="en-US" sz="1162" dirty="0"/>
          </a:p>
        </p:txBody>
      </p:sp>
      <p:sp>
        <p:nvSpPr>
          <p:cNvPr id="14" name="Shape 12"/>
          <p:cNvSpPr/>
          <p:nvPr/>
        </p:nvSpPr>
        <p:spPr>
          <a:xfrm>
            <a:off x="3109784" y="967946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71567" y="967946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6322540" y="967946"/>
            <a:ext cx="2121243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4919" y="988541"/>
            <a:ext cx="1956486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生成计划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agent_plan.json</a:t>
            </a:r>
            <a:endParaRPr lang="en-US" sz="1162" dirty="0"/>
          </a:p>
        </p:txBody>
      </p:sp>
      <p:sp>
        <p:nvSpPr>
          <p:cNvPr id="18" name="Shape 16"/>
          <p:cNvSpPr/>
          <p:nvPr/>
        </p:nvSpPr>
        <p:spPr>
          <a:xfrm>
            <a:off x="5951838" y="967946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13621" y="967946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9164594" y="967946"/>
            <a:ext cx="2121243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46973" y="988541"/>
            <a:ext cx="1956486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构建上下文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context_pack.json</a:t>
            </a:r>
            <a:endParaRPr lang="en-US" sz="1162" dirty="0"/>
          </a:p>
        </p:txBody>
      </p:sp>
      <p:sp>
        <p:nvSpPr>
          <p:cNvPr id="22" name="Shape 20"/>
          <p:cNvSpPr/>
          <p:nvPr/>
        </p:nvSpPr>
        <p:spPr>
          <a:xfrm>
            <a:off x="8793892" y="967946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55675" y="967946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90" dirty="0"/>
          </a:p>
        </p:txBody>
      </p:sp>
      <p:sp>
        <p:nvSpPr>
          <p:cNvPr id="24" name="Shape 22"/>
          <p:cNvSpPr/>
          <p:nvPr/>
        </p:nvSpPr>
        <p:spPr>
          <a:xfrm>
            <a:off x="638432" y="2038865"/>
            <a:ext cx="2141838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20811" y="2059459"/>
            <a:ext cx="1977081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输出报告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agent_report.md</a:t>
            </a:r>
            <a:endParaRPr lang="en-US" sz="1162" dirty="0"/>
          </a:p>
        </p:txBody>
      </p:sp>
      <p:sp>
        <p:nvSpPr>
          <p:cNvPr id="26" name="Shape 24"/>
          <p:cNvSpPr/>
          <p:nvPr/>
        </p:nvSpPr>
        <p:spPr>
          <a:xfrm>
            <a:off x="267730" y="2038865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9514" y="2038865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90" dirty="0"/>
          </a:p>
        </p:txBody>
      </p:sp>
      <p:sp>
        <p:nvSpPr>
          <p:cNvPr id="28" name="Shape 26"/>
          <p:cNvSpPr/>
          <p:nvPr/>
        </p:nvSpPr>
        <p:spPr>
          <a:xfrm>
            <a:off x="3480486" y="2038865"/>
            <a:ext cx="2141838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562865" y="2059459"/>
            <a:ext cx="1977081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写入决策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agent_decisions.jsonl</a:t>
            </a:r>
            <a:endParaRPr lang="en-US" sz="1162" dirty="0"/>
          </a:p>
        </p:txBody>
      </p:sp>
      <p:sp>
        <p:nvSpPr>
          <p:cNvPr id="30" name="Shape 28"/>
          <p:cNvSpPr/>
          <p:nvPr/>
        </p:nvSpPr>
        <p:spPr>
          <a:xfrm>
            <a:off x="3109784" y="2038865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71567" y="2038865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90" dirty="0"/>
          </a:p>
        </p:txBody>
      </p:sp>
      <p:sp>
        <p:nvSpPr>
          <p:cNvPr id="32" name="Shape 30"/>
          <p:cNvSpPr/>
          <p:nvPr/>
        </p:nvSpPr>
        <p:spPr>
          <a:xfrm>
            <a:off x="6322540" y="2038865"/>
            <a:ext cx="2121243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04919" y="2059459"/>
            <a:ext cx="1956486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观察产物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agent_observation.json</a:t>
            </a:r>
            <a:endParaRPr lang="en-US" sz="1162" dirty="0"/>
          </a:p>
        </p:txBody>
      </p:sp>
      <p:sp>
        <p:nvSpPr>
          <p:cNvPr id="34" name="Shape 32"/>
          <p:cNvSpPr/>
          <p:nvPr/>
        </p:nvSpPr>
        <p:spPr>
          <a:xfrm>
            <a:off x="5951838" y="2038865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13621" y="2038865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9164594" y="2038865"/>
            <a:ext cx="2121243" cy="700216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4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246973" y="2059459"/>
            <a:ext cx="1956486" cy="65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/ run / resume</a:t>
            </a:r>
            <a:endParaRPr lang="en-US" sz="1162" dirty="0"/>
          </a:p>
        </p:txBody>
      </p:sp>
      <p:sp>
        <p:nvSpPr>
          <p:cNvPr id="38" name="Shape 36"/>
          <p:cNvSpPr/>
          <p:nvPr/>
        </p:nvSpPr>
        <p:spPr>
          <a:xfrm>
            <a:off x="8793892" y="2038865"/>
            <a:ext cx="329514" cy="329514"/>
          </a:xfrm>
          <a:prstGeom prst="roundRect">
            <a:avLst/>
          </a:prstGeom>
          <a:solidFill>
            <a:srgbClr val="F5FAFC"/>
          </a:solidFill>
          <a:ln w="11430">
            <a:solidFill>
              <a:srgbClr val="8FAFB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55675" y="2038865"/>
            <a:ext cx="205946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90" dirty="0"/>
          </a:p>
        </p:txBody>
      </p:sp>
      <p:sp>
        <p:nvSpPr>
          <p:cNvPr id="40" name="Shape 38"/>
          <p:cNvSpPr/>
          <p:nvPr/>
        </p:nvSpPr>
        <p:spPr>
          <a:xfrm>
            <a:off x="2800865" y="1318054"/>
            <a:ext cx="267730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642919" y="1318054"/>
            <a:ext cx="267730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464378" y="1318054"/>
            <a:ext cx="288324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1306432" y="1688757"/>
            <a:ext cx="0" cy="288324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8464378" y="2388973"/>
            <a:ext cx="288324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5642919" y="2388973"/>
            <a:ext cx="267730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2800865" y="2388973"/>
            <a:ext cx="267730" cy="0"/>
          </a:xfrm>
          <a:prstGeom prst="line">
            <a:avLst/>
          </a:prstGeom>
          <a:noFill/>
          <a:ln w="12700">
            <a:solidFill>
              <a:srgbClr val="8AA2A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67730" y="2821459"/>
            <a:ext cx="11018108" cy="350108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B9CB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9514" y="2821459"/>
            <a:ext cx="10894540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6" b="1" dirty="0">
                <a:solidFill>
                  <a:srgbClr val="36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状态、事件、观察、决策、报告分开保存：既能回放发生了什么，也能定位下一次从哪里恢复。</a:t>
            </a:r>
            <a:endParaRPr lang="en-US" sz="1246" dirty="0"/>
          </a:p>
        </p:txBody>
      </p:sp>
      <p:sp>
        <p:nvSpPr>
          <p:cNvPr id="49" name="Text 47"/>
          <p:cNvSpPr txBox="1"/>
          <p:nvPr/>
        </p:nvSpPr>
        <p:spPr>
          <a:xfrm>
            <a:off x="144162" y="3253946"/>
            <a:ext cx="5972432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9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计划生成：选择搜索模式</a:t>
            </a:r>
            <a:endParaRPr lang="en-US" sz="1890" dirty="0"/>
          </a:p>
        </p:txBody>
      </p:sp>
      <p:sp>
        <p:nvSpPr>
          <p:cNvPr id="50" name="Text 48"/>
          <p:cNvSpPr txBox="1"/>
          <p:nvPr/>
        </p:nvSpPr>
        <p:spPr>
          <a:xfrm>
            <a:off x="164757" y="3645243"/>
            <a:ext cx="11121081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2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 输出结构化 step：工具、参数、前置条件、预期产物、成功条件、失败处理和预算，便于后续可恢复</a:t>
            </a:r>
            <a:endParaRPr lang="en-US" sz="1092" dirty="0"/>
          </a:p>
        </p:txBody>
      </p:sp>
      <p:sp>
        <p:nvSpPr>
          <p:cNvPr id="51" name="Shape 49"/>
          <p:cNvSpPr/>
          <p:nvPr/>
        </p:nvSpPr>
        <p:spPr>
          <a:xfrm>
            <a:off x="144162" y="3892378"/>
            <a:ext cx="11141675" cy="0"/>
          </a:xfrm>
          <a:prstGeom prst="line">
            <a:avLst/>
          </a:prstGeom>
          <a:noFill/>
          <a:ln w="12700">
            <a:solidFill>
              <a:srgbClr val="95A3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5568" y="4036541"/>
            <a:ext cx="4530811" cy="43248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2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1029730" y="4036541"/>
            <a:ext cx="4242486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目标包含：边界 / 多算子 / 比较</a:t>
            </a:r>
            <a:endParaRPr lang="en-US" sz="1246" dirty="0"/>
          </a:p>
        </p:txBody>
      </p:sp>
      <p:sp>
        <p:nvSpPr>
          <p:cNvPr id="54" name="Shape 52"/>
          <p:cNvSpPr/>
          <p:nvPr/>
        </p:nvSpPr>
        <p:spPr>
          <a:xfrm>
            <a:off x="5457567" y="4252784"/>
            <a:ext cx="864973" cy="0"/>
          </a:xfrm>
          <a:prstGeom prst="line">
            <a:avLst/>
          </a:prstGeom>
          <a:noFill/>
          <a:ln w="12700">
            <a:solidFill>
              <a:srgbClr val="7D929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363730" y="4036541"/>
            <a:ext cx="3912973" cy="43248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6425513" y="4036541"/>
            <a:ext cx="378940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multi_operator_branch</a:t>
            </a:r>
            <a:endParaRPr lang="en-US" sz="1288" dirty="0"/>
          </a:p>
        </p:txBody>
      </p:sp>
      <p:sp>
        <p:nvSpPr>
          <p:cNvPr id="57" name="Shape 55"/>
          <p:cNvSpPr/>
          <p:nvPr/>
        </p:nvSpPr>
        <p:spPr>
          <a:xfrm>
            <a:off x="885568" y="4613189"/>
            <a:ext cx="4530811" cy="43248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2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1029730" y="4613189"/>
            <a:ext cx="4242486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目标包含：组合 / 叠加 / 二次 / vertical</a:t>
            </a:r>
            <a:endParaRPr lang="en-US" sz="1246" dirty="0"/>
          </a:p>
        </p:txBody>
      </p:sp>
      <p:sp>
        <p:nvSpPr>
          <p:cNvPr id="59" name="Shape 57"/>
          <p:cNvSpPr/>
          <p:nvPr/>
        </p:nvSpPr>
        <p:spPr>
          <a:xfrm>
            <a:off x="5457567" y="4829432"/>
            <a:ext cx="864973" cy="0"/>
          </a:xfrm>
          <a:prstGeom prst="line">
            <a:avLst/>
          </a:prstGeom>
          <a:noFill/>
          <a:ln w="12700">
            <a:solidFill>
              <a:srgbClr val="7D929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363730" y="4613189"/>
            <a:ext cx="3912973" cy="43248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425513" y="4613189"/>
            <a:ext cx="378940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multi_operator_vertical_stack</a:t>
            </a:r>
            <a:endParaRPr lang="en-US" sz="1288" dirty="0"/>
          </a:p>
        </p:txBody>
      </p:sp>
      <p:sp>
        <p:nvSpPr>
          <p:cNvPr id="62" name="Shape 60"/>
          <p:cNvSpPr/>
          <p:nvPr/>
        </p:nvSpPr>
        <p:spPr>
          <a:xfrm>
            <a:off x="885568" y="5189838"/>
            <a:ext cx="4530811" cy="43248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2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1029730" y="5189838"/>
            <a:ext cx="4242486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目标包含：传统 / 逐轮 / 主链</a:t>
            </a:r>
            <a:endParaRPr lang="en-US" sz="1246" dirty="0"/>
          </a:p>
        </p:txBody>
      </p:sp>
      <p:sp>
        <p:nvSpPr>
          <p:cNvPr id="64" name="Shape 62"/>
          <p:cNvSpPr/>
          <p:nvPr/>
        </p:nvSpPr>
        <p:spPr>
          <a:xfrm>
            <a:off x="5457567" y="5406081"/>
            <a:ext cx="864973" cy="0"/>
          </a:xfrm>
          <a:prstGeom prst="line">
            <a:avLst/>
          </a:prstGeom>
          <a:noFill/>
          <a:ln w="12700">
            <a:solidFill>
              <a:srgbClr val="7D929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363730" y="5189838"/>
            <a:ext cx="3912973" cy="43248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6425513" y="5189838"/>
            <a:ext cx="378940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single_branch</a:t>
            </a:r>
            <a:endParaRPr lang="en-US" sz="1288" dirty="0"/>
          </a:p>
        </p:txBody>
      </p:sp>
      <p:sp>
        <p:nvSpPr>
          <p:cNvPr id="67" name="Shape 65"/>
          <p:cNvSpPr/>
          <p:nvPr/>
        </p:nvSpPr>
        <p:spPr>
          <a:xfrm>
            <a:off x="885568" y="5766486"/>
            <a:ext cx="4530811" cy="43248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9C2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1029730" y="5766486"/>
            <a:ext cx="4242486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只读检查已有实验</a:t>
            </a:r>
            <a:endParaRPr lang="en-US" sz="1246" dirty="0"/>
          </a:p>
        </p:txBody>
      </p:sp>
      <p:sp>
        <p:nvSpPr>
          <p:cNvPr id="69" name="Shape 67"/>
          <p:cNvSpPr/>
          <p:nvPr/>
        </p:nvSpPr>
        <p:spPr>
          <a:xfrm>
            <a:off x="5457567" y="5982730"/>
            <a:ext cx="864973" cy="0"/>
          </a:xfrm>
          <a:prstGeom prst="line">
            <a:avLst/>
          </a:prstGeom>
          <a:noFill/>
          <a:ln w="12700">
            <a:solidFill>
              <a:srgbClr val="7D929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363730" y="5766486"/>
            <a:ext cx="3912973" cy="43248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6425513" y="5766486"/>
            <a:ext cx="378940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report_only review</a:t>
            </a:r>
            <a:endParaRPr lang="en-US" sz="1288" dirty="0"/>
          </a:p>
        </p:txBody>
      </p:sp>
      <p:sp>
        <p:nvSpPr>
          <p:cNvPr id="72" name="Shape 70"/>
          <p:cNvSpPr/>
          <p:nvPr/>
        </p:nvSpPr>
        <p:spPr>
          <a:xfrm>
            <a:off x="1153297" y="6363730"/>
            <a:ext cx="8793892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BBCBD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215081" y="6363730"/>
            <a:ext cx="8670324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3560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无法从目标判断时：默认 multi_operator_branch，并在记录中写明</a:t>
            </a:r>
            <a:endParaRPr lang="en-US" sz="114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治理边界：Policy Guard 防止越权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计划必须显式工具、环境、预算和报告约束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782595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78" y="864973"/>
            <a:ext cx="2553730" cy="370703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8CAB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4162" y="864973"/>
            <a:ext cx="2430162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610865" y="864973"/>
            <a:ext cx="2553730" cy="370703"/>
          </a:xfrm>
          <a:prstGeom prst="roundRect">
            <a:avLst/>
          </a:prstGeom>
          <a:solidFill>
            <a:srgbClr val="FFFBF7"/>
          </a:solidFill>
          <a:ln w="11430">
            <a:solidFill>
              <a:srgbClr val="AA96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2648" y="864973"/>
            <a:ext cx="2430162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B557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44162" y="1462216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0108" y="1338649"/>
            <a:ext cx="560173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登记工具：check / run / resume / observe / decide / report</a:t>
            </a:r>
            <a:endParaRPr lang="en-US" sz="1218" dirty="0"/>
          </a:p>
        </p:txBody>
      </p:sp>
      <p:sp>
        <p:nvSpPr>
          <p:cNvPr id="14" name="Shape 12"/>
          <p:cNvSpPr/>
          <p:nvPr/>
        </p:nvSpPr>
        <p:spPr>
          <a:xfrm>
            <a:off x="144162" y="1874108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108" y="1750541"/>
            <a:ext cx="560173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白名单环境变量：input_file、search_mode、boundary_target等</a:t>
            </a:r>
            <a:endParaRPr lang="en-US" sz="1218" dirty="0"/>
          </a:p>
        </p:txBody>
      </p:sp>
      <p:sp>
        <p:nvSpPr>
          <p:cNvPr id="16" name="Shape 14"/>
          <p:cNvSpPr/>
          <p:nvPr/>
        </p:nvSpPr>
        <p:spPr>
          <a:xfrm>
            <a:off x="144162" y="2286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0108" y="2162432"/>
            <a:ext cx="560173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业务失败按业务路径处理：score_increased、not_applicable、</a:t>
            </a:r>
            <a:endParaRPr lang="en-US" sz="1218" dirty="0"/>
          </a:p>
          <a:p>
            <a:pPr algn="l" indent="0" marL="0">
              <a:buNone/>
            </a:pPr>
            <a:r>
              <a:rPr lang="en-US" sz="1218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validation_failed</a:t>
            </a:r>
            <a:endParaRPr lang="en-US" sz="1218" dirty="0"/>
          </a:p>
        </p:txBody>
      </p:sp>
      <p:sp>
        <p:nvSpPr>
          <p:cNvPr id="18" name="Shape 16"/>
          <p:cNvSpPr/>
          <p:nvPr/>
        </p:nvSpPr>
        <p:spPr>
          <a:xfrm>
            <a:off x="6652054" y="1462216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338649"/>
            <a:ext cx="5045676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自动修改 Prompt、Router、Rubric、算子文件或 Schema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6652054" y="1874108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750541"/>
            <a:ext cx="5045676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active 全局 Memory，或让 Memory 越过 Router</a:t>
            </a:r>
            <a:endParaRPr lang="en-US" sz="1190" dirty="0"/>
          </a:p>
        </p:txBody>
      </p:sp>
      <p:sp>
        <p:nvSpPr>
          <p:cNvPr id="22" name="Shape 20"/>
          <p:cNvSpPr/>
          <p:nvPr/>
        </p:nvSpPr>
        <p:spPr>
          <a:xfrm>
            <a:off x="6652054" y="2286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2162432"/>
            <a:ext cx="5045676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把自动评分写成“已确认有效边界”</a:t>
            </a:r>
            <a:endParaRPr lang="en-US" sz="1190" dirty="0"/>
          </a:p>
        </p:txBody>
      </p:sp>
      <p:sp>
        <p:nvSpPr>
          <p:cNvPr id="24" name="Shape 22"/>
          <p:cNvSpPr/>
          <p:nvPr/>
        </p:nvSpPr>
        <p:spPr>
          <a:xfrm>
            <a:off x="6652054" y="2697892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2574324"/>
            <a:ext cx="5045676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用文件存在替代 manifest 完整性判断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1276865" y="2800865"/>
            <a:ext cx="8649730" cy="370703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DCC9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38649" y="2800865"/>
            <a:ext cx="8526162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核心原则：系统失败和业务失败分流；真实评分只是边界候选证据，需要人工确认</a:t>
            </a:r>
            <a:endParaRPr lang="en-US" sz="1218" dirty="0"/>
          </a:p>
        </p:txBody>
      </p:sp>
      <p:sp>
        <p:nvSpPr>
          <p:cNvPr id="28" name="Text 26"/>
          <p:cNvSpPr txBox="1"/>
          <p:nvPr/>
        </p:nvSpPr>
        <p:spPr>
          <a:xfrm>
            <a:off x="144162" y="3377514"/>
            <a:ext cx="6178378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9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工具执行：统一封装现有入口</a:t>
            </a:r>
            <a:endParaRPr lang="en-US" sz="1890" dirty="0"/>
          </a:p>
        </p:txBody>
      </p:sp>
      <p:sp>
        <p:nvSpPr>
          <p:cNvPr id="29" name="Text 27"/>
          <p:cNvSpPr txBox="1"/>
          <p:nvPr/>
        </p:nvSpPr>
        <p:spPr>
          <a:xfrm>
            <a:off x="164757" y="3768811"/>
            <a:ext cx="6178378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8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不重新实现编排逻辑，只调用现有工具</a:t>
            </a:r>
            <a:endParaRPr lang="en-US" sz="1148" dirty="0"/>
          </a:p>
        </p:txBody>
      </p:sp>
      <p:sp>
        <p:nvSpPr>
          <p:cNvPr id="30" name="Shape 28"/>
          <p:cNvSpPr/>
          <p:nvPr/>
        </p:nvSpPr>
        <p:spPr>
          <a:xfrm>
            <a:off x="144162" y="4036541"/>
            <a:ext cx="11162270" cy="0"/>
          </a:xfrm>
          <a:prstGeom prst="line">
            <a:avLst/>
          </a:prstGeom>
          <a:noFill/>
          <a:ln w="12700">
            <a:solidFill>
              <a:srgbClr val="95A3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4162" y="4139514"/>
            <a:ext cx="3109784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05946" y="4139514"/>
            <a:ext cx="2986216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check_environment</a:t>
            </a:r>
            <a:endParaRPr lang="en-US" sz="1204" dirty="0"/>
          </a:p>
        </p:txBody>
      </p:sp>
      <p:sp>
        <p:nvSpPr>
          <p:cNvPr id="33" name="Text 31"/>
          <p:cNvSpPr txBox="1"/>
          <p:nvPr/>
        </p:nvSpPr>
        <p:spPr>
          <a:xfrm>
            <a:off x="185351" y="4572000"/>
            <a:ext cx="3150973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Bash、输入样本、依赖和 API 配置</a:t>
            </a:r>
            <a:endParaRPr lang="en-US" sz="1162" dirty="0"/>
          </a:p>
        </p:txBody>
      </p:sp>
      <p:sp>
        <p:nvSpPr>
          <p:cNvPr id="34" name="Shape 32"/>
          <p:cNvSpPr/>
          <p:nvPr/>
        </p:nvSpPr>
        <p:spPr>
          <a:xfrm>
            <a:off x="638432" y="5086865"/>
            <a:ext cx="2265405" cy="350108"/>
          </a:xfrm>
          <a:prstGeom prst="roundRect">
            <a:avLst/>
          </a:prstGeom>
          <a:solidFill>
            <a:srgbClr val="F5F7F7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00216" y="5086865"/>
            <a:ext cx="2141838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6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observe_experiment</a:t>
            </a:r>
            <a:endParaRPr lang="en-US" sz="1106" dirty="0"/>
          </a:p>
        </p:txBody>
      </p:sp>
      <p:sp>
        <p:nvSpPr>
          <p:cNvPr id="36" name="Text 34"/>
          <p:cNvSpPr txBox="1"/>
          <p:nvPr/>
        </p:nvSpPr>
        <p:spPr>
          <a:xfrm>
            <a:off x="185351" y="5478162"/>
            <a:ext cx="3150973" cy="61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summary、manifest、statistics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JSONL</a:t>
            </a:r>
            <a:endParaRPr lang="en-US" sz="1162" dirty="0"/>
          </a:p>
        </p:txBody>
      </p:sp>
      <p:sp>
        <p:nvSpPr>
          <p:cNvPr id="37" name="Shape 35"/>
          <p:cNvSpPr/>
          <p:nvPr/>
        </p:nvSpPr>
        <p:spPr>
          <a:xfrm>
            <a:off x="3768811" y="4139514"/>
            <a:ext cx="3109784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830594" y="4139514"/>
            <a:ext cx="2986216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run_full_loop</a:t>
            </a:r>
            <a:endParaRPr lang="en-US" sz="1204" dirty="0"/>
          </a:p>
        </p:txBody>
      </p:sp>
      <p:sp>
        <p:nvSpPr>
          <p:cNvPr id="39" name="Text 37"/>
          <p:cNvSpPr txBox="1"/>
          <p:nvPr/>
        </p:nvSpPr>
        <p:spPr>
          <a:xfrm>
            <a:off x="3810000" y="4572000"/>
            <a:ext cx="3150973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run_loop.sh，启动完整实验</a:t>
            </a:r>
            <a:endParaRPr lang="en-US" sz="1162" dirty="0"/>
          </a:p>
        </p:txBody>
      </p:sp>
      <p:sp>
        <p:nvSpPr>
          <p:cNvPr id="40" name="Shape 38"/>
          <p:cNvSpPr/>
          <p:nvPr/>
        </p:nvSpPr>
        <p:spPr>
          <a:xfrm>
            <a:off x="4263081" y="5086865"/>
            <a:ext cx="2265405" cy="350108"/>
          </a:xfrm>
          <a:prstGeom prst="roundRect">
            <a:avLst/>
          </a:prstGeom>
          <a:solidFill>
            <a:srgbClr val="F5F7F7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324865" y="5086865"/>
            <a:ext cx="2141838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6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decide_next_action</a:t>
            </a:r>
            <a:endParaRPr lang="en-US" sz="1106" dirty="0"/>
          </a:p>
        </p:txBody>
      </p:sp>
      <p:sp>
        <p:nvSpPr>
          <p:cNvPr id="42" name="Text 40"/>
          <p:cNvSpPr txBox="1"/>
          <p:nvPr/>
        </p:nvSpPr>
        <p:spPr>
          <a:xfrm>
            <a:off x="3810000" y="5478162"/>
            <a:ext cx="3150973" cy="61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Observation 输出停止、阻塞或</a:t>
            </a:r>
            <a:endParaRPr lang="en-US" sz="1162" dirty="0"/>
          </a:p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重试决策</a:t>
            </a:r>
            <a:endParaRPr lang="en-US" sz="1162" dirty="0"/>
          </a:p>
        </p:txBody>
      </p:sp>
      <p:sp>
        <p:nvSpPr>
          <p:cNvPr id="43" name="Shape 41"/>
          <p:cNvSpPr/>
          <p:nvPr/>
        </p:nvSpPr>
        <p:spPr>
          <a:xfrm>
            <a:off x="7434648" y="4139514"/>
            <a:ext cx="3109784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7496432" y="4139514"/>
            <a:ext cx="2986216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resume_full_loop</a:t>
            </a:r>
            <a:endParaRPr lang="en-US" sz="1204" dirty="0"/>
          </a:p>
        </p:txBody>
      </p:sp>
      <p:sp>
        <p:nvSpPr>
          <p:cNvPr id="45" name="Text 43"/>
          <p:cNvSpPr txBox="1"/>
          <p:nvPr/>
        </p:nvSpPr>
        <p:spPr>
          <a:xfrm>
            <a:off x="7475838" y="4572000"/>
            <a:ext cx="3150973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resume_run_loop.sh，从断点续跑</a:t>
            </a:r>
            <a:endParaRPr lang="en-US" sz="1162" dirty="0"/>
          </a:p>
        </p:txBody>
      </p:sp>
      <p:sp>
        <p:nvSpPr>
          <p:cNvPr id="46" name="Shape 44"/>
          <p:cNvSpPr/>
          <p:nvPr/>
        </p:nvSpPr>
        <p:spPr>
          <a:xfrm>
            <a:off x="7928919" y="5086865"/>
            <a:ext cx="2265405" cy="350108"/>
          </a:xfrm>
          <a:prstGeom prst="roundRect">
            <a:avLst/>
          </a:prstGeom>
          <a:solidFill>
            <a:srgbClr val="F5F7F7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990703" y="5086865"/>
            <a:ext cx="2141838" cy="35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6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write_agent_report</a:t>
            </a:r>
            <a:endParaRPr lang="en-US" sz="1106" dirty="0"/>
          </a:p>
        </p:txBody>
      </p:sp>
      <p:sp>
        <p:nvSpPr>
          <p:cNvPr id="48" name="Text 46"/>
          <p:cNvSpPr txBox="1"/>
          <p:nvPr/>
        </p:nvSpPr>
        <p:spPr>
          <a:xfrm>
            <a:off x="7475838" y="5478162"/>
            <a:ext cx="3150973" cy="61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写出可审计 Markdown 报告</a:t>
            </a:r>
            <a:endParaRPr lang="en-US" sz="1162" dirty="0"/>
          </a:p>
        </p:txBody>
      </p:sp>
      <p:sp>
        <p:nvSpPr>
          <p:cNvPr id="49" name="Shape 47"/>
          <p:cNvSpPr/>
          <p:nvPr/>
        </p:nvSpPr>
        <p:spPr>
          <a:xfrm>
            <a:off x="1585784" y="6054811"/>
            <a:ext cx="8835081" cy="659027"/>
          </a:xfrm>
          <a:prstGeom prst="roundRect">
            <a:avLst/>
          </a:prstGeom>
          <a:solidFill>
            <a:srgbClr val="DDECF7"/>
          </a:solidFill>
          <a:ln w="11430">
            <a:solidFill>
              <a:srgbClr val="B8C9D3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1771135" y="6096000"/>
            <a:ext cx="8443784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31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ToolResult 统一记录工具调用</a:t>
            </a:r>
            <a:endParaRPr lang="en-US" sz="1134" dirty="0"/>
          </a:p>
          <a:p>
            <a:pPr algn="ctr" indent="0" marL="0">
              <a:buNone/>
            </a:pPr>
            <a:r>
              <a:rPr lang="en-US" sz="1134" b="1" dirty="0">
                <a:solidFill>
                  <a:srgbClr val="31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EventLogger 对工具开始、完成、失败和决策全部追加写入 agent_events.jsonl</a:t>
            </a:r>
            <a:endParaRPr lang="en-US" sz="11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23568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14865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法入分层：完整 JSONL、完整时间回放和简单统计不混长期记忆，可进失败模式和人工编辑结论才进入候选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78" y="906162"/>
            <a:ext cx="617838" cy="370703"/>
          </a:xfrm>
          <a:prstGeom prst="roundRect">
            <a:avLst/>
          </a:prstGeom>
          <a:solidFill>
            <a:srgbClr val="F3F7F9"/>
          </a:solidFill>
          <a:ln w="11430">
            <a:solidFill>
              <a:srgbClr val="B8C4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4162" y="906162"/>
            <a:ext cx="49427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232" dirty="0"/>
          </a:p>
        </p:txBody>
      </p:sp>
      <p:sp>
        <p:nvSpPr>
          <p:cNvPr id="10" name="Shape 8"/>
          <p:cNvSpPr/>
          <p:nvPr/>
        </p:nvSpPr>
        <p:spPr>
          <a:xfrm>
            <a:off x="823784" y="906162"/>
            <a:ext cx="1688757" cy="370703"/>
          </a:xfrm>
          <a:prstGeom prst="roundRect">
            <a:avLst/>
          </a:prstGeom>
          <a:solidFill>
            <a:srgbClr val="F7F9FA"/>
          </a:solidFill>
          <a:ln w="11430">
            <a:solidFill>
              <a:srgbClr val="C1CA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5568" y="906162"/>
            <a:ext cx="156518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运行记忆</a:t>
            </a:r>
            <a:endParaRPr lang="en-US" sz="1176" dirty="0"/>
          </a:p>
        </p:txBody>
      </p:sp>
      <p:sp>
        <p:nvSpPr>
          <p:cNvPr id="12" name="Text 10"/>
          <p:cNvSpPr txBox="1"/>
          <p:nvPr/>
        </p:nvSpPr>
        <p:spPr>
          <a:xfrm>
            <a:off x="2759676" y="906162"/>
            <a:ext cx="566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 Agent 如何计划、执行、观察和停止</a:t>
            </a:r>
            <a:endParaRPr lang="en-US" sz="1218" dirty="0"/>
          </a:p>
        </p:txBody>
      </p:sp>
      <p:sp>
        <p:nvSpPr>
          <p:cNvPr id="13" name="Shape 11"/>
          <p:cNvSpPr/>
          <p:nvPr/>
        </p:nvSpPr>
        <p:spPr>
          <a:xfrm>
            <a:off x="8526162" y="906162"/>
            <a:ext cx="1832919" cy="370703"/>
          </a:xfrm>
          <a:prstGeom prst="roundRect">
            <a:avLst/>
          </a:prstGeom>
          <a:solidFill>
            <a:srgbClr val="F3F5F6"/>
          </a:solidFill>
          <a:ln w="11430">
            <a:solidFill>
              <a:srgbClr val="BFC8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87946" y="906162"/>
            <a:ext cx="1709351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不在线影响</a:t>
            </a:r>
            <a:endParaRPr lang="en-US" sz="1162" dirty="0"/>
          </a:p>
        </p:txBody>
      </p:sp>
      <p:sp>
        <p:nvSpPr>
          <p:cNvPr id="15" name="Shape 13"/>
          <p:cNvSpPr/>
          <p:nvPr/>
        </p:nvSpPr>
        <p:spPr>
          <a:xfrm>
            <a:off x="82378" y="1379838"/>
            <a:ext cx="617838" cy="370703"/>
          </a:xfrm>
          <a:prstGeom prst="roundRect">
            <a:avLst/>
          </a:prstGeom>
          <a:solidFill>
            <a:srgbClr val="F3F7F9"/>
          </a:solidFill>
          <a:ln w="11430">
            <a:solidFill>
              <a:srgbClr val="B8C4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4162" y="1379838"/>
            <a:ext cx="49427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32" dirty="0"/>
          </a:p>
        </p:txBody>
      </p:sp>
      <p:sp>
        <p:nvSpPr>
          <p:cNvPr id="17" name="Shape 15"/>
          <p:cNvSpPr/>
          <p:nvPr/>
        </p:nvSpPr>
        <p:spPr>
          <a:xfrm>
            <a:off x="823784" y="1379838"/>
            <a:ext cx="1688757" cy="370703"/>
          </a:xfrm>
          <a:prstGeom prst="roundRect">
            <a:avLst/>
          </a:prstGeom>
          <a:solidFill>
            <a:srgbClr val="F7F9FA"/>
          </a:solidFill>
          <a:ln w="11430">
            <a:solidFill>
              <a:srgbClr val="C1CA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5568" y="1379838"/>
            <a:ext cx="156518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实验事实</a:t>
            </a:r>
            <a:endParaRPr lang="en-US" sz="1176" dirty="0"/>
          </a:p>
        </p:txBody>
      </p:sp>
      <p:sp>
        <p:nvSpPr>
          <p:cNvPr id="19" name="Text 17"/>
          <p:cNvSpPr txBox="1"/>
          <p:nvPr/>
        </p:nvSpPr>
        <p:spPr>
          <a:xfrm>
            <a:off x="2759676" y="1379838"/>
            <a:ext cx="566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当前实验发生了什么，含失败和候选事实</a:t>
            </a:r>
            <a:endParaRPr lang="en-US" sz="1218" dirty="0"/>
          </a:p>
        </p:txBody>
      </p:sp>
      <p:sp>
        <p:nvSpPr>
          <p:cNvPr id="20" name="Shape 18"/>
          <p:cNvSpPr/>
          <p:nvPr/>
        </p:nvSpPr>
        <p:spPr>
          <a:xfrm>
            <a:off x="8526162" y="1379838"/>
            <a:ext cx="1832919" cy="370703"/>
          </a:xfrm>
          <a:prstGeom prst="roundRect">
            <a:avLst/>
          </a:prstGeom>
          <a:solidFill>
            <a:srgbClr val="F3F5F6"/>
          </a:solidFill>
          <a:ln w="11430">
            <a:solidFill>
              <a:srgbClr val="BFC8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87946" y="1379838"/>
            <a:ext cx="1709351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不在线影响</a:t>
            </a:r>
            <a:endParaRPr lang="en-US" sz="1162" dirty="0"/>
          </a:p>
        </p:txBody>
      </p:sp>
      <p:sp>
        <p:nvSpPr>
          <p:cNvPr id="22" name="Shape 20"/>
          <p:cNvSpPr/>
          <p:nvPr/>
        </p:nvSpPr>
        <p:spPr>
          <a:xfrm>
            <a:off x="82378" y="1853514"/>
            <a:ext cx="617838" cy="370703"/>
          </a:xfrm>
          <a:prstGeom prst="roundRect">
            <a:avLst/>
          </a:prstGeom>
          <a:solidFill>
            <a:srgbClr val="F3F7F9"/>
          </a:solidFill>
          <a:ln w="11430">
            <a:solidFill>
              <a:srgbClr val="B8C4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4162" y="1853514"/>
            <a:ext cx="49427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32" dirty="0"/>
          </a:p>
        </p:txBody>
      </p:sp>
      <p:sp>
        <p:nvSpPr>
          <p:cNvPr id="24" name="Shape 22"/>
          <p:cNvSpPr/>
          <p:nvPr/>
        </p:nvSpPr>
        <p:spPr>
          <a:xfrm>
            <a:off x="823784" y="1853514"/>
            <a:ext cx="1688757" cy="370703"/>
          </a:xfrm>
          <a:prstGeom prst="roundRect">
            <a:avLst/>
          </a:prstGeom>
          <a:solidFill>
            <a:srgbClr val="F7F9FA"/>
          </a:solidFill>
          <a:ln w="11430">
            <a:solidFill>
              <a:srgbClr val="C1CA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5568" y="1853514"/>
            <a:ext cx="156518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全局基本</a:t>
            </a:r>
            <a:endParaRPr lang="en-US" sz="1176" dirty="0"/>
          </a:p>
        </p:txBody>
      </p:sp>
      <p:sp>
        <p:nvSpPr>
          <p:cNvPr id="26" name="Text 24"/>
          <p:cNvSpPr txBox="1"/>
          <p:nvPr/>
        </p:nvSpPr>
        <p:spPr>
          <a:xfrm>
            <a:off x="2759676" y="1853514"/>
            <a:ext cx="566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多个实验提交的可追溯事实</a:t>
            </a:r>
            <a:endParaRPr lang="en-US" sz="1218" dirty="0"/>
          </a:p>
        </p:txBody>
      </p:sp>
      <p:sp>
        <p:nvSpPr>
          <p:cNvPr id="27" name="Shape 25"/>
          <p:cNvSpPr/>
          <p:nvPr/>
        </p:nvSpPr>
        <p:spPr>
          <a:xfrm>
            <a:off x="8526162" y="1853514"/>
            <a:ext cx="1832919" cy="370703"/>
          </a:xfrm>
          <a:prstGeom prst="roundRect">
            <a:avLst/>
          </a:prstGeom>
          <a:solidFill>
            <a:srgbClr val="F3F5F6"/>
          </a:solidFill>
          <a:ln w="11430">
            <a:solidFill>
              <a:srgbClr val="BFC8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87946" y="1853514"/>
            <a:ext cx="1709351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不在线影响</a:t>
            </a:r>
            <a:endParaRPr lang="en-US" sz="1162" dirty="0"/>
          </a:p>
        </p:txBody>
      </p:sp>
      <p:sp>
        <p:nvSpPr>
          <p:cNvPr id="29" name="Shape 27"/>
          <p:cNvSpPr/>
          <p:nvPr/>
        </p:nvSpPr>
        <p:spPr>
          <a:xfrm>
            <a:off x="82378" y="2327189"/>
            <a:ext cx="617838" cy="370703"/>
          </a:xfrm>
          <a:prstGeom prst="roundRect">
            <a:avLst/>
          </a:prstGeom>
          <a:solidFill>
            <a:srgbClr val="EEF7F5"/>
          </a:solidFill>
          <a:ln w="11430">
            <a:solidFill>
              <a:srgbClr val="B8C4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44162" y="2327189"/>
            <a:ext cx="49427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32" dirty="0"/>
          </a:p>
        </p:txBody>
      </p:sp>
      <p:sp>
        <p:nvSpPr>
          <p:cNvPr id="31" name="Shape 29"/>
          <p:cNvSpPr/>
          <p:nvPr/>
        </p:nvSpPr>
        <p:spPr>
          <a:xfrm>
            <a:off x="823784" y="2327189"/>
            <a:ext cx="1688757" cy="370703"/>
          </a:xfrm>
          <a:prstGeom prst="roundRect">
            <a:avLst/>
          </a:prstGeom>
          <a:solidFill>
            <a:srgbClr val="F7F9FA"/>
          </a:solidFill>
          <a:ln w="11430">
            <a:solidFill>
              <a:srgbClr val="C1CAC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5568" y="2327189"/>
            <a:ext cx="156518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预告卡</a:t>
            </a:r>
            <a:endParaRPr lang="en-US" sz="1176" dirty="0"/>
          </a:p>
        </p:txBody>
      </p:sp>
      <p:sp>
        <p:nvSpPr>
          <p:cNvPr id="33" name="Text 31"/>
          <p:cNvSpPr txBox="1"/>
          <p:nvPr/>
        </p:nvSpPr>
        <p:spPr>
          <a:xfrm>
            <a:off x="2759676" y="2327189"/>
            <a:ext cx="566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超级、场景、算子组合的有效或高风险规律</a:t>
            </a:r>
            <a:endParaRPr lang="en-US" sz="1218" dirty="0"/>
          </a:p>
        </p:txBody>
      </p:sp>
      <p:sp>
        <p:nvSpPr>
          <p:cNvPr id="34" name="Shape 32"/>
          <p:cNvSpPr/>
          <p:nvPr/>
        </p:nvSpPr>
        <p:spPr>
          <a:xfrm>
            <a:off x="8526162" y="2327189"/>
            <a:ext cx="1832919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BFC8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87946" y="2327189"/>
            <a:ext cx="1709351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只读摘要</a:t>
            </a:r>
            <a:endParaRPr lang="en-US" sz="1162" dirty="0"/>
          </a:p>
        </p:txBody>
      </p:sp>
      <p:sp>
        <p:nvSpPr>
          <p:cNvPr id="36" name="Shape 34"/>
          <p:cNvSpPr/>
          <p:nvPr/>
        </p:nvSpPr>
        <p:spPr>
          <a:xfrm>
            <a:off x="82378" y="2800865"/>
            <a:ext cx="617838" cy="370703"/>
          </a:xfrm>
          <a:prstGeom prst="roundRect">
            <a:avLst/>
          </a:prstGeom>
          <a:solidFill>
            <a:srgbClr val="EEF7F5"/>
          </a:solidFill>
          <a:ln w="11430">
            <a:solidFill>
              <a:srgbClr val="B8C4C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4162" y="2800865"/>
            <a:ext cx="49427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32" dirty="0"/>
          </a:p>
        </p:txBody>
      </p:sp>
      <p:sp>
        <p:nvSpPr>
          <p:cNvPr id="38" name="Shape 36"/>
          <p:cNvSpPr/>
          <p:nvPr/>
        </p:nvSpPr>
        <p:spPr>
          <a:xfrm>
            <a:off x="823784" y="2800865"/>
            <a:ext cx="1688757" cy="370703"/>
          </a:xfrm>
          <a:prstGeom prst="roundRect">
            <a:avLst/>
          </a:prstGeom>
          <a:solidFill>
            <a:srgbClr val="F7F9FA"/>
          </a:solidFill>
          <a:ln w="11430">
            <a:solidFill>
              <a:srgbClr val="C1CAC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5568" y="2800865"/>
            <a:ext cx="156518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程序规则</a:t>
            </a:r>
            <a:endParaRPr lang="en-US" sz="1176" dirty="0"/>
          </a:p>
        </p:txBody>
      </p:sp>
      <p:sp>
        <p:nvSpPr>
          <p:cNvPr id="40" name="Text 38"/>
          <p:cNvSpPr txBox="1"/>
          <p:nvPr/>
        </p:nvSpPr>
        <p:spPr>
          <a:xfrm>
            <a:off x="2759676" y="2800865"/>
            <a:ext cx="566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写入、发布、删除、回滚和门槛规则</a:t>
            </a:r>
            <a:endParaRPr lang="en-US" sz="1218" dirty="0"/>
          </a:p>
        </p:txBody>
      </p:sp>
      <p:sp>
        <p:nvSpPr>
          <p:cNvPr id="41" name="Shape 39"/>
          <p:cNvSpPr/>
          <p:nvPr/>
        </p:nvSpPr>
        <p:spPr>
          <a:xfrm>
            <a:off x="8526162" y="2800865"/>
            <a:ext cx="1832919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BFC8C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87946" y="2800865"/>
            <a:ext cx="1709351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162" dirty="0"/>
          </a:p>
        </p:txBody>
      </p:sp>
      <p:sp>
        <p:nvSpPr>
          <p:cNvPr id="43" name="Text 41"/>
          <p:cNvSpPr txBox="1"/>
          <p:nvPr/>
        </p:nvSpPr>
        <p:spPr>
          <a:xfrm>
            <a:off x="144162" y="3480486"/>
            <a:ext cx="7208108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9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审计与回放：长期运行的可信基础</a:t>
            </a:r>
            <a:endParaRPr lang="en-US" sz="1890" dirty="0"/>
          </a:p>
        </p:txBody>
      </p:sp>
      <p:sp>
        <p:nvSpPr>
          <p:cNvPr id="44" name="Text 42"/>
          <p:cNvSpPr txBox="1"/>
          <p:nvPr/>
        </p:nvSpPr>
        <p:spPr>
          <a:xfrm>
            <a:off x="164757" y="3871784"/>
            <a:ext cx="5766486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8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保证能复盘、能追溯问题</a:t>
            </a:r>
            <a:endParaRPr lang="en-US" sz="1148" dirty="0"/>
          </a:p>
        </p:txBody>
      </p:sp>
      <p:sp>
        <p:nvSpPr>
          <p:cNvPr id="45" name="Shape 43"/>
          <p:cNvSpPr/>
          <p:nvPr/>
        </p:nvSpPr>
        <p:spPr>
          <a:xfrm>
            <a:off x="144162" y="4098324"/>
            <a:ext cx="11162270" cy="0"/>
          </a:xfrm>
          <a:prstGeom prst="line">
            <a:avLst/>
          </a:prstGeom>
          <a:noFill/>
          <a:ln w="12700">
            <a:solidFill>
              <a:srgbClr val="95A3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1405" y="4221892"/>
            <a:ext cx="4407243" cy="391297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03189" y="4221892"/>
            <a:ext cx="4283676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60757" y="4221892"/>
            <a:ext cx="4427838" cy="391297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322540" y="4221892"/>
            <a:ext cx="4304270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370703" y="4736757"/>
            <a:ext cx="514864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目标、计划版本、工具调用、Observation、判断、终止回退</a:t>
            </a:r>
            <a:endParaRPr lang="en-US" sz="1190" dirty="0"/>
          </a:p>
        </p:txBody>
      </p:sp>
      <p:sp>
        <p:nvSpPr>
          <p:cNvPr id="51" name="Text 49"/>
          <p:cNvSpPr txBox="1"/>
          <p:nvPr/>
        </p:nvSpPr>
        <p:spPr>
          <a:xfrm>
            <a:off x="5890054" y="4736757"/>
            <a:ext cx="5210432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Step、输入快照、输出产物、manifest、恢复限制</a:t>
            </a:r>
            <a:endParaRPr lang="en-US" sz="1190" dirty="0"/>
          </a:p>
        </p:txBody>
      </p:sp>
      <p:sp>
        <p:nvSpPr>
          <p:cNvPr id="52" name="Shape 50"/>
          <p:cNvSpPr/>
          <p:nvPr/>
        </p:nvSpPr>
        <p:spPr>
          <a:xfrm>
            <a:off x="741405" y="5210432"/>
            <a:ext cx="4407243" cy="391297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803189" y="5210432"/>
            <a:ext cx="4283676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260757" y="5210432"/>
            <a:ext cx="4427838" cy="391297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322540" y="5210432"/>
            <a:ext cx="4304270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370703" y="5725297"/>
            <a:ext cx="5148649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 Trace + Snapshot 验证结果，不改写历史结果</a:t>
            </a:r>
            <a:endParaRPr lang="en-US" sz="1190" dirty="0"/>
          </a:p>
        </p:txBody>
      </p:sp>
      <p:sp>
        <p:nvSpPr>
          <p:cNvPr id="57" name="Text 55"/>
          <p:cNvSpPr txBox="1"/>
          <p:nvPr/>
        </p:nvSpPr>
        <p:spPr>
          <a:xfrm>
            <a:off x="5890054" y="5725297"/>
            <a:ext cx="5210432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边界候选率、放弃率、实验量、Judge 分析、成本</a:t>
            </a:r>
            <a:endParaRPr lang="en-US" sz="1190" dirty="0"/>
          </a:p>
        </p:txBody>
      </p:sp>
      <p:sp>
        <p:nvSpPr>
          <p:cNvPr id="58" name="Shape 56"/>
          <p:cNvSpPr/>
          <p:nvPr/>
        </p:nvSpPr>
        <p:spPr>
          <a:xfrm>
            <a:off x="144162" y="6281351"/>
            <a:ext cx="1544595" cy="432486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05946" y="6281351"/>
            <a:ext cx="1421027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总体状态</a:t>
            </a:r>
            <a:endParaRPr lang="en-US" sz="1078" dirty="0"/>
          </a:p>
        </p:txBody>
      </p:sp>
      <p:sp>
        <p:nvSpPr>
          <p:cNvPr id="60" name="Shape 58"/>
          <p:cNvSpPr/>
          <p:nvPr/>
        </p:nvSpPr>
        <p:spPr>
          <a:xfrm>
            <a:off x="1812324" y="6281351"/>
            <a:ext cx="1977081" cy="43248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874108" y="6281351"/>
            <a:ext cx="1853513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最后操作回回</a:t>
            </a:r>
            <a:endParaRPr lang="en-US" sz="1078" dirty="0"/>
          </a:p>
        </p:txBody>
      </p:sp>
      <p:sp>
        <p:nvSpPr>
          <p:cNvPr id="62" name="Shape 60"/>
          <p:cNvSpPr/>
          <p:nvPr/>
        </p:nvSpPr>
        <p:spPr>
          <a:xfrm>
            <a:off x="3912973" y="6281351"/>
            <a:ext cx="1359243" cy="432486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974757" y="6281351"/>
            <a:ext cx="1235676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分歧率</a:t>
            </a:r>
            <a:endParaRPr lang="en-US" sz="1078" dirty="0"/>
          </a:p>
        </p:txBody>
      </p:sp>
      <p:sp>
        <p:nvSpPr>
          <p:cNvPr id="64" name="Shape 62"/>
          <p:cNvSpPr/>
          <p:nvPr/>
        </p:nvSpPr>
        <p:spPr>
          <a:xfrm>
            <a:off x="5395784" y="6281351"/>
            <a:ext cx="1688757" cy="432486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457567" y="6281351"/>
            <a:ext cx="1565189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算子路径</a:t>
            </a:r>
            <a:endParaRPr lang="en-US" sz="1078" dirty="0"/>
          </a:p>
        </p:txBody>
      </p:sp>
      <p:sp>
        <p:nvSpPr>
          <p:cNvPr id="66" name="Shape 64"/>
          <p:cNvSpPr/>
          <p:nvPr/>
        </p:nvSpPr>
        <p:spPr>
          <a:xfrm>
            <a:off x="7208108" y="6281351"/>
            <a:ext cx="1606378" cy="43248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269892" y="6281351"/>
            <a:ext cx="148281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Judge稳定性</a:t>
            </a:r>
            <a:endParaRPr lang="en-US" sz="1078" dirty="0"/>
          </a:p>
        </p:txBody>
      </p:sp>
      <p:sp>
        <p:nvSpPr>
          <p:cNvPr id="68" name="Shape 66"/>
          <p:cNvSpPr/>
          <p:nvPr/>
        </p:nvSpPr>
        <p:spPr>
          <a:xfrm>
            <a:off x="8938054" y="6281351"/>
            <a:ext cx="2162432" cy="432486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999838" y="6281351"/>
            <a:ext cx="203886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引用的记忆验证</a:t>
            </a:r>
            <a:endParaRPr lang="en-US" sz="1078" dirty="0"/>
          </a:p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和数据</a:t>
            </a:r>
            <a:endParaRPr lang="en-US" sz="1078" dirty="0"/>
          </a:p>
        </p:txBody>
      </p:sp>
      <p:sp>
        <p:nvSpPr>
          <p:cNvPr id="70" name="Shape 68"/>
          <p:cNvSpPr/>
          <p:nvPr/>
        </p:nvSpPr>
        <p:spPr>
          <a:xfrm>
            <a:off x="11224054" y="6281351"/>
            <a:ext cx="1400432" cy="432486"/>
          </a:xfrm>
          <a:prstGeom prst="roundRect">
            <a:avLst/>
          </a:prstGeom>
          <a:solidFill>
            <a:srgbClr val="F7F8F8"/>
          </a:solidFill>
          <a:ln w="11430">
            <a:solidFill>
              <a:srgbClr val="BCC5C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1285838" y="6281351"/>
            <a:ext cx="1276865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结束原因</a:t>
            </a:r>
            <a:endParaRPr lang="en-US" sz="107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协作：主控执行，专项只建议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适合复盘、记忆编辑、计划候选和人工复核代理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23784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1405" y="988541"/>
            <a:ext cx="2533135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3189" y="988541"/>
            <a:ext cx="240956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 Agent</a:t>
            </a:r>
            <a:endParaRPr lang="en-US" sz="1428" dirty="0"/>
          </a:p>
        </p:txBody>
      </p:sp>
      <p:sp>
        <p:nvSpPr>
          <p:cNvPr id="10" name="Text 8"/>
          <p:cNvSpPr txBox="1"/>
          <p:nvPr/>
        </p:nvSpPr>
        <p:spPr>
          <a:xfrm>
            <a:off x="5086865" y="1585784"/>
            <a:ext cx="1441622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观察编</a:t>
            </a:r>
            <a:endParaRPr lang="en-US" sz="1148" dirty="0"/>
          </a:p>
        </p:txBody>
      </p:sp>
      <p:sp>
        <p:nvSpPr>
          <p:cNvPr id="11" name="Shape 9"/>
          <p:cNvSpPr/>
          <p:nvPr/>
        </p:nvSpPr>
        <p:spPr>
          <a:xfrm>
            <a:off x="4530811" y="1729946"/>
            <a:ext cx="2574324" cy="576649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92594" y="1729946"/>
            <a:ext cx="2450757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observations</a:t>
            </a:r>
            <a:endParaRPr lang="en-US" sz="1288" dirty="0"/>
          </a:p>
        </p:txBody>
      </p:sp>
      <p:sp>
        <p:nvSpPr>
          <p:cNvPr id="13" name="Text 11"/>
          <p:cNvSpPr txBox="1"/>
          <p:nvPr/>
        </p:nvSpPr>
        <p:spPr>
          <a:xfrm>
            <a:off x="5086865" y="2327189"/>
            <a:ext cx="1441622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协调器</a:t>
            </a:r>
            <a:endParaRPr lang="en-US" sz="1148" dirty="0"/>
          </a:p>
        </p:txBody>
      </p:sp>
      <p:sp>
        <p:nvSpPr>
          <p:cNvPr id="14" name="Shape 12"/>
          <p:cNvSpPr/>
          <p:nvPr/>
        </p:nvSpPr>
        <p:spPr>
          <a:xfrm>
            <a:off x="4201297" y="2512541"/>
            <a:ext cx="3253946" cy="576649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263081" y="2512541"/>
            <a:ext cx="3130378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分发任务 / 收集合成</a:t>
            </a:r>
            <a:endParaRPr lang="en-US" sz="1288" dirty="0"/>
          </a:p>
        </p:txBody>
      </p:sp>
      <p:sp>
        <p:nvSpPr>
          <p:cNvPr id="16" name="Shape 14"/>
          <p:cNvSpPr/>
          <p:nvPr/>
        </p:nvSpPr>
        <p:spPr>
          <a:xfrm>
            <a:off x="5807676" y="1462216"/>
            <a:ext cx="0" cy="247135"/>
          </a:xfrm>
          <a:prstGeom prst="line">
            <a:avLst/>
          </a:prstGeom>
          <a:noFill/>
          <a:ln w="12700">
            <a:solidFill>
              <a:srgbClr val="7A98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7676" y="2286000"/>
            <a:ext cx="0" cy="205946"/>
          </a:xfrm>
          <a:prstGeom prst="line">
            <a:avLst/>
          </a:prstGeom>
          <a:noFill/>
          <a:ln w="12700">
            <a:solidFill>
              <a:srgbClr val="7A98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3676" y="3748216"/>
            <a:ext cx="1688757" cy="411892"/>
          </a:xfrm>
          <a:prstGeom prst="roundRect">
            <a:avLst/>
          </a:prstGeom>
          <a:solidFill>
            <a:srgbClr val="F9FBFB"/>
          </a:solidFill>
          <a:ln w="11430">
            <a:solidFill>
              <a:srgbClr val="B5BEC2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5459" y="3748216"/>
            <a:ext cx="1565189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路由诊断</a:t>
            </a:r>
            <a:endParaRPr lang="en-US" sz="1218" dirty="0"/>
          </a:p>
        </p:txBody>
      </p:sp>
      <p:sp>
        <p:nvSpPr>
          <p:cNvPr id="20" name="Shape 18"/>
          <p:cNvSpPr/>
          <p:nvPr/>
        </p:nvSpPr>
        <p:spPr>
          <a:xfrm>
            <a:off x="2677297" y="3727622"/>
            <a:ext cx="1688757" cy="411892"/>
          </a:xfrm>
          <a:prstGeom prst="roundRect">
            <a:avLst/>
          </a:prstGeom>
          <a:solidFill>
            <a:srgbClr val="F9FBFB"/>
          </a:solidFill>
          <a:ln w="11430">
            <a:solidFill>
              <a:srgbClr val="B5BEC2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739081" y="3727622"/>
            <a:ext cx="1565189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生成诊断</a:t>
            </a:r>
            <a:endParaRPr lang="en-US" sz="1218" dirty="0"/>
          </a:p>
        </p:txBody>
      </p:sp>
      <p:sp>
        <p:nvSpPr>
          <p:cNvPr id="22" name="Shape 20"/>
          <p:cNvSpPr/>
          <p:nvPr/>
        </p:nvSpPr>
        <p:spPr>
          <a:xfrm>
            <a:off x="4880919" y="3727622"/>
            <a:ext cx="1688757" cy="411892"/>
          </a:xfrm>
          <a:prstGeom prst="roundRect">
            <a:avLst/>
          </a:prstGeom>
          <a:solidFill>
            <a:srgbClr val="F9FBFB"/>
          </a:solidFill>
          <a:ln w="11430">
            <a:solidFill>
              <a:srgbClr val="B5BEC2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42703" y="3727622"/>
            <a:ext cx="1565189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校验诊断</a:t>
            </a:r>
            <a:endParaRPr lang="en-US" sz="1218" dirty="0"/>
          </a:p>
        </p:txBody>
      </p:sp>
      <p:sp>
        <p:nvSpPr>
          <p:cNvPr id="24" name="Shape 22"/>
          <p:cNvSpPr/>
          <p:nvPr/>
        </p:nvSpPr>
        <p:spPr>
          <a:xfrm>
            <a:off x="7105135" y="3727622"/>
            <a:ext cx="1729946" cy="411892"/>
          </a:xfrm>
          <a:prstGeom prst="roundRect">
            <a:avLst/>
          </a:prstGeom>
          <a:solidFill>
            <a:srgbClr val="F9FBFB"/>
          </a:solidFill>
          <a:ln w="11430">
            <a:solidFill>
              <a:srgbClr val="B5BEC2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166919" y="3727622"/>
            <a:ext cx="1606378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评分稳定性</a:t>
            </a:r>
            <a:endParaRPr lang="en-US" sz="1218" dirty="0"/>
          </a:p>
        </p:txBody>
      </p:sp>
      <p:sp>
        <p:nvSpPr>
          <p:cNvPr id="26" name="Shape 24"/>
          <p:cNvSpPr/>
          <p:nvPr/>
        </p:nvSpPr>
        <p:spPr>
          <a:xfrm>
            <a:off x="9349946" y="3727622"/>
            <a:ext cx="1606378" cy="411892"/>
          </a:xfrm>
          <a:prstGeom prst="roundRect">
            <a:avLst/>
          </a:prstGeom>
          <a:solidFill>
            <a:srgbClr val="F9FBFB"/>
          </a:solidFill>
          <a:ln w="11430">
            <a:solidFill>
              <a:srgbClr val="B5BEC2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411729" y="3727622"/>
            <a:ext cx="1482811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搜索成本</a:t>
            </a:r>
            <a:endParaRPr lang="en-US" sz="1218" dirty="0"/>
          </a:p>
        </p:txBody>
      </p:sp>
      <p:sp>
        <p:nvSpPr>
          <p:cNvPr id="28" name="Shape 26"/>
          <p:cNvSpPr/>
          <p:nvPr/>
        </p:nvSpPr>
        <p:spPr>
          <a:xfrm flipH="1">
            <a:off x="1318054" y="3109784"/>
            <a:ext cx="4489622" cy="638432"/>
          </a:xfrm>
          <a:prstGeom prst="line">
            <a:avLst/>
          </a:prstGeom>
          <a:noFill/>
          <a:ln w="13970">
            <a:solidFill>
              <a:srgbClr val="515C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3521676" y="3109784"/>
            <a:ext cx="2286000" cy="617838"/>
          </a:xfrm>
          <a:prstGeom prst="line">
            <a:avLst/>
          </a:prstGeom>
          <a:noFill/>
          <a:ln w="13970">
            <a:solidFill>
              <a:srgbClr val="515C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5725297" y="3109784"/>
            <a:ext cx="82378" cy="617838"/>
          </a:xfrm>
          <a:prstGeom prst="line">
            <a:avLst/>
          </a:prstGeom>
          <a:noFill/>
          <a:ln w="13970">
            <a:solidFill>
              <a:srgbClr val="515C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7676" y="3109784"/>
            <a:ext cx="2162432" cy="617838"/>
          </a:xfrm>
          <a:prstGeom prst="line">
            <a:avLst/>
          </a:prstGeom>
          <a:noFill/>
          <a:ln w="13970">
            <a:solidFill>
              <a:srgbClr val="515C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7676" y="3109784"/>
            <a:ext cx="4345459" cy="617838"/>
          </a:xfrm>
          <a:prstGeom prst="line">
            <a:avLst/>
          </a:prstGeom>
          <a:noFill/>
          <a:ln w="13970">
            <a:solidFill>
              <a:srgbClr val="515C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4162" y="4530811"/>
            <a:ext cx="5025081" cy="2286000"/>
          </a:xfrm>
          <a:prstGeom prst="roundRect">
            <a:avLst/>
          </a:prstGeom>
          <a:solidFill>
            <a:srgbClr val="F8FAFB"/>
          </a:solidFill>
          <a:ln w="11430">
            <a:solidFill>
              <a:srgbClr val="B9C5CB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08919" y="4695568"/>
            <a:ext cx="185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统一输入：</a:t>
            </a:r>
            <a:endParaRPr lang="en-US" sz="1316" dirty="0"/>
          </a:p>
        </p:txBody>
      </p:sp>
      <p:sp>
        <p:nvSpPr>
          <p:cNvPr id="35" name="Shape 33"/>
          <p:cNvSpPr/>
          <p:nvPr/>
        </p:nvSpPr>
        <p:spPr>
          <a:xfrm>
            <a:off x="308919" y="5231027"/>
            <a:ext cx="82378" cy="82378"/>
          </a:xfrm>
          <a:prstGeom prst="ellipse">
            <a:avLst/>
          </a:prstGeom>
          <a:solidFill>
            <a:srgbClr val="17242C"/>
          </a:solidFill>
          <a:ln w="12700">
            <a:solidFill>
              <a:srgbClr val="17242C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4865" y="5107459"/>
            <a:ext cx="4489622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每轮后的 evidence_pack.json，不含密钥、完整环境变量或完整控制器产物</a:t>
            </a:r>
            <a:endParaRPr lang="en-US" sz="1106" dirty="0"/>
          </a:p>
        </p:txBody>
      </p:sp>
      <p:sp>
        <p:nvSpPr>
          <p:cNvPr id="37" name="Shape 35"/>
          <p:cNvSpPr/>
          <p:nvPr/>
        </p:nvSpPr>
        <p:spPr>
          <a:xfrm>
            <a:off x="308919" y="5642919"/>
            <a:ext cx="82378" cy="82378"/>
          </a:xfrm>
          <a:prstGeom prst="ellipse">
            <a:avLst/>
          </a:prstGeom>
          <a:solidFill>
            <a:srgbClr val="17242C"/>
          </a:solidFill>
          <a:ln w="12700">
            <a:solidFill>
              <a:srgbClr val="17242C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4865" y="5519351"/>
            <a:ext cx="4489622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协调器先查 advisor_registry.py；</a:t>
            </a:r>
            <a:endParaRPr lang="en-US" sz="1106" dirty="0"/>
          </a:p>
        </p:txBody>
      </p:sp>
      <p:sp>
        <p:nvSpPr>
          <p:cNvPr id="39" name="Shape 37"/>
          <p:cNvSpPr/>
          <p:nvPr/>
        </p:nvSpPr>
        <p:spPr>
          <a:xfrm>
            <a:off x="308919" y="6054811"/>
            <a:ext cx="82378" cy="82378"/>
          </a:xfrm>
          <a:prstGeom prst="ellipse">
            <a:avLst/>
          </a:prstGeom>
          <a:solidFill>
            <a:srgbClr val="17242C"/>
          </a:solidFill>
          <a:ln w="12700">
            <a:solidFill>
              <a:srgbClr val="17242C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4865" y="5931243"/>
            <a:ext cx="4489622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每个专项 Agent 都必须提供登记；</a:t>
            </a:r>
            <a:endParaRPr lang="en-US" sz="1106" dirty="0"/>
          </a:p>
        </p:txBody>
      </p:sp>
      <p:sp>
        <p:nvSpPr>
          <p:cNvPr id="41" name="Shape 39"/>
          <p:cNvSpPr/>
          <p:nvPr/>
        </p:nvSpPr>
        <p:spPr>
          <a:xfrm>
            <a:off x="308919" y="6466703"/>
            <a:ext cx="82378" cy="82378"/>
          </a:xfrm>
          <a:prstGeom prst="ellipse">
            <a:avLst/>
          </a:prstGeom>
          <a:solidFill>
            <a:srgbClr val="17242C"/>
          </a:solidFill>
          <a:ln w="12700">
            <a:solidFill>
              <a:srgbClr val="17242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4865" y="6343135"/>
            <a:ext cx="4489622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每次根据观察条件选择 Agent；</a:t>
            </a:r>
            <a:endParaRPr lang="en-US" sz="1106" dirty="0"/>
          </a:p>
        </p:txBody>
      </p:sp>
      <p:sp>
        <p:nvSpPr>
          <p:cNvPr id="43" name="Shape 41"/>
          <p:cNvSpPr/>
          <p:nvPr/>
        </p:nvSpPr>
        <p:spPr>
          <a:xfrm>
            <a:off x="5684108" y="4530811"/>
            <a:ext cx="5931243" cy="2286000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E1CDA9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869459" y="4695568"/>
            <a:ext cx="1853513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6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统一输出：</a:t>
            </a:r>
            <a:endParaRPr lang="en-US" sz="1316" dirty="0"/>
          </a:p>
        </p:txBody>
      </p:sp>
      <p:sp>
        <p:nvSpPr>
          <p:cNvPr id="45" name="Shape 43"/>
          <p:cNvSpPr/>
          <p:nvPr/>
        </p:nvSpPr>
        <p:spPr>
          <a:xfrm>
            <a:off x="5869459" y="5231027"/>
            <a:ext cx="82378" cy="82378"/>
          </a:xfrm>
          <a:prstGeom prst="ellipse">
            <a:avLst/>
          </a:prstGeom>
          <a:solidFill>
            <a:srgbClr val="C67A15"/>
          </a:solidFill>
          <a:ln w="12700">
            <a:solidFill>
              <a:srgbClr val="C67A15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075405" y="5107459"/>
            <a:ext cx="5313405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2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advisor_advice.json：超权建议拒绝，无证据建议仍为人工复核；</a:t>
            </a:r>
            <a:endParaRPr lang="en-US" sz="1092" dirty="0"/>
          </a:p>
        </p:txBody>
      </p:sp>
      <p:sp>
        <p:nvSpPr>
          <p:cNvPr id="47" name="Shape 45"/>
          <p:cNvSpPr/>
          <p:nvPr/>
        </p:nvSpPr>
        <p:spPr>
          <a:xfrm>
            <a:off x="5869459" y="5622324"/>
            <a:ext cx="82378" cy="82378"/>
          </a:xfrm>
          <a:prstGeom prst="ellipse">
            <a:avLst/>
          </a:prstGeom>
          <a:solidFill>
            <a:srgbClr val="C67A15"/>
          </a:solidFill>
          <a:ln w="12700">
            <a:solidFill>
              <a:srgbClr val="C67A15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75405" y="5498757"/>
            <a:ext cx="5313405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2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高风险建议优先进入人工复核；</a:t>
            </a:r>
            <a:endParaRPr lang="en-US" sz="1092" dirty="0"/>
          </a:p>
        </p:txBody>
      </p:sp>
      <p:sp>
        <p:nvSpPr>
          <p:cNvPr id="49" name="Shape 47"/>
          <p:cNvSpPr/>
          <p:nvPr/>
        </p:nvSpPr>
        <p:spPr>
          <a:xfrm>
            <a:off x="5869459" y="6013622"/>
            <a:ext cx="82378" cy="82378"/>
          </a:xfrm>
          <a:prstGeom prst="ellipse">
            <a:avLst/>
          </a:prstGeom>
          <a:solidFill>
            <a:srgbClr val="C67A15"/>
          </a:solidFill>
          <a:ln w="12700">
            <a:solidFill>
              <a:srgbClr val="C67A15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75405" y="5890054"/>
            <a:ext cx="5313405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2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Agent 冲突时写入冲突清单；</a:t>
            </a:r>
            <a:endParaRPr lang="en-US" sz="1092" dirty="0"/>
          </a:p>
        </p:txBody>
      </p:sp>
      <p:sp>
        <p:nvSpPr>
          <p:cNvPr id="51" name="Shape 49"/>
          <p:cNvSpPr/>
          <p:nvPr/>
        </p:nvSpPr>
        <p:spPr>
          <a:xfrm>
            <a:off x="5869459" y="6404919"/>
            <a:ext cx="82378" cy="82378"/>
          </a:xfrm>
          <a:prstGeom prst="ellipse">
            <a:avLst/>
          </a:prstGeom>
          <a:solidFill>
            <a:srgbClr val="C67A15"/>
          </a:solidFill>
          <a:ln w="12700">
            <a:solidFill>
              <a:srgbClr val="C67A15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75405" y="6281351"/>
            <a:ext cx="5313405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2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只有证据充分、权限合法、不冲突的建议才进入 proposal；</a:t>
            </a:r>
            <a:endParaRPr lang="en-US" sz="109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23568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体系：稳定操作规范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14865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介入 Agent 在重复场景下的操作规范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162" y="885568"/>
            <a:ext cx="2636108" cy="535459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05946" y="885568"/>
            <a:ext cx="2512540" cy="53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</a:t>
            </a:r>
            <a:endParaRPr lang="en-US" sz="1288" dirty="0"/>
          </a:p>
          <a:p>
            <a:pPr algn="ctr" indent="0" marL="0">
              <a:buNone/>
            </a:pPr>
            <a:r>
              <a:rPr lang="en-US" sz="128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真实执行动作</a:t>
            </a:r>
            <a:endParaRPr lang="en-US" sz="1288" dirty="0"/>
          </a:p>
        </p:txBody>
      </p:sp>
      <p:sp>
        <p:nvSpPr>
          <p:cNvPr id="10" name="Shape 8"/>
          <p:cNvSpPr/>
          <p:nvPr/>
        </p:nvSpPr>
        <p:spPr>
          <a:xfrm>
            <a:off x="4077730" y="885568"/>
            <a:ext cx="2739081" cy="535459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139513" y="885568"/>
            <a:ext cx="2615513" cy="53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</a:t>
            </a:r>
            <a:endParaRPr lang="en-US" sz="1288" dirty="0"/>
          </a:p>
          <a:p>
            <a:pPr algn="ctr" indent="0" marL="0">
              <a:buNone/>
            </a:pPr>
            <a:r>
              <a:rPr lang="en-US" sz="128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业务进化算子</a:t>
            </a:r>
            <a:endParaRPr lang="en-US" sz="1288" dirty="0"/>
          </a:p>
        </p:txBody>
      </p:sp>
      <p:sp>
        <p:nvSpPr>
          <p:cNvPr id="12" name="Shape 10"/>
          <p:cNvSpPr/>
          <p:nvPr/>
        </p:nvSpPr>
        <p:spPr>
          <a:xfrm>
            <a:off x="8073081" y="885568"/>
            <a:ext cx="2739081" cy="535459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4865" y="885568"/>
            <a:ext cx="2615513" cy="53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1288" dirty="0"/>
          </a:p>
          <a:p>
            <a:pPr algn="ctr" indent="0" marL="0">
              <a:buNone/>
            </a:pPr>
            <a:r>
              <a:rPr lang="en-US" sz="128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可复用工作规程</a:t>
            </a:r>
            <a:endParaRPr lang="en-US" sz="1288" dirty="0"/>
          </a:p>
        </p:txBody>
      </p:sp>
      <p:sp>
        <p:nvSpPr>
          <p:cNvPr id="14" name="Text 12"/>
          <p:cNvSpPr txBox="1"/>
          <p:nvPr/>
        </p:nvSpPr>
        <p:spPr>
          <a:xfrm>
            <a:off x="144162" y="1503405"/>
            <a:ext cx="3192162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实验重启 / 检查 / 恢复诊断</a:t>
            </a:r>
            <a:endParaRPr lang="en-US" sz="1190" dirty="0"/>
          </a:p>
        </p:txBody>
      </p:sp>
      <p:sp>
        <p:nvSpPr>
          <p:cNvPr id="15" name="Text 13"/>
          <p:cNvSpPr txBox="1"/>
          <p:nvPr/>
        </p:nvSpPr>
        <p:spPr>
          <a:xfrm>
            <a:off x="3768811" y="1503405"/>
            <a:ext cx="407773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记忆编辑 / 策略建议 / 算子诊断 / 人工审核</a:t>
            </a:r>
            <a:endParaRPr lang="en-US" sz="1134" dirty="0"/>
          </a:p>
        </p:txBody>
      </p:sp>
      <p:sp>
        <p:nvSpPr>
          <p:cNvPr id="16" name="Text 14"/>
          <p:cNvSpPr txBox="1"/>
          <p:nvPr/>
        </p:nvSpPr>
        <p:spPr>
          <a:xfrm>
            <a:off x="8073081" y="1503405"/>
            <a:ext cx="3665838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计划调整 / 多 Agent Advice / 模型路由</a:t>
            </a:r>
            <a:endParaRPr lang="en-US" sz="1134" dirty="0"/>
          </a:p>
        </p:txBody>
      </p:sp>
      <p:sp>
        <p:nvSpPr>
          <p:cNvPr id="17" name="Text 15"/>
          <p:cNvSpPr txBox="1"/>
          <p:nvPr/>
        </p:nvSpPr>
        <p:spPr>
          <a:xfrm>
            <a:off x="205946" y="1812324"/>
            <a:ext cx="3212757" cy="111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experiment-review-skill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environment-check-skill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recovery-diagnosis-skill</a:t>
            </a:r>
            <a:endParaRPr lang="en-US" sz="1134" dirty="0"/>
          </a:p>
        </p:txBody>
      </p:sp>
      <p:sp>
        <p:nvSpPr>
          <p:cNvPr id="18" name="Text 16"/>
          <p:cNvSpPr txBox="1"/>
          <p:nvPr/>
        </p:nvSpPr>
        <p:spPr>
          <a:xfrm>
            <a:off x="3768811" y="1812324"/>
            <a:ext cx="4036540" cy="137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memory-compile-skill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strategy-proposal-skill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operator-diagnosis-skill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human-review-precheck-skill</a:t>
            </a:r>
            <a:endParaRPr lang="en-US" sz="1134" dirty="0"/>
          </a:p>
        </p:txBody>
      </p:sp>
      <p:sp>
        <p:nvSpPr>
          <p:cNvPr id="19" name="Text 17"/>
          <p:cNvSpPr txBox="1"/>
          <p:nvPr/>
        </p:nvSpPr>
        <p:spPr>
          <a:xfrm>
            <a:off x="8073081" y="1812324"/>
            <a:ext cx="3707027" cy="111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planning-strategy-skill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multi-agent-advisor-skill</a:t>
            </a:r>
            <a:endParaRPr lang="en-US" sz="1134" dirty="0"/>
          </a:p>
          <a:p>
            <a:pPr algn="l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model-routing-skill</a:t>
            </a:r>
            <a:endParaRPr lang="en-US" sz="1134" dirty="0"/>
          </a:p>
        </p:txBody>
      </p:sp>
      <p:sp>
        <p:nvSpPr>
          <p:cNvPr id="20" name="Text 18"/>
          <p:cNvSpPr txBox="1"/>
          <p:nvPr/>
        </p:nvSpPr>
        <p:spPr>
          <a:xfrm>
            <a:off x="144162" y="2965622"/>
            <a:ext cx="8237838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34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上下文管理：稳定内容前置，动态信息后置</a:t>
            </a:r>
            <a:endParaRPr lang="en-US" sz="1834" dirty="0"/>
          </a:p>
        </p:txBody>
      </p:sp>
      <p:sp>
        <p:nvSpPr>
          <p:cNvPr id="21" name="Text 19"/>
          <p:cNvSpPr txBox="1"/>
          <p:nvPr/>
        </p:nvSpPr>
        <p:spPr>
          <a:xfrm>
            <a:off x="164757" y="3356919"/>
            <a:ext cx="8237838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8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目标是减少重复预设上下文、同时保证证据和过程可恢复</a:t>
            </a:r>
            <a:endParaRPr lang="en-US" sz="1148" dirty="0"/>
          </a:p>
        </p:txBody>
      </p:sp>
      <p:sp>
        <p:nvSpPr>
          <p:cNvPr id="22" name="Shape 20"/>
          <p:cNvSpPr/>
          <p:nvPr/>
        </p:nvSpPr>
        <p:spPr>
          <a:xfrm>
            <a:off x="144162" y="3624649"/>
            <a:ext cx="11162270" cy="0"/>
          </a:xfrm>
          <a:prstGeom prst="line">
            <a:avLst/>
          </a:prstGeom>
          <a:noFill/>
          <a:ln w="12700">
            <a:solidFill>
              <a:srgbClr val="95A3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757" y="3727622"/>
            <a:ext cx="1874108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26541" y="3727622"/>
            <a:ext cx="175054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稳定前置</a:t>
            </a:r>
            <a:endParaRPr lang="en-US" sz="1190" dirty="0"/>
          </a:p>
        </p:txBody>
      </p:sp>
      <p:sp>
        <p:nvSpPr>
          <p:cNvPr id="25" name="Text 23"/>
          <p:cNvSpPr txBox="1"/>
          <p:nvPr/>
        </p:nvSpPr>
        <p:spPr>
          <a:xfrm>
            <a:off x="2306595" y="3727622"/>
            <a:ext cx="6178378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角色、硬约束、输出 schema、工具说明、Skill 规程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8773297" y="3727622"/>
            <a:ext cx="1647568" cy="370703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835081" y="3727622"/>
            <a:ext cx="15240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强缓存</a:t>
            </a:r>
            <a:endParaRPr lang="en-US" sz="1148" dirty="0"/>
          </a:p>
        </p:txBody>
      </p:sp>
      <p:sp>
        <p:nvSpPr>
          <p:cNvPr id="28" name="Shape 26"/>
          <p:cNvSpPr/>
          <p:nvPr/>
        </p:nvSpPr>
        <p:spPr>
          <a:xfrm>
            <a:off x="164757" y="4324865"/>
            <a:ext cx="1874108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26541" y="4324865"/>
            <a:ext cx="175054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快照前置</a:t>
            </a:r>
            <a:endParaRPr lang="en-US" sz="1190" dirty="0"/>
          </a:p>
        </p:txBody>
      </p:sp>
      <p:sp>
        <p:nvSpPr>
          <p:cNvPr id="30" name="Text 28"/>
          <p:cNvSpPr txBox="1"/>
          <p:nvPr/>
        </p:nvSpPr>
        <p:spPr>
          <a:xfrm>
            <a:off x="2306595" y="4324865"/>
            <a:ext cx="6178378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Policy、Prompt、Operator、Memory、Tool、Skill 版本</a:t>
            </a:r>
            <a:endParaRPr lang="en-US" sz="1190" dirty="0"/>
          </a:p>
        </p:txBody>
      </p:sp>
      <p:sp>
        <p:nvSpPr>
          <p:cNvPr id="31" name="Shape 29"/>
          <p:cNvSpPr/>
          <p:nvPr/>
        </p:nvSpPr>
        <p:spPr>
          <a:xfrm>
            <a:off x="8773297" y="4324865"/>
            <a:ext cx="1647568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835081" y="4324865"/>
            <a:ext cx="15240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随快照失效</a:t>
            </a:r>
            <a:endParaRPr lang="en-US" sz="1148" dirty="0"/>
          </a:p>
        </p:txBody>
      </p:sp>
      <p:sp>
        <p:nvSpPr>
          <p:cNvPr id="33" name="Shape 31"/>
          <p:cNvSpPr/>
          <p:nvPr/>
        </p:nvSpPr>
        <p:spPr>
          <a:xfrm>
            <a:off x="164757" y="4922108"/>
            <a:ext cx="1874108" cy="370703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26541" y="4922108"/>
            <a:ext cx="175054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任务上下文</a:t>
            </a:r>
            <a:endParaRPr lang="en-US" sz="1190" dirty="0"/>
          </a:p>
        </p:txBody>
      </p:sp>
      <p:sp>
        <p:nvSpPr>
          <p:cNvPr id="35" name="Text 33"/>
          <p:cNvSpPr txBox="1"/>
          <p:nvPr/>
        </p:nvSpPr>
        <p:spPr>
          <a:xfrm>
            <a:off x="2306595" y="4922108"/>
            <a:ext cx="6178378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目标、搜索模式、执行范围、预算、允许工具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8773297" y="4922108"/>
            <a:ext cx="1647568" cy="370703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835081" y="4922108"/>
            <a:ext cx="15240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弱缓存</a:t>
            </a:r>
            <a:endParaRPr lang="en-US" sz="1148" dirty="0"/>
          </a:p>
        </p:txBody>
      </p:sp>
      <p:sp>
        <p:nvSpPr>
          <p:cNvPr id="38" name="Shape 36"/>
          <p:cNvSpPr/>
          <p:nvPr/>
        </p:nvSpPr>
        <p:spPr>
          <a:xfrm>
            <a:off x="164757" y="5519351"/>
            <a:ext cx="1874108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226541" y="5519351"/>
            <a:ext cx="175054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动态尾部</a:t>
            </a:r>
            <a:endParaRPr lang="en-US" sz="1190" dirty="0"/>
          </a:p>
        </p:txBody>
      </p:sp>
      <p:sp>
        <p:nvSpPr>
          <p:cNvPr id="40" name="Text 38"/>
          <p:cNvSpPr txBox="1"/>
          <p:nvPr/>
        </p:nvSpPr>
        <p:spPr>
          <a:xfrm>
            <a:off x="2306595" y="5519351"/>
            <a:ext cx="6178378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运行目录、当前步骤、最新观察、错误摘要、恢复点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8773297" y="5519351"/>
            <a:ext cx="1647568" cy="370703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835081" y="5519351"/>
            <a:ext cx="15240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不缓存</a:t>
            </a:r>
            <a:endParaRPr lang="en-US" sz="1148" dirty="0"/>
          </a:p>
        </p:txBody>
      </p:sp>
      <p:sp>
        <p:nvSpPr>
          <p:cNvPr id="43" name="Shape 41"/>
          <p:cNvSpPr/>
          <p:nvPr/>
        </p:nvSpPr>
        <p:spPr>
          <a:xfrm>
            <a:off x="350108" y="6260757"/>
            <a:ext cx="10915135" cy="453081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BCD0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1892" y="6260757"/>
            <a:ext cx="10791567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365F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只缓存全文字内容：schema、模板、Skill、Tool、Policy、Prompt、Operator、Memory 与得分当前版本。</a:t>
            </a:r>
            <a:endParaRPr lang="en-US" sz="11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Judge：自进化治理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负责复盘和提出修改建议，不参与当前实时正式决策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973" y="885568"/>
            <a:ext cx="1647568" cy="453081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64757" y="885568"/>
            <a:ext cx="1524000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1771135" y="1112108"/>
            <a:ext cx="82378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94703" y="885568"/>
            <a:ext cx="1626973" cy="453081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956486" y="885568"/>
            <a:ext cx="1503405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诊断层级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3542270" y="1112108"/>
            <a:ext cx="82378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65838" y="885568"/>
            <a:ext cx="1626973" cy="453081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27622" y="885568"/>
            <a:ext cx="1503405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优化策略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5313405" y="1112108"/>
            <a:ext cx="82378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36973" y="885568"/>
            <a:ext cx="1626973" cy="453081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98757" y="885568"/>
            <a:ext cx="1503405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7084540" y="1112108"/>
            <a:ext cx="226541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52270" y="885568"/>
            <a:ext cx="1647568" cy="453081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14054" y="885568"/>
            <a:ext cx="1524000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/</a:t>
            </a:r>
            <a:endParaRPr lang="en-US" sz="1190" dirty="0"/>
          </a:p>
          <a:p>
            <a:pPr algn="ctr" indent="0" marL="0">
              <a:buNone/>
            </a:pPr>
            <a:r>
              <a:rPr lang="en-US" sz="119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Holdout</a:t>
            </a:r>
            <a:endParaRPr lang="en-US" sz="1190" dirty="0"/>
          </a:p>
        </p:txBody>
      </p:sp>
      <p:sp>
        <p:nvSpPr>
          <p:cNvPr id="22" name="Shape 20"/>
          <p:cNvSpPr/>
          <p:nvPr/>
        </p:nvSpPr>
        <p:spPr>
          <a:xfrm>
            <a:off x="9020432" y="1112108"/>
            <a:ext cx="102973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64594" y="885568"/>
            <a:ext cx="1482811" cy="453081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26378" y="885568"/>
            <a:ext cx="1359243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记忆结果</a:t>
            </a:r>
            <a:endParaRPr lang="en-US" sz="1190" dirty="0"/>
          </a:p>
        </p:txBody>
      </p:sp>
      <p:sp>
        <p:nvSpPr>
          <p:cNvPr id="25" name="Text 23"/>
          <p:cNvSpPr txBox="1"/>
          <p:nvPr/>
        </p:nvSpPr>
        <p:spPr>
          <a:xfrm>
            <a:off x="144162" y="1421027"/>
            <a:ext cx="3089189" cy="26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备项实验记录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123568" y="1688757"/>
            <a:ext cx="3562865" cy="370703"/>
          </a:xfrm>
          <a:prstGeom prst="roundRect">
            <a:avLst/>
          </a:prstGeom>
          <a:solidFill>
            <a:srgbClr val="F9FCFD"/>
          </a:solidFill>
          <a:ln w="11430">
            <a:solidFill>
              <a:srgbClr val="AEC0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85351" y="1688757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诊断必须落层级</a:t>
            </a:r>
            <a:endParaRPr lang="en-US" sz="1190" dirty="0"/>
          </a:p>
        </p:txBody>
      </p:sp>
      <p:sp>
        <p:nvSpPr>
          <p:cNvPr id="28" name="Shape 26"/>
          <p:cNvSpPr/>
          <p:nvPr/>
        </p:nvSpPr>
        <p:spPr>
          <a:xfrm>
            <a:off x="144162" y="230659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0108" y="2183027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样本情况</a:t>
            </a:r>
            <a:endParaRPr lang="en-US" sz="1204" dirty="0"/>
          </a:p>
        </p:txBody>
      </p:sp>
      <p:sp>
        <p:nvSpPr>
          <p:cNvPr id="30" name="Shape 28"/>
          <p:cNvSpPr/>
          <p:nvPr/>
        </p:nvSpPr>
        <p:spPr>
          <a:xfrm>
            <a:off x="144162" y="267729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0108" y="2553730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路由描述</a:t>
            </a:r>
            <a:endParaRPr lang="en-US" sz="1204" dirty="0"/>
          </a:p>
        </p:txBody>
      </p:sp>
      <p:sp>
        <p:nvSpPr>
          <p:cNvPr id="32" name="Shape 30"/>
          <p:cNvSpPr/>
          <p:nvPr/>
        </p:nvSpPr>
        <p:spPr>
          <a:xfrm>
            <a:off x="144162" y="3048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0108" y="2924432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算子选择</a:t>
            </a:r>
            <a:endParaRPr lang="en-US" sz="1204" dirty="0"/>
          </a:p>
        </p:txBody>
      </p:sp>
      <p:sp>
        <p:nvSpPr>
          <p:cNvPr id="34" name="Shape 32"/>
          <p:cNvSpPr/>
          <p:nvPr/>
        </p:nvSpPr>
        <p:spPr>
          <a:xfrm>
            <a:off x="144162" y="341870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0108" y="3295135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</a:t>
            </a:r>
            <a:endParaRPr lang="en-US" sz="1204" dirty="0"/>
          </a:p>
        </p:txBody>
      </p:sp>
      <p:sp>
        <p:nvSpPr>
          <p:cNvPr id="36" name="Shape 34"/>
          <p:cNvSpPr/>
          <p:nvPr/>
        </p:nvSpPr>
        <p:spPr>
          <a:xfrm>
            <a:off x="144162" y="378940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0108" y="3665838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rubric/judge结果</a:t>
            </a:r>
            <a:endParaRPr lang="en-US" sz="1204" dirty="0"/>
          </a:p>
        </p:txBody>
      </p:sp>
      <p:sp>
        <p:nvSpPr>
          <p:cNvPr id="38" name="Shape 36"/>
          <p:cNvSpPr/>
          <p:nvPr/>
        </p:nvSpPr>
        <p:spPr>
          <a:xfrm>
            <a:off x="144162" y="4160108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0108" y="4036541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204" dirty="0"/>
          </a:p>
        </p:txBody>
      </p:sp>
      <p:sp>
        <p:nvSpPr>
          <p:cNvPr id="40" name="Shape 38"/>
          <p:cNvSpPr/>
          <p:nvPr/>
        </p:nvSpPr>
        <p:spPr>
          <a:xfrm>
            <a:off x="144162" y="4530811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0108" y="4407243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搜索成本以及预算</a:t>
            </a:r>
            <a:endParaRPr lang="en-US" sz="1204" dirty="0"/>
          </a:p>
        </p:txBody>
      </p:sp>
      <p:sp>
        <p:nvSpPr>
          <p:cNvPr id="42" name="Shape 40"/>
          <p:cNvSpPr/>
          <p:nvPr/>
        </p:nvSpPr>
        <p:spPr>
          <a:xfrm>
            <a:off x="5951838" y="1688757"/>
            <a:ext cx="3562865" cy="370703"/>
          </a:xfrm>
          <a:prstGeom prst="roundRect">
            <a:avLst/>
          </a:prstGeom>
          <a:solidFill>
            <a:srgbClr val="FFFDFC"/>
          </a:solidFill>
          <a:ln w="11430">
            <a:solidFill>
              <a:srgbClr val="D4C3A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13621" y="1688757"/>
            <a:ext cx="3439297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生成周期</a:t>
            </a:r>
            <a:endParaRPr lang="en-US" sz="1190" dirty="0"/>
          </a:p>
        </p:txBody>
      </p:sp>
      <p:sp>
        <p:nvSpPr>
          <p:cNvPr id="44" name="Shape 42"/>
          <p:cNvSpPr/>
          <p:nvPr/>
        </p:nvSpPr>
        <p:spPr>
          <a:xfrm>
            <a:off x="5972432" y="230659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8378" y="2183027"/>
            <a:ext cx="3295135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适合验证</a:t>
            </a:r>
            <a:endParaRPr lang="en-US" sz="1204" dirty="0"/>
          </a:p>
        </p:txBody>
      </p:sp>
      <p:sp>
        <p:nvSpPr>
          <p:cNvPr id="46" name="Shape 44"/>
          <p:cNvSpPr/>
          <p:nvPr/>
        </p:nvSpPr>
        <p:spPr>
          <a:xfrm>
            <a:off x="5972432" y="267729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8378" y="2553730"/>
            <a:ext cx="3295135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204" dirty="0"/>
          </a:p>
        </p:txBody>
      </p:sp>
      <p:sp>
        <p:nvSpPr>
          <p:cNvPr id="48" name="Shape 46"/>
          <p:cNvSpPr/>
          <p:nvPr/>
        </p:nvSpPr>
        <p:spPr>
          <a:xfrm>
            <a:off x="5972432" y="3048000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78378" y="2924432"/>
            <a:ext cx="3295135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进一步评估</a:t>
            </a:r>
            <a:endParaRPr lang="en-US" sz="1204" dirty="0"/>
          </a:p>
        </p:txBody>
      </p:sp>
      <p:sp>
        <p:nvSpPr>
          <p:cNvPr id="50" name="Shape 48"/>
          <p:cNvSpPr/>
          <p:nvPr/>
        </p:nvSpPr>
        <p:spPr>
          <a:xfrm>
            <a:off x="5972432" y="341870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78378" y="3295135"/>
            <a:ext cx="3295135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证据不足则拒绝</a:t>
            </a:r>
            <a:endParaRPr lang="en-US" sz="1204" dirty="0"/>
          </a:p>
        </p:txBody>
      </p:sp>
      <p:sp>
        <p:nvSpPr>
          <p:cNvPr id="52" name="Shape 50"/>
          <p:cNvSpPr/>
          <p:nvPr/>
        </p:nvSpPr>
        <p:spPr>
          <a:xfrm>
            <a:off x="5972432" y="378940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8378" y="3665838"/>
            <a:ext cx="3295135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正式生效</a:t>
            </a:r>
            <a:endParaRPr lang="en-US" sz="1204" dirty="0"/>
          </a:p>
        </p:txBody>
      </p:sp>
      <p:sp>
        <p:nvSpPr>
          <p:cNvPr id="54" name="Shape 52"/>
          <p:cNvSpPr/>
          <p:nvPr/>
        </p:nvSpPr>
        <p:spPr>
          <a:xfrm>
            <a:off x="1894703" y="4427838"/>
            <a:ext cx="6281351" cy="494270"/>
          </a:xfrm>
          <a:prstGeom prst="roundRect">
            <a:avLst/>
          </a:prstGeom>
          <a:solidFill>
            <a:srgbClr val="FBEFEB"/>
          </a:solidFill>
          <a:ln w="11430">
            <a:solidFill>
              <a:srgbClr val="E0BEB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956486" y="4427838"/>
            <a:ext cx="6157784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B557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 Global Judge 分析结果全部需要人工审核后再实验具体改进计划</a:t>
            </a:r>
            <a:endParaRPr lang="en-US" sz="11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动态预算：把剩余资源转向高收益路径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可以因分配未知任务，但不能突破硬预算或改写历史消耗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568" y="947351"/>
            <a:ext cx="1626973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85351" y="947351"/>
            <a:ext cx="1503405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</a:t>
            </a:r>
            <a:endParaRPr lang="en-US" sz="1134" dirty="0"/>
          </a:p>
        </p:txBody>
      </p:sp>
      <p:sp>
        <p:nvSpPr>
          <p:cNvPr id="10" name="Shape 8"/>
          <p:cNvSpPr/>
          <p:nvPr/>
        </p:nvSpPr>
        <p:spPr>
          <a:xfrm>
            <a:off x="1771135" y="1184189"/>
            <a:ext cx="82378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94703" y="947351"/>
            <a:ext cx="1482811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956486" y="947351"/>
            <a:ext cx="1359243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预算建议</a:t>
            </a:r>
            <a:endParaRPr lang="en-US" sz="1134" dirty="0"/>
          </a:p>
        </p:txBody>
      </p:sp>
      <p:sp>
        <p:nvSpPr>
          <p:cNvPr id="13" name="Shape 11"/>
          <p:cNvSpPr/>
          <p:nvPr/>
        </p:nvSpPr>
        <p:spPr>
          <a:xfrm>
            <a:off x="3398108" y="1184189"/>
            <a:ext cx="102973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42270" y="947351"/>
            <a:ext cx="1688757" cy="47367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04054" y="947351"/>
            <a:ext cx="1565189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</a:t>
            </a:r>
            <a:endParaRPr lang="en-US" sz="1134" dirty="0"/>
          </a:p>
          <a:p>
            <a:pPr algn="ctr" indent="0" marL="0">
              <a:buNone/>
            </a:pPr>
            <a:r>
              <a:rPr lang="en-US" sz="1134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</a:t>
            </a:r>
            <a:endParaRPr lang="en-US" sz="1134" dirty="0"/>
          </a:p>
        </p:txBody>
      </p:sp>
      <p:sp>
        <p:nvSpPr>
          <p:cNvPr id="16" name="Shape 14"/>
          <p:cNvSpPr/>
          <p:nvPr/>
        </p:nvSpPr>
        <p:spPr>
          <a:xfrm>
            <a:off x="5251621" y="1184189"/>
            <a:ext cx="247135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39946" y="947351"/>
            <a:ext cx="1524000" cy="47367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01730" y="947351"/>
            <a:ext cx="140043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Replan</a:t>
            </a:r>
            <a:endParaRPr lang="en-US" sz="1134" dirty="0"/>
          </a:p>
        </p:txBody>
      </p:sp>
      <p:sp>
        <p:nvSpPr>
          <p:cNvPr id="19" name="Shape 17"/>
          <p:cNvSpPr/>
          <p:nvPr/>
        </p:nvSpPr>
        <p:spPr>
          <a:xfrm>
            <a:off x="7084540" y="1184189"/>
            <a:ext cx="247135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2865" y="947351"/>
            <a:ext cx="1503405" cy="47367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34648" y="947351"/>
            <a:ext cx="137983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Executor</a:t>
            </a:r>
            <a:endParaRPr lang="en-US" sz="1134" dirty="0"/>
          </a:p>
        </p:txBody>
      </p:sp>
      <p:sp>
        <p:nvSpPr>
          <p:cNvPr id="22" name="Shape 20"/>
          <p:cNvSpPr/>
          <p:nvPr/>
        </p:nvSpPr>
        <p:spPr>
          <a:xfrm>
            <a:off x="8896865" y="1184189"/>
            <a:ext cx="247135" cy="0"/>
          </a:xfrm>
          <a:prstGeom prst="line">
            <a:avLst/>
          </a:prstGeom>
          <a:noFill/>
          <a:ln w="12700">
            <a:solidFill>
              <a:srgbClr val="8FA0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5189" y="947351"/>
            <a:ext cx="1524000" cy="47367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246973" y="947351"/>
            <a:ext cx="140043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 Ledger</a:t>
            </a:r>
            <a:endParaRPr lang="en-US" sz="1134" dirty="0"/>
          </a:p>
        </p:txBody>
      </p:sp>
      <p:sp>
        <p:nvSpPr>
          <p:cNvPr id="25" name="Shape 23"/>
          <p:cNvSpPr/>
          <p:nvPr/>
        </p:nvSpPr>
        <p:spPr>
          <a:xfrm>
            <a:off x="329514" y="1750541"/>
            <a:ext cx="3006811" cy="391297"/>
          </a:xfrm>
          <a:prstGeom prst="roundRect">
            <a:avLst/>
          </a:prstGeom>
          <a:solidFill>
            <a:srgbClr val="FFF9F7"/>
          </a:solidFill>
          <a:ln w="11430">
            <a:solidFill>
              <a:srgbClr val="D2C5C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1297" y="1750541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B557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可以减少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3933567" y="1750541"/>
            <a:ext cx="2986216" cy="391297"/>
          </a:xfrm>
          <a:prstGeom prst="roundRect">
            <a:avLst/>
          </a:prstGeom>
          <a:solidFill>
            <a:srgbClr val="F7FCF9"/>
          </a:solidFill>
          <a:ln w="11430">
            <a:solidFill>
              <a:srgbClr val="BACCC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95351" y="1750541"/>
            <a:ext cx="2862649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可以增加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7517027" y="1750541"/>
            <a:ext cx="3006811" cy="391297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C2C9C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78811" y="1750541"/>
            <a:ext cx="2883243" cy="39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必须拒绝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370703" y="2471351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649" y="2347784"/>
            <a:ext cx="278027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validation_failed</a:t>
            </a:r>
            <a:endParaRPr lang="en-US" sz="1204" dirty="0"/>
          </a:p>
        </p:txBody>
      </p:sp>
      <p:sp>
        <p:nvSpPr>
          <p:cNvPr id="33" name="Shape 31"/>
          <p:cNvSpPr/>
          <p:nvPr/>
        </p:nvSpPr>
        <p:spPr>
          <a:xfrm>
            <a:off x="370703" y="288324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649" y="2759676"/>
            <a:ext cx="278027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not_applicable</a:t>
            </a:r>
            <a:endParaRPr lang="en-US" sz="1204" dirty="0"/>
          </a:p>
        </p:txBody>
      </p:sp>
      <p:sp>
        <p:nvSpPr>
          <p:cNvPr id="35" name="Shape 33"/>
          <p:cNvSpPr/>
          <p:nvPr/>
        </p:nvSpPr>
        <p:spPr>
          <a:xfrm>
            <a:off x="370703" y="329513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649" y="3171568"/>
            <a:ext cx="278027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高成本无收益</a:t>
            </a:r>
            <a:endParaRPr lang="en-US" sz="1204" dirty="0"/>
          </a:p>
        </p:txBody>
      </p:sp>
      <p:sp>
        <p:nvSpPr>
          <p:cNvPr id="37" name="Shape 35"/>
          <p:cNvSpPr/>
          <p:nvPr/>
        </p:nvSpPr>
        <p:spPr>
          <a:xfrm>
            <a:off x="370703" y="370702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6649" y="3583459"/>
            <a:ext cx="2780270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重复题面过多</a:t>
            </a:r>
            <a:endParaRPr lang="en-US" sz="1204" dirty="0"/>
          </a:p>
        </p:txBody>
      </p:sp>
      <p:sp>
        <p:nvSpPr>
          <p:cNvPr id="39" name="Shape 37"/>
          <p:cNvSpPr/>
          <p:nvPr/>
        </p:nvSpPr>
        <p:spPr>
          <a:xfrm>
            <a:off x="3974757" y="2471351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80703" y="2347784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 score_decreased</a:t>
            </a:r>
            <a:endParaRPr lang="en-US" sz="1204" dirty="0"/>
          </a:p>
        </p:txBody>
      </p:sp>
      <p:sp>
        <p:nvSpPr>
          <p:cNvPr id="41" name="Shape 39"/>
          <p:cNvSpPr/>
          <p:nvPr/>
        </p:nvSpPr>
        <p:spPr>
          <a:xfrm>
            <a:off x="3974757" y="288324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80703" y="2759676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接近边界且机制清楚</a:t>
            </a:r>
            <a:endParaRPr lang="en-US" sz="1204" dirty="0"/>
          </a:p>
        </p:txBody>
      </p:sp>
      <p:sp>
        <p:nvSpPr>
          <p:cNvPr id="43" name="Shape 41"/>
          <p:cNvSpPr/>
          <p:nvPr/>
        </p:nvSpPr>
        <p:spPr>
          <a:xfrm>
            <a:off x="3974757" y="329513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80703" y="3171568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评分分歧需要评估</a:t>
            </a:r>
            <a:endParaRPr lang="en-US" sz="1204" dirty="0"/>
          </a:p>
        </p:txBody>
      </p:sp>
      <p:sp>
        <p:nvSpPr>
          <p:cNvPr id="45" name="Shape 43"/>
          <p:cNvSpPr/>
          <p:nvPr/>
        </p:nvSpPr>
        <p:spPr>
          <a:xfrm>
            <a:off x="3974757" y="370702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80703" y="3583459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一层有效再深二层</a:t>
            </a:r>
            <a:endParaRPr lang="en-US" sz="1204" dirty="0"/>
          </a:p>
        </p:txBody>
      </p:sp>
      <p:sp>
        <p:nvSpPr>
          <p:cNvPr id="47" name="Shape 45"/>
          <p:cNvSpPr/>
          <p:nvPr/>
        </p:nvSpPr>
        <p:spPr>
          <a:xfrm>
            <a:off x="7558216" y="2471351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64162" y="2347784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突破硬预算</a:t>
            </a:r>
            <a:endParaRPr lang="en-US" sz="1204" dirty="0"/>
          </a:p>
        </p:txBody>
      </p:sp>
      <p:sp>
        <p:nvSpPr>
          <p:cNvPr id="49" name="Shape 47"/>
          <p:cNvSpPr/>
          <p:nvPr/>
        </p:nvSpPr>
        <p:spPr>
          <a:xfrm>
            <a:off x="7558216" y="288324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64162" y="2759676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改写历史消耗</a:t>
            </a:r>
            <a:endParaRPr lang="en-US" sz="1204" dirty="0"/>
          </a:p>
        </p:txBody>
      </p:sp>
      <p:sp>
        <p:nvSpPr>
          <p:cNvPr id="51" name="Shape 49"/>
          <p:cNvSpPr/>
          <p:nvPr/>
        </p:nvSpPr>
        <p:spPr>
          <a:xfrm>
            <a:off x="7558216" y="329513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64162" y="3171568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建议伪写评分</a:t>
            </a:r>
            <a:endParaRPr lang="en-US" sz="1204" dirty="0"/>
          </a:p>
        </p:txBody>
      </p:sp>
      <p:sp>
        <p:nvSpPr>
          <p:cNvPr id="53" name="Shape 51"/>
          <p:cNvSpPr/>
          <p:nvPr/>
        </p:nvSpPr>
        <p:spPr>
          <a:xfrm>
            <a:off x="7558216" y="3707027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64162" y="3583459"/>
            <a:ext cx="2800865" cy="41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快照不一致继续</a:t>
            </a:r>
            <a:endParaRPr lang="en-US" sz="120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实施路线：从可运行到可治理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先稳定单 Agent 控制面，再建设长期记忆、高链治理和专项协作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76" y="926757"/>
            <a:ext cx="1606378" cy="576649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35459" y="926757"/>
            <a:ext cx="1482811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外壳</a:t>
            </a:r>
            <a:endParaRPr lang="en-US" sz="1218" dirty="0"/>
          </a:p>
        </p:txBody>
      </p:sp>
      <p:sp>
        <p:nvSpPr>
          <p:cNvPr id="10" name="Shape 8"/>
          <p:cNvSpPr/>
          <p:nvPr/>
        </p:nvSpPr>
        <p:spPr>
          <a:xfrm>
            <a:off x="82378" y="967946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4162" y="967946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34" dirty="0"/>
          </a:p>
        </p:txBody>
      </p:sp>
      <p:sp>
        <p:nvSpPr>
          <p:cNvPr id="12" name="Shape 10"/>
          <p:cNvSpPr/>
          <p:nvPr/>
        </p:nvSpPr>
        <p:spPr>
          <a:xfrm>
            <a:off x="2718486" y="926757"/>
            <a:ext cx="1585784" cy="576649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80270" y="926757"/>
            <a:ext cx="1462216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</a:t>
            </a:r>
            <a:endParaRPr lang="en-US" sz="1218" dirty="0"/>
          </a:p>
          <a:p>
            <a:pPr algn="ctr" indent="0" marL="0">
              <a:buNone/>
            </a:pPr>
            <a:r>
              <a:rPr lang="en-US" sz="1218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218" dirty="0"/>
          </a:p>
        </p:txBody>
      </p:sp>
      <p:sp>
        <p:nvSpPr>
          <p:cNvPr id="14" name="Shape 12"/>
          <p:cNvSpPr/>
          <p:nvPr/>
        </p:nvSpPr>
        <p:spPr>
          <a:xfrm>
            <a:off x="2327189" y="967946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88973" y="967946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34" dirty="0"/>
          </a:p>
        </p:txBody>
      </p:sp>
      <p:sp>
        <p:nvSpPr>
          <p:cNvPr id="16" name="Shape 14"/>
          <p:cNvSpPr/>
          <p:nvPr/>
        </p:nvSpPr>
        <p:spPr>
          <a:xfrm>
            <a:off x="4922108" y="926757"/>
            <a:ext cx="1606378" cy="576649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83892" y="926757"/>
            <a:ext cx="1482811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/</a:t>
            </a:r>
            <a:endParaRPr lang="en-US" sz="1218" dirty="0"/>
          </a:p>
          <a:p>
            <a:pPr algn="ctr" indent="0" marL="0">
              <a:buNone/>
            </a:pPr>
            <a:r>
              <a:rPr lang="en-US" sz="1218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</a:t>
            </a:r>
            <a:endParaRPr lang="en-US" sz="1218" dirty="0"/>
          </a:p>
        </p:txBody>
      </p:sp>
      <p:sp>
        <p:nvSpPr>
          <p:cNvPr id="18" name="Shape 16"/>
          <p:cNvSpPr/>
          <p:nvPr/>
        </p:nvSpPr>
        <p:spPr>
          <a:xfrm>
            <a:off x="4530811" y="967946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2594" y="967946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34" dirty="0"/>
          </a:p>
        </p:txBody>
      </p:sp>
      <p:sp>
        <p:nvSpPr>
          <p:cNvPr id="20" name="Shape 18"/>
          <p:cNvSpPr/>
          <p:nvPr/>
        </p:nvSpPr>
        <p:spPr>
          <a:xfrm>
            <a:off x="7166919" y="926757"/>
            <a:ext cx="1524000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28703" y="926757"/>
            <a:ext cx="1400432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五层</a:t>
            </a:r>
            <a:endParaRPr lang="en-US" sz="1218" dirty="0"/>
          </a:p>
        </p:txBody>
      </p:sp>
      <p:sp>
        <p:nvSpPr>
          <p:cNvPr id="22" name="Shape 20"/>
          <p:cNvSpPr/>
          <p:nvPr/>
        </p:nvSpPr>
        <p:spPr>
          <a:xfrm>
            <a:off x="6775621" y="967946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37405" y="967946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34" dirty="0"/>
          </a:p>
        </p:txBody>
      </p:sp>
      <p:sp>
        <p:nvSpPr>
          <p:cNvPr id="24" name="Shape 22"/>
          <p:cNvSpPr/>
          <p:nvPr/>
        </p:nvSpPr>
        <p:spPr>
          <a:xfrm>
            <a:off x="9370540" y="926757"/>
            <a:ext cx="1565189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432324" y="926757"/>
            <a:ext cx="1441622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Judge</a:t>
            </a:r>
            <a:endParaRPr lang="en-US" sz="1218" dirty="0"/>
          </a:p>
        </p:txBody>
      </p:sp>
      <p:sp>
        <p:nvSpPr>
          <p:cNvPr id="26" name="Shape 24"/>
          <p:cNvSpPr/>
          <p:nvPr/>
        </p:nvSpPr>
        <p:spPr>
          <a:xfrm>
            <a:off x="8979243" y="967946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41027" y="967946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34" dirty="0"/>
          </a:p>
        </p:txBody>
      </p:sp>
      <p:sp>
        <p:nvSpPr>
          <p:cNvPr id="28" name="Shape 26"/>
          <p:cNvSpPr/>
          <p:nvPr/>
        </p:nvSpPr>
        <p:spPr>
          <a:xfrm>
            <a:off x="473676" y="2388973"/>
            <a:ext cx="1606378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35459" y="2388973"/>
            <a:ext cx="1482811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Replay / Audit</a:t>
            </a:r>
            <a:endParaRPr lang="en-US" sz="1218" dirty="0"/>
          </a:p>
        </p:txBody>
      </p:sp>
      <p:sp>
        <p:nvSpPr>
          <p:cNvPr id="30" name="Shape 28"/>
          <p:cNvSpPr/>
          <p:nvPr/>
        </p:nvSpPr>
        <p:spPr>
          <a:xfrm>
            <a:off x="82378" y="2430162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4162" y="2430162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34" dirty="0"/>
          </a:p>
        </p:txBody>
      </p:sp>
      <p:sp>
        <p:nvSpPr>
          <p:cNvPr id="32" name="Shape 30"/>
          <p:cNvSpPr/>
          <p:nvPr/>
        </p:nvSpPr>
        <p:spPr>
          <a:xfrm>
            <a:off x="2718486" y="2388973"/>
            <a:ext cx="1585784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780270" y="2388973"/>
            <a:ext cx="1462216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</a:t>
            </a:r>
            <a:endParaRPr lang="en-US" sz="1218" dirty="0"/>
          </a:p>
        </p:txBody>
      </p:sp>
      <p:sp>
        <p:nvSpPr>
          <p:cNvPr id="34" name="Shape 32"/>
          <p:cNvSpPr/>
          <p:nvPr/>
        </p:nvSpPr>
        <p:spPr>
          <a:xfrm>
            <a:off x="2327189" y="2430162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88973" y="2430162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34" dirty="0"/>
          </a:p>
        </p:txBody>
      </p:sp>
      <p:sp>
        <p:nvSpPr>
          <p:cNvPr id="36" name="Shape 34"/>
          <p:cNvSpPr/>
          <p:nvPr/>
        </p:nvSpPr>
        <p:spPr>
          <a:xfrm>
            <a:off x="4922108" y="2388973"/>
            <a:ext cx="1606378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983892" y="2388973"/>
            <a:ext cx="1482811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218" dirty="0"/>
          </a:p>
        </p:txBody>
      </p:sp>
      <p:sp>
        <p:nvSpPr>
          <p:cNvPr id="38" name="Shape 36"/>
          <p:cNvSpPr/>
          <p:nvPr/>
        </p:nvSpPr>
        <p:spPr>
          <a:xfrm>
            <a:off x="4530811" y="2430162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92594" y="2430162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34" dirty="0"/>
          </a:p>
        </p:txBody>
      </p:sp>
      <p:sp>
        <p:nvSpPr>
          <p:cNvPr id="40" name="Shape 38"/>
          <p:cNvSpPr/>
          <p:nvPr/>
        </p:nvSpPr>
        <p:spPr>
          <a:xfrm>
            <a:off x="7166919" y="2388973"/>
            <a:ext cx="1606378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228703" y="2388973"/>
            <a:ext cx="1482811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Cache</a:t>
            </a:r>
            <a:endParaRPr lang="en-US" sz="1218" dirty="0"/>
          </a:p>
        </p:txBody>
      </p:sp>
      <p:sp>
        <p:nvSpPr>
          <p:cNvPr id="42" name="Shape 40"/>
          <p:cNvSpPr/>
          <p:nvPr/>
        </p:nvSpPr>
        <p:spPr>
          <a:xfrm>
            <a:off x="6775621" y="2430162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37405" y="2430162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34" dirty="0"/>
          </a:p>
        </p:txBody>
      </p:sp>
      <p:sp>
        <p:nvSpPr>
          <p:cNvPr id="44" name="Shape 42"/>
          <p:cNvSpPr/>
          <p:nvPr/>
        </p:nvSpPr>
        <p:spPr>
          <a:xfrm>
            <a:off x="9370540" y="2388973"/>
            <a:ext cx="1565189" cy="576649"/>
          </a:xfrm>
          <a:prstGeom prst="roundRect">
            <a:avLst/>
          </a:prstGeom>
          <a:solidFill>
            <a:srgbClr val="F4F6F7"/>
          </a:solidFill>
          <a:ln w="11430">
            <a:solidFill>
              <a:srgbClr val="B5C0C4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432324" y="2388973"/>
            <a:ext cx="1441622" cy="57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8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Budget Realloc</a:t>
            </a:r>
            <a:endParaRPr lang="en-US" sz="1218" dirty="0"/>
          </a:p>
        </p:txBody>
      </p:sp>
      <p:sp>
        <p:nvSpPr>
          <p:cNvPr id="46" name="Shape 44"/>
          <p:cNvSpPr/>
          <p:nvPr/>
        </p:nvSpPr>
        <p:spPr>
          <a:xfrm>
            <a:off x="8979243" y="2430162"/>
            <a:ext cx="350108" cy="329514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A7B3B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41027" y="2430162"/>
            <a:ext cx="226541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34" dirty="0"/>
          </a:p>
        </p:txBody>
      </p:sp>
      <p:sp>
        <p:nvSpPr>
          <p:cNvPr id="48" name="Shape 46"/>
          <p:cNvSpPr/>
          <p:nvPr/>
        </p:nvSpPr>
        <p:spPr>
          <a:xfrm>
            <a:off x="2121243" y="1215081"/>
            <a:ext cx="185351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345459" y="1215081"/>
            <a:ext cx="164757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569676" y="1215081"/>
            <a:ext cx="185351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32108" y="1215081"/>
            <a:ext cx="226541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121243" y="2677297"/>
            <a:ext cx="185351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345459" y="2677297"/>
            <a:ext cx="164757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569676" y="2677297"/>
            <a:ext cx="185351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8814486" y="2677297"/>
            <a:ext cx="144162" cy="0"/>
          </a:xfrm>
          <a:prstGeom prst="line">
            <a:avLst/>
          </a:prstGeom>
          <a:noFill/>
          <a:ln w="12700">
            <a:solidFill>
              <a:srgbClr val="8EA0A8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844378" y="1606378"/>
            <a:ext cx="152400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已实施</a:t>
            </a:r>
            <a:endParaRPr lang="en-US" sz="1134" dirty="0"/>
          </a:p>
        </p:txBody>
      </p:sp>
      <p:sp>
        <p:nvSpPr>
          <p:cNvPr id="57" name="Text 55"/>
          <p:cNvSpPr txBox="1"/>
          <p:nvPr/>
        </p:nvSpPr>
        <p:spPr>
          <a:xfrm>
            <a:off x="2924432" y="1606378"/>
            <a:ext cx="152400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已实施基础</a:t>
            </a:r>
            <a:endParaRPr lang="en-US" sz="1134" dirty="0"/>
          </a:p>
        </p:txBody>
      </p:sp>
      <p:sp>
        <p:nvSpPr>
          <p:cNvPr id="58" name="Text 56"/>
          <p:cNvSpPr txBox="1"/>
          <p:nvPr/>
        </p:nvSpPr>
        <p:spPr>
          <a:xfrm>
            <a:off x="5128054" y="1606378"/>
            <a:ext cx="152400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标准化增强</a:t>
            </a:r>
            <a:endParaRPr lang="en-US" sz="1134" dirty="0"/>
          </a:p>
        </p:txBody>
      </p:sp>
      <p:sp>
        <p:nvSpPr>
          <p:cNvPr id="59" name="Text 57"/>
          <p:cNvSpPr txBox="1"/>
          <p:nvPr/>
        </p:nvSpPr>
        <p:spPr>
          <a:xfrm>
            <a:off x="7537621" y="1606378"/>
            <a:ext cx="152400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0" name="Text 58"/>
          <p:cNvSpPr txBox="1"/>
          <p:nvPr/>
        </p:nvSpPr>
        <p:spPr>
          <a:xfrm>
            <a:off x="9720648" y="1606378"/>
            <a:ext cx="1524000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1" name="Text 59"/>
          <p:cNvSpPr txBox="1"/>
          <p:nvPr/>
        </p:nvSpPr>
        <p:spPr>
          <a:xfrm>
            <a:off x="885568" y="3068595"/>
            <a:ext cx="131805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2" name="Text 60"/>
          <p:cNvSpPr txBox="1"/>
          <p:nvPr/>
        </p:nvSpPr>
        <p:spPr>
          <a:xfrm>
            <a:off x="3109784" y="3068595"/>
            <a:ext cx="131805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3" name="Text 61"/>
          <p:cNvSpPr txBox="1"/>
          <p:nvPr/>
        </p:nvSpPr>
        <p:spPr>
          <a:xfrm>
            <a:off x="5354594" y="3068595"/>
            <a:ext cx="131805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4" name="Text 62"/>
          <p:cNvSpPr txBox="1"/>
          <p:nvPr/>
        </p:nvSpPr>
        <p:spPr>
          <a:xfrm>
            <a:off x="7537621" y="3068595"/>
            <a:ext cx="131805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5" name="Text 63"/>
          <p:cNvSpPr txBox="1"/>
          <p:nvPr/>
        </p:nvSpPr>
        <p:spPr>
          <a:xfrm>
            <a:off x="9720648" y="3068595"/>
            <a:ext cx="1318054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目标态</a:t>
            </a:r>
            <a:endParaRPr lang="en-US" sz="1134" dirty="0"/>
          </a:p>
        </p:txBody>
      </p:sp>
      <p:sp>
        <p:nvSpPr>
          <p:cNvPr id="66" name="Shape 64"/>
          <p:cNvSpPr/>
          <p:nvPr/>
        </p:nvSpPr>
        <p:spPr>
          <a:xfrm>
            <a:off x="659027" y="3542270"/>
            <a:ext cx="10008973" cy="514865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BDCDD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20811" y="3542270"/>
            <a:ext cx="9885405" cy="514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365F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当前可展示：阶段 1 与阶段 2 基础已经进入代码；阶段 3-10 是完全体目标态和后续优化路径。</a:t>
            </a:r>
            <a:endParaRPr lang="en-US" sz="1232" dirty="0"/>
          </a:p>
        </p:txBody>
      </p:sp>
      <p:sp>
        <p:nvSpPr>
          <p:cNvPr id="68" name="Shape 66"/>
          <p:cNvSpPr/>
          <p:nvPr/>
        </p:nvSpPr>
        <p:spPr>
          <a:xfrm>
            <a:off x="1400432" y="4407243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606378" y="4283676"/>
            <a:ext cx="9576486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短期：补齐 Tool Registry、Executor、Observation 类型化。</a:t>
            </a:r>
            <a:endParaRPr lang="en-US" sz="1246" dirty="0"/>
          </a:p>
        </p:txBody>
      </p:sp>
      <p:sp>
        <p:nvSpPr>
          <p:cNvPr id="70" name="Shape 68"/>
          <p:cNvSpPr/>
          <p:nvPr/>
        </p:nvSpPr>
        <p:spPr>
          <a:xfrm>
            <a:off x="1400432" y="4860324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606378" y="4736757"/>
            <a:ext cx="9576486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中期：建设长期 Memory、Global Judge、Replay 和最终输出契约。</a:t>
            </a:r>
            <a:endParaRPr lang="en-US" sz="1246" dirty="0"/>
          </a:p>
        </p:txBody>
      </p:sp>
      <p:sp>
        <p:nvSpPr>
          <p:cNvPr id="72" name="Shape 70"/>
          <p:cNvSpPr/>
          <p:nvPr/>
        </p:nvSpPr>
        <p:spPr>
          <a:xfrm>
            <a:off x="1400432" y="5313405"/>
            <a:ext cx="82378" cy="82378"/>
          </a:xfrm>
          <a:prstGeom prst="ellipse">
            <a:avLst/>
          </a:prstGeom>
          <a:solidFill>
            <a:srgbClr val="2D78AE"/>
          </a:solidFill>
          <a:ln w="12700">
            <a:solidFill>
              <a:srgbClr val="2D78AE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606378" y="5189838"/>
            <a:ext cx="9576486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长期：引入只读专项 Agent、Skills、上下文缓存和动态预算。</a:t>
            </a:r>
            <a:endParaRPr lang="en-US" sz="124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89"/>
            <a:ext cx="12192000" cy="0"/>
          </a:xfrm>
          <a:prstGeom prst="line">
            <a:avLst/>
          </a:prstGeom>
          <a:noFill/>
          <a:ln w="7620">
            <a:solidFill>
              <a:srgbClr val="CFD6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757" y="6240162"/>
            <a:ext cx="720811" cy="473676"/>
          </a:xfrm>
          <a:prstGeom prst="roundRect">
            <a:avLst/>
          </a:prstGeom>
          <a:solidFill>
            <a:srgbClr val="363636"/>
          </a:solidFill>
          <a:ln w="1270">
            <a:solidFill>
              <a:srgbClr val="3636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5351" y="6240162"/>
            <a:ext cx="679622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4162" y="144162"/>
            <a:ext cx="11121081" cy="43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底层进化流水线：真实评分闭环</a:t>
            </a:r>
            <a:endParaRPr lang="en-US" sz="2170" dirty="0"/>
          </a:p>
        </p:txBody>
      </p:sp>
      <p:sp>
        <p:nvSpPr>
          <p:cNvPr id="6" name="Text 4"/>
          <p:cNvSpPr txBox="1"/>
          <p:nvPr/>
        </p:nvSpPr>
        <p:spPr>
          <a:xfrm>
            <a:off x="144162" y="535459"/>
            <a:ext cx="11121081" cy="288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4" dirty="0">
                <a:solidFill>
                  <a:srgbClr val="6273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控制全局，候选题决策先应由真实计算和评分分反馈</a:t>
            </a:r>
            <a:endParaRPr lang="en-US" sz="1204" dirty="0"/>
          </a:p>
        </p:txBody>
      </p:sp>
      <p:sp>
        <p:nvSpPr>
          <p:cNvPr id="7" name="Shape 5"/>
          <p:cNvSpPr/>
          <p:nvPr/>
        </p:nvSpPr>
        <p:spPr>
          <a:xfrm>
            <a:off x="144162" y="803189"/>
            <a:ext cx="11162270" cy="0"/>
          </a:xfrm>
          <a:prstGeom prst="line">
            <a:avLst/>
          </a:prstGeom>
          <a:noFill/>
          <a:ln w="12700">
            <a:solidFill>
              <a:srgbClr val="91A0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378" y="926757"/>
            <a:ext cx="967946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4162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1070919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194486" y="926757"/>
            <a:ext cx="1009135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256270" y="926757"/>
            <a:ext cx="88556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2224216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47784" y="926757"/>
            <a:ext cx="967946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09568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336324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59892" y="926757"/>
            <a:ext cx="967946" cy="473676"/>
          </a:xfrm>
          <a:prstGeom prst="roundRect">
            <a:avLst/>
          </a:prstGeom>
          <a:solidFill>
            <a:srgbClr val="E8F3FA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21676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70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448432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926757"/>
            <a:ext cx="967946" cy="47367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33784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5560540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84108" y="926757"/>
            <a:ext cx="967946" cy="47367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745892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672648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96216" y="926757"/>
            <a:ext cx="967946" cy="473676"/>
          </a:xfrm>
          <a:prstGeom prst="roundRect">
            <a:avLst/>
          </a:prstGeom>
          <a:solidFill>
            <a:srgbClr val="E6F6EF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0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84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784757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08324" y="926757"/>
            <a:ext cx="967946" cy="47367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970108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896865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020432" y="926757"/>
            <a:ext cx="967946" cy="47367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082216" y="926757"/>
            <a:ext cx="844378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10008973" y="1163595"/>
            <a:ext cx="82378" cy="0"/>
          </a:xfrm>
          <a:prstGeom prst="line">
            <a:avLst/>
          </a:prstGeom>
          <a:noFill/>
          <a:ln w="10160">
            <a:solidFill>
              <a:srgbClr val="8EA0A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32540" y="926757"/>
            <a:ext cx="1132703" cy="473676"/>
          </a:xfrm>
          <a:prstGeom prst="roundRect">
            <a:avLst/>
          </a:prstGeom>
          <a:solidFill>
            <a:srgbClr val="FFF5E5"/>
          </a:solidFill>
          <a:ln w="11430">
            <a:solidFill>
              <a:srgbClr val="AAB8B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194324" y="926757"/>
            <a:ext cx="1009135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67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父子比较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82378" y="1647568"/>
            <a:ext cx="3253946" cy="453081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7C1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44162" y="1647568"/>
            <a:ext cx="3130378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3D5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multi_operator_branch</a:t>
            </a:r>
            <a:endParaRPr lang="en-US" sz="1134" dirty="0"/>
          </a:p>
        </p:txBody>
      </p:sp>
      <p:sp>
        <p:nvSpPr>
          <p:cNvPr id="39" name="Text 37"/>
          <p:cNvSpPr txBox="1"/>
          <p:nvPr/>
        </p:nvSpPr>
        <p:spPr>
          <a:xfrm>
            <a:off x="3542270" y="1647568"/>
            <a:ext cx="7311081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同一父题多算子横向尝试，直接比较父子题</a:t>
            </a:r>
            <a:endParaRPr lang="en-US" sz="1246" dirty="0"/>
          </a:p>
        </p:txBody>
      </p:sp>
      <p:sp>
        <p:nvSpPr>
          <p:cNvPr id="40" name="Shape 38"/>
          <p:cNvSpPr/>
          <p:nvPr/>
        </p:nvSpPr>
        <p:spPr>
          <a:xfrm>
            <a:off x="82378" y="2306595"/>
            <a:ext cx="3253946" cy="453081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7C1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44162" y="2306595"/>
            <a:ext cx="3130378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3D5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multi_operator_vertical_stack</a:t>
            </a:r>
            <a:endParaRPr lang="en-US" sz="1134" dirty="0"/>
          </a:p>
        </p:txBody>
      </p:sp>
      <p:sp>
        <p:nvSpPr>
          <p:cNvPr id="42" name="Text 40"/>
          <p:cNvSpPr txBox="1"/>
          <p:nvPr/>
        </p:nvSpPr>
        <p:spPr>
          <a:xfrm>
            <a:off x="3542270" y="2306595"/>
            <a:ext cx="7311081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降分节点重新画像路由，扩展两算子路径</a:t>
            </a:r>
            <a:endParaRPr lang="en-US" sz="1246" dirty="0"/>
          </a:p>
        </p:txBody>
      </p:sp>
      <p:sp>
        <p:nvSpPr>
          <p:cNvPr id="43" name="Shape 41"/>
          <p:cNvSpPr/>
          <p:nvPr/>
        </p:nvSpPr>
        <p:spPr>
          <a:xfrm>
            <a:off x="82378" y="2965622"/>
            <a:ext cx="3253946" cy="453081"/>
          </a:xfrm>
          <a:prstGeom prst="roundRect">
            <a:avLst/>
          </a:prstGeom>
          <a:solidFill>
            <a:srgbClr val="F8FAFA"/>
          </a:solidFill>
          <a:ln w="11430">
            <a:solidFill>
              <a:srgbClr val="B7C1C5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144162" y="2965622"/>
            <a:ext cx="3130378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4" b="1" dirty="0">
                <a:solidFill>
                  <a:srgbClr val="3D59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single_branch</a:t>
            </a:r>
            <a:endParaRPr lang="en-US" sz="1134" dirty="0"/>
          </a:p>
        </p:txBody>
      </p:sp>
      <p:sp>
        <p:nvSpPr>
          <p:cNvPr id="45" name="Text 43"/>
          <p:cNvSpPr txBox="1"/>
          <p:nvPr/>
        </p:nvSpPr>
        <p:spPr>
          <a:xfrm>
            <a:off x="3542270" y="2965622"/>
            <a:ext cx="7311081" cy="4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6" b="1" dirty="0">
                <a:solidFill>
                  <a:srgbClr val="263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传统主链逐轮迭代，只保留一个候选</a:t>
            </a:r>
            <a:endParaRPr lang="en-US" sz="1246" dirty="0"/>
          </a:p>
        </p:txBody>
      </p:sp>
      <p:sp>
        <p:nvSpPr>
          <p:cNvPr id="46" name="Shape 44"/>
          <p:cNvSpPr/>
          <p:nvPr/>
        </p:nvSpPr>
        <p:spPr>
          <a:xfrm>
            <a:off x="82378" y="3665838"/>
            <a:ext cx="9803027" cy="473676"/>
          </a:xfrm>
          <a:prstGeom prst="roundRect">
            <a:avLst/>
          </a:prstGeom>
          <a:solidFill>
            <a:srgbClr val="F4F8FA"/>
          </a:solidFill>
          <a:ln w="11430">
            <a:solidFill>
              <a:srgbClr val="B8C7CE"/>
            </a:solidFill>
            <a:prstDash val="solid"/>
          </a:ln>
          <a:effectLst>
            <a:outerShdw sx="100000" sy="100000" kx="0" ky="0" algn="bl" rotWithShape="0" blurRad="19050" dist="50800" dir="2700000">
              <a:srgbClr val="B8C0C3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44162" y="3665838"/>
            <a:ext cx="9679459" cy="47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354C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所有分支都必须带真实答案、Rubric 和评分，不能用前置校验替代真实反馈。</a:t>
            </a:r>
            <a:endParaRPr lang="en-US" sz="13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复刻版PPT</dc:title>
  <dc:subject>PPT3 reference recreation</dc:subject>
  <dc:creator>Codex</dc:creator>
  <cp:lastModifiedBy>Codex</cp:lastModifiedBy>
  <cp:revision>1</cp:revision>
  <dcterms:created xsi:type="dcterms:W3CDTF">2026-08-07T13:45:48Z</dcterms:created>
  <dcterms:modified xsi:type="dcterms:W3CDTF">2026-08-07T13:45:48Z</dcterms:modified>
</cp:coreProperties>
</file>