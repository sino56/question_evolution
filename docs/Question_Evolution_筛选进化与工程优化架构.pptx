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378" y="82378"/>
            <a:ext cx="3295135" cy="45308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7" b="1">
                <a:solidFill>
                  <a:srgbClr val="111111"/>
                </a:solidFill>
                <a:latin typeface="Microsoft YaHei"/>
              </a:rPr>
              <a:t>样本筛选逻辑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972" y="556054"/>
          <a:ext cx="11738917" cy="3171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3351"/>
                <a:gridCol w="1606378"/>
                <a:gridCol w="6899188"/>
              </a:tblGrid>
              <a:tr h="254858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满分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考察内容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033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主要能力清晰度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这题有没有一个明确的核心考点，比如“判断前后是否同一人”“判断路线时间是否接得上”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8827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进化空间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后续能不能自然加难，比如加入一个相似人员、监控盲区、时间差、竞争解释。如果只能靠加长题干或罗列更多要点，就不符合。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668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答案/Rubric可重建性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原答案和评分标准不能支撑后续改写；改写后不能直接复用旧答案，所以原题里必须有清楚的判断规则和边界。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287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题内合成安全性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加难时是否只需要题内设定，而不是编造真实法条、真实规则、真实案件事实。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22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结果可归因性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弱模型答错后，能不能知道它主要错在哪里，比如错在“没排除相似目标”，而不是因为题目太散、要求太多。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96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实验信号价值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运行后是否可能产生有解释价值的升分、降分或不变样本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378" y="3789405"/>
            <a:ext cx="2059459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2" b="1">
                <a:solidFill>
                  <a:srgbClr val="111111"/>
                </a:solidFill>
                <a:latin typeface="Microsoft YaHei"/>
              </a:rPr>
              <a:t>入选标准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972" y="4098324"/>
          <a:ext cx="8279024" cy="2739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269"/>
                <a:gridCol w="2821459"/>
                <a:gridCol w="2677296"/>
              </a:tblGrid>
              <a:tr h="337694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总分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977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17-20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优先入选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判断点清晰，适合进入主实验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064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13-16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探索入选，根据人工审核是否入选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有潜力，但风险或信息不足，适合小规模试验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020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9-12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保留为基线，不入选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有普通问答价值，但本轮不优先进化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064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0-8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暂不进入实验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变难空间弱，或者信息后难以解释原因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25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数据损坏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需修复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88" b="1">
                          <a:solidFill>
                            <a:srgbClr val="111111"/>
                          </a:solidFill>
                          <a:latin typeface="Microsoft YaHei"/>
                        </a:rPr>
                        <a:t>题目、答案、Rubric 或 JSON 结构有问题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378" y="82378"/>
            <a:ext cx="3809999" cy="47367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20" b="1">
                <a:solidFill>
                  <a:srgbClr val="111111"/>
                </a:solidFill>
                <a:latin typeface="Microsoft YaHei"/>
              </a:rPr>
              <a:t>入选样本情况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78" y="597243"/>
            <a:ext cx="2471351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7" b="1">
                <a:solidFill>
                  <a:srgbClr val="111111"/>
                </a:solidFill>
                <a:latin typeface="Microsoft YaHei"/>
              </a:rPr>
              <a:t>通用场景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4216" y="597243"/>
            <a:ext cx="5890053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2" b="1">
                <a:solidFill>
                  <a:srgbClr val="111111"/>
                </a:solidFill>
                <a:latin typeface="Microsoft YaHei"/>
              </a:rPr>
              <a:t>四大特定场景（涉黄、电频车盗窃、拉车门盗窃、夹气运输）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972" y="906162"/>
          <a:ext cx="5333997" cy="148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67"/>
                <a:gridCol w="1235675"/>
                <a:gridCol w="1215080"/>
                <a:gridCol w="1235675"/>
              </a:tblGrid>
              <a:tr h="370702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决策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分数范围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样本数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702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优先入选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17-20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218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72.7%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702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探索入选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13-16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16.0%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704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不入选/保留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9-12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34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11.3%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54810" y="906162"/>
          <a:ext cx="5313402" cy="148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972"/>
                <a:gridCol w="1235675"/>
                <a:gridCol w="1215080"/>
                <a:gridCol w="1235675"/>
              </a:tblGrid>
              <a:tr h="370702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决策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分数范围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样本数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702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优先入选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17-20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73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68.9%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702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探索入选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13-16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18.9%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704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不入选/保留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9-12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32" b="1">
                          <a:solidFill>
                            <a:srgbClr val="111111"/>
                          </a:solidFill>
                          <a:latin typeface="Microsoft YaHei"/>
                        </a:rPr>
                        <a:t>12.3%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2972" y="2430162"/>
            <a:ext cx="5766486" cy="2883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C9272D"/>
                </a:solidFill>
                <a:latin typeface="Microsoft YaHei"/>
              </a:rPr>
              <a:t>注：通用场景考虑数量，仅入选score&gt;=19的，共85条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78" y="2800864"/>
            <a:ext cx="2471351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7" b="1">
                <a:solidFill>
                  <a:srgbClr val="111111"/>
                </a:solidFill>
                <a:latin typeface="Microsoft YaHei"/>
              </a:rPr>
              <a:t>具体类别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2972" y="3150972"/>
          <a:ext cx="11265241" cy="323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1729"/>
                <a:gridCol w="5663512"/>
              </a:tblGrid>
              <a:tr h="359261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77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3E86C2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7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路线/时间/盲区接续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判断轨迹是否连续、盲区前后能否接上、是否跟丢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7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多人关系/分工协作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判断同伙、望风、接应、伴随、分工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7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物品/车辆流转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判断赃物、气瓶、纸箱、车辆、工具是否一路流转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7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证据能说明到哪一步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判断视频线索最多能支持什么结论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7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关键动作链条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判断动作顺序是否完整，比如剪锁、干扰锁车、交付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79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前后是否同一目标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判断跨衣、遮挡、盲区后是否仍是同一人</a:t>
                      </a:r>
                    </a:p>
                  </a:txBody>
                  <a:tcPr>
                    <a:solidFill>
                      <a:srgbClr val="E1EAF3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014"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画面可疑性/行为规律/概念边界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 lIns="6350" rIns="6350" tIns="6350" bIns="6350" anchor="ctr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0" b="1">
                          <a:solidFill>
                            <a:srgbClr val="111111"/>
                          </a:solidFill>
                          <a:latin typeface="Microsoft YaHei"/>
                        </a:rPr>
                        <a:t>数据较少，主要覆盖边界、异常规律或操作流程现实</a:t>
                      </a:r>
                    </a:p>
                  </a:txBody>
                  <a:tcPr>
                    <a:solidFill>
                      <a:srgbClr val="C7D8EA"/>
                    </a:solidFill>
                    <a:lnL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00">
                      <a:solidFill>
                        <a:srgbClr val="F4F7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378" y="102972"/>
            <a:ext cx="2265405" cy="43248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5" b="1">
                <a:solidFill>
                  <a:srgbClr val="111111"/>
                </a:solidFill>
                <a:latin typeface="Microsoft YaHei"/>
              </a:rPr>
              <a:t>增量进化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78" y="514864"/>
            <a:ext cx="1750540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2" b="1">
                <a:solidFill>
                  <a:srgbClr val="111111"/>
                </a:solidFill>
                <a:latin typeface="Microsoft YaHei"/>
              </a:rPr>
              <a:t>流程图：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5999" y="700216"/>
            <a:ext cx="1112108" cy="41189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3" b="1">
                <a:solidFill>
                  <a:srgbClr val="111111"/>
                </a:solidFill>
                <a:latin typeface="Microsoft YaHei"/>
              </a:rPr>
              <a:t>输入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42053" y="1112108"/>
            <a:ext cx="0" cy="370702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38864" y="1482810"/>
            <a:ext cx="1585783" cy="5354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11111"/>
                </a:solidFill>
                <a:latin typeface="Microsoft YaHei"/>
              </a:rPr>
              <a:t>初始问题样本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65837" y="1626972"/>
            <a:ext cx="308918" cy="205945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5351" y="1462216"/>
            <a:ext cx="1626972" cy="59724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评分与样本分类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策略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42053" y="2018270"/>
            <a:ext cx="0" cy="26773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74108" y="2286000"/>
            <a:ext cx="1935891" cy="761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6" b="1">
                <a:solidFill>
                  <a:srgbClr val="111111"/>
                </a:solidFill>
                <a:latin typeface="Microsoft YaHei"/>
              </a:rPr>
              <a:t>题目 / 答案 / rubric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6" b="1">
                <a:solidFill>
                  <a:srgbClr val="111111"/>
                </a:solidFill>
                <a:latin typeface="Microsoft YaHei"/>
              </a:rPr>
              <a:t>写入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162" y="3233351"/>
            <a:ext cx="5292810" cy="16887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3D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513" y="3912972"/>
            <a:ext cx="1421026" cy="453081"/>
          </a:xfrm>
          <a:prstGeom prst="rect">
            <a:avLst/>
          </a:prstGeom>
          <a:noFill/>
        </p:spPr>
        <p:txBody>
          <a:bodyPr wrap="square" lIns="6350" rIns="6350" tIns="6350" bIns="63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111111"/>
                </a:solidFill>
                <a:latin typeface="Microsoft YaHei"/>
              </a:rPr>
              <a:t>样本合法性检查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88756" y="3418702"/>
            <a:ext cx="0" cy="1215081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91729" y="3336324"/>
            <a:ext cx="3439297" cy="13592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1. 校验字段完整、题面和答案可解析；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2. 根据规则检查重复、冲突或异常内容；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3. 结合评分与边界信号判断：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   · 满足条件 → 进入后续进化；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   · 存在硬风险 → 跳过；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   · 边界样本 → 记录失败原因。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36972" y="4077729"/>
            <a:ext cx="782595" cy="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16378" y="288324"/>
            <a:ext cx="2945026" cy="8649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3D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0540" y="370702"/>
            <a:ext cx="2636108" cy="700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>
                <a:solidFill>
                  <a:srgbClr val="111111"/>
                </a:solidFill>
                <a:latin typeface="Microsoft YaHei"/>
              </a:rPr>
              <a:t>1. 读取进化策略与历史失败信号；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>
                <a:solidFill>
                  <a:srgbClr val="111111"/>
                </a:solidFill>
                <a:latin typeface="Microsoft YaHei"/>
              </a:rPr>
              <a:t>2. 选择候选 operator 并生成改写；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>
                <a:solidFill>
                  <a:srgbClr val="111111"/>
                </a:solidFill>
                <a:latin typeface="Microsoft YaHei"/>
              </a:rPr>
              <a:t>3. 保存进化问题与变更原因。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78594" y="1153297"/>
            <a:ext cx="0" cy="659027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87080" y="1832918"/>
            <a:ext cx="2162432" cy="12356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gpm=object-memory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选择更合适的改写方向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避免重复失败模式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78594" y="3068594"/>
            <a:ext cx="0" cy="164757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6219567" y="3233351"/>
            <a:ext cx="1379837" cy="125627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" rIns="3810" tIns="3810" bIns="381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7" b="1">
                <a:solidFill>
                  <a:srgbClr val="111111"/>
                </a:solidFill>
                <a:latin typeface="Microsoft YaHei"/>
              </a:rPr>
              <a:t>是否进化?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1188" y="3871783"/>
            <a:ext cx="370702" cy="2883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11111"/>
                </a:solidFill>
                <a:latin typeface="Microsoft YaHei"/>
              </a:rPr>
              <a:t>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99405" y="3871783"/>
            <a:ext cx="1318054" cy="0"/>
          </a:xfrm>
          <a:prstGeom prst="line">
            <a:avLst/>
          </a:prstGeom>
          <a:ln w="1524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0378" y="2945027"/>
            <a:ext cx="370702" cy="2883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11111"/>
                </a:solidFill>
                <a:latin typeface="Microsoft YaHei"/>
              </a:rPr>
              <a:t>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9351" y="4613189"/>
            <a:ext cx="1441621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3" b="1">
                <a:solidFill>
                  <a:srgbClr val="111111"/>
                </a:solidFill>
                <a:latin typeface="Arial"/>
              </a:rPr>
              <a:t>Round_N+1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78594" y="4489621"/>
            <a:ext cx="0" cy="308919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43351" y="4819135"/>
            <a:ext cx="1874108" cy="700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更新样本状态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保存失败原因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2648" y="4736756"/>
            <a:ext cx="329513" cy="2883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3" b="1">
                <a:solidFill>
                  <a:srgbClr val="111111"/>
                </a:solidFill>
                <a:latin typeface="Microsoft YaHei"/>
              </a:rPr>
              <a:t>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78594" y="5519351"/>
            <a:ext cx="0" cy="370703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43134" y="5807675"/>
            <a:ext cx="617837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停止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0486" y="5807675"/>
            <a:ext cx="453081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14702" y="906162"/>
            <a:ext cx="1441621" cy="55605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生成候选问题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35513" y="1462216"/>
            <a:ext cx="0" cy="226540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17459" y="1668162"/>
            <a:ext cx="2553729" cy="94735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1">
                <a:solidFill>
                  <a:srgbClr val="111111"/>
                </a:solidFill>
                <a:latin typeface="Microsoft YaHei"/>
              </a:rPr>
              <a:t>gpt生成候选答案、rubric、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1">
                <a:solidFill>
                  <a:srgbClr val="111111"/>
                </a:solidFill>
                <a:latin typeface="Microsoft YaHei"/>
              </a:rPr>
              <a:t>answer / score result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49945" y="2677297"/>
            <a:ext cx="2100648" cy="15034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3D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35297" y="2780270"/>
            <a:ext cx="1709351" cy="5148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Qwen候选回答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3" b="1">
                <a:solidFill>
                  <a:srgbClr val="111111"/>
                </a:solidFill>
                <a:latin typeface="Microsoft YaHei"/>
              </a:rPr>
              <a:t>（多次采样）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35297" y="3398108"/>
            <a:ext cx="1709351" cy="5148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1">
                <a:solidFill>
                  <a:srgbClr val="111111"/>
                </a:solidFill>
                <a:latin typeface="Microsoft YaHei"/>
              </a:rPr>
              <a:t>聚合评分 / 稳定性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1">
                <a:solidFill>
                  <a:srgbClr val="111111"/>
                </a:solidFill>
                <a:latin typeface="Microsoft YaHei"/>
              </a:rPr>
              <a:t>均值与方差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379675" y="2615513"/>
            <a:ext cx="0" cy="164757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79675" y="3295135"/>
            <a:ext cx="0" cy="102973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379675" y="3912972"/>
            <a:ext cx="0" cy="308919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14702" y="4221891"/>
            <a:ext cx="1791729" cy="65902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1">
                <a:solidFill>
                  <a:srgbClr val="111111"/>
                </a:solidFill>
                <a:latin typeface="Microsoft YaHei"/>
              </a:rPr>
              <a:t>选择最优候选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1">
                <a:solidFill>
                  <a:srgbClr val="111111"/>
                </a:solidFill>
                <a:latin typeface="Microsoft YaHei"/>
              </a:rPr>
              <a:t>进入主链评分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400270" y="4880918"/>
            <a:ext cx="0" cy="288325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58648" y="5169243"/>
            <a:ext cx="2553729" cy="782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3D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82215" y="5251621"/>
            <a:ext cx="2306594" cy="61783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111111"/>
                </a:solidFill>
                <a:latin typeface="Microsoft YaHei"/>
              </a:rPr>
              <a:t>1. 对比进化前后得分变化；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111111"/>
                </a:solidFill>
                <a:latin typeface="Microsoft YaHei"/>
              </a:rPr>
              <a:t>2. 判断是否形成有效边界；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111111"/>
                </a:solidFill>
                <a:latin typeface="Microsoft YaHei"/>
              </a:rPr>
              <a:t>3. 记录成功与失败模式。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0918" y="5313405"/>
            <a:ext cx="4427837" cy="37070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B43D45"/>
                </a:solidFill>
                <a:latin typeface="Microsoft YaHei"/>
              </a:rPr>
              <a:t>校验失败时不产出，导致样本无法进入进化流程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25729" y="5972432"/>
            <a:ext cx="5025080" cy="864972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B43D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111111"/>
                </a:solidFill>
                <a:latin typeface="Microsoft YaHei"/>
              </a:rPr>
              <a:t>成功：记录边界与 operator 收益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111111"/>
                </a:solidFill>
                <a:latin typeface="Microsoft YaHei"/>
              </a:rPr>
              <a:t>失败：写入 failure memory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111111"/>
                </a:solidFill>
                <a:latin typeface="Microsoft YaHei"/>
              </a:rPr>
              <a:t>无增益：切换策略继续探索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111111"/>
                </a:solidFill>
                <a:latin typeface="Microsoft YaHei"/>
              </a:rPr>
              <a:t>不可用：停止或进入人工复核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3675" y="370702"/>
            <a:ext cx="11121080" cy="5766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11111"/>
                </a:solidFill>
                <a:latin typeface="Microsoft YaHei"/>
              </a:rPr>
              <a:t>后续树搜索+回溯+算子叠加结构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3675" y="1009135"/>
            <a:ext cx="11224054" cy="0"/>
          </a:xfrm>
          <a:prstGeom prst="line">
            <a:avLst/>
          </a:prstGeom>
          <a:ln w="14604">
            <a:solidFill>
              <a:srgbClr val="29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378" y="1029729"/>
            <a:ext cx="12027242" cy="1565189"/>
          </a:xfrm>
          <a:prstGeom prst="roundRect">
            <a:avLst/>
          </a:prstGeom>
          <a:solidFill>
            <a:srgbClr val="D7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378" y="2677297"/>
            <a:ext cx="12027242" cy="2100648"/>
          </a:xfrm>
          <a:prstGeom prst="roundRect">
            <a:avLst/>
          </a:prstGeom>
          <a:solidFill>
            <a:srgbClr val="FFF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378" y="4860324"/>
            <a:ext cx="12027242" cy="1935891"/>
          </a:xfrm>
          <a:prstGeom prst="roundRect">
            <a:avLst/>
          </a:prstGeom>
          <a:solidFill>
            <a:srgbClr val="DDE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1297" y="1421027"/>
            <a:ext cx="1235675" cy="6590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20" b="1">
                <a:solidFill>
                  <a:srgbClr val="111111"/>
                </a:solidFill>
                <a:latin typeface="Microsoft YaHei"/>
              </a:rPr>
              <a:t>第0层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297" y="3501081"/>
            <a:ext cx="1235675" cy="6590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20" b="1">
                <a:solidFill>
                  <a:srgbClr val="111111"/>
                </a:solidFill>
                <a:latin typeface="Microsoft YaHei"/>
              </a:rPr>
              <a:t>第1层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297" y="5622324"/>
            <a:ext cx="1235675" cy="6590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20" b="1">
                <a:solidFill>
                  <a:srgbClr val="111111"/>
                </a:solidFill>
                <a:latin typeface="Microsoft YaHei"/>
              </a:rPr>
              <a:t>第2层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1621" y="1091513"/>
            <a:ext cx="1688756" cy="473675"/>
          </a:xfrm>
          <a:prstGeom prst="roundRect">
            <a:avLst/>
          </a:prstGeom>
          <a:solidFill>
            <a:srgbClr val="EEF7FE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2" b="1">
                <a:solidFill>
                  <a:srgbClr val="111111"/>
                </a:solidFill>
                <a:latin typeface="Microsoft YaHei"/>
              </a:rPr>
              <a:t>ROOT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999" y="1565189"/>
            <a:ext cx="0" cy="205946"/>
          </a:xfrm>
          <a:prstGeom prst="line">
            <a:avLst/>
          </a:prstGeom>
          <a:ln w="1778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77945" y="1771135"/>
            <a:ext cx="2656702" cy="597243"/>
          </a:xfrm>
          <a:prstGeom prst="roundRect">
            <a:avLst/>
          </a:prstGeom>
          <a:solidFill>
            <a:srgbClr val="FBE0C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2" b="1">
                <a:solidFill>
                  <a:srgbClr val="111111"/>
                </a:solidFill>
                <a:latin typeface="Microsoft YaHei"/>
              </a:rPr>
              <a:t>候选算子列表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7945" y="2388972"/>
            <a:ext cx="2656702" cy="350108"/>
          </a:xfrm>
          <a:prstGeom prst="roundRect">
            <a:avLst/>
          </a:prstGeom>
          <a:solidFill>
            <a:srgbClr val="F7E7E7"/>
          </a:solidFill>
          <a:ln w="12700">
            <a:solidFill>
              <a:srgbClr val="C62E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C62E32"/>
                </a:solidFill>
                <a:latin typeface="Microsoft YaHei"/>
              </a:rPr>
              <a:t>扩展最大数量限制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94918" y="2862648"/>
            <a:ext cx="1173891" cy="514864"/>
          </a:xfrm>
          <a:prstGeom prst="roundRect">
            <a:avLst/>
          </a:prstGeom>
          <a:solidFill>
            <a:srgbClr val="FFF8D6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7" b="1">
                <a:solidFill>
                  <a:srgbClr val="111111"/>
                </a:solidFill>
                <a:latin typeface="Microsoft YaHei"/>
              </a:rPr>
              <a:t>候选1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3189" y="2862648"/>
            <a:ext cx="1173891" cy="514864"/>
          </a:xfrm>
          <a:prstGeom prst="roundRect">
            <a:avLst/>
          </a:prstGeom>
          <a:solidFill>
            <a:srgbClr val="FFF8D6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7" b="1">
                <a:solidFill>
                  <a:srgbClr val="111111"/>
                </a:solidFill>
                <a:latin typeface="Microsoft YaHei"/>
              </a:rPr>
              <a:t>候选2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7783" y="2924432"/>
            <a:ext cx="514864" cy="411891"/>
          </a:xfrm>
          <a:prstGeom prst="rect">
            <a:avLst/>
          </a:prstGeom>
          <a:noFill/>
        </p:spPr>
        <p:txBody>
          <a:bodyPr wrap="square" lIns="6350" rIns="6350" tIns="6350" bIns="63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1111"/>
                </a:solidFill>
                <a:latin typeface="Microsoft YaHei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621" y="2862648"/>
            <a:ext cx="1256270" cy="514864"/>
          </a:xfrm>
          <a:prstGeom prst="roundRect">
            <a:avLst/>
          </a:prstGeom>
          <a:solidFill>
            <a:srgbClr val="FFF8D6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7" b="1">
                <a:solidFill>
                  <a:srgbClr val="D82024"/>
                </a:solidFill>
                <a:latin typeface="Microsoft YaHei"/>
              </a:rPr>
              <a:t>候选N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171567" y="2739081"/>
            <a:ext cx="2924432" cy="123567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189837" y="2739081"/>
            <a:ext cx="906162" cy="123567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999" y="2739081"/>
            <a:ext cx="1318054" cy="123567"/>
          </a:xfrm>
          <a:prstGeom prst="line">
            <a:avLst/>
          </a:prstGeom>
          <a:ln w="13970">
            <a:solidFill>
              <a:srgbClr val="C62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53513" y="4057135"/>
            <a:ext cx="2636108" cy="576648"/>
          </a:xfrm>
          <a:prstGeom prst="roundRect">
            <a:avLst/>
          </a:prstGeom>
          <a:solidFill>
            <a:srgbClr val="FBE8DA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7" b="1">
                <a:solidFill>
                  <a:srgbClr val="111111"/>
                </a:solidFill>
                <a:latin typeface="Microsoft YaHei"/>
              </a:rPr>
              <a:t>叠加算子候选列表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71567" y="3377513"/>
            <a:ext cx="0" cy="679622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33351" y="3356918"/>
            <a:ext cx="659027" cy="6590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D42025"/>
                </a:solidFill>
                <a:latin typeface="Microsoft YaHei"/>
              </a:rPr>
              <a:t>有效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D42025"/>
                </a:solidFill>
                <a:latin typeface="Microsoft YaHei"/>
              </a:rPr>
              <a:t>进化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89837" y="3377513"/>
            <a:ext cx="0" cy="659027"/>
          </a:xfrm>
          <a:prstGeom prst="line">
            <a:avLst/>
          </a:prstGeom>
          <a:ln w="1524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86864" y="3418702"/>
            <a:ext cx="761999" cy="6384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D42025"/>
                </a:solidFill>
                <a:latin typeface="Microsoft YaHei"/>
              </a:rPr>
              <a:t>无效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D42025"/>
                </a:solidFill>
                <a:latin typeface="Microsoft YaHei"/>
              </a:rPr>
              <a:t>进化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3080" y="3480486"/>
            <a:ext cx="659027" cy="39129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D42025"/>
                </a:solidFill>
                <a:latin typeface="Microsoft YaHei"/>
              </a:rPr>
              <a:t>回溯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571999" y="2491945"/>
            <a:ext cx="0" cy="1956487"/>
          </a:xfrm>
          <a:prstGeom prst="line">
            <a:avLst/>
          </a:prstGeom>
          <a:ln w="13970">
            <a:solidFill>
              <a:srgbClr val="C62E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462216" y="5251621"/>
            <a:ext cx="1523999" cy="556054"/>
          </a:xfrm>
          <a:prstGeom prst="roundRect">
            <a:avLst/>
          </a:prstGeom>
          <a:solidFill>
            <a:srgbClr val="EAF7E5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3" b="1">
                <a:solidFill>
                  <a:srgbClr val="111111"/>
                </a:solidFill>
                <a:latin typeface="Microsoft YaHei"/>
              </a:rPr>
              <a:t>候选1+A1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24648" y="5251621"/>
            <a:ext cx="1585783" cy="556054"/>
          </a:xfrm>
          <a:prstGeom prst="roundRect">
            <a:avLst/>
          </a:prstGeom>
          <a:solidFill>
            <a:srgbClr val="EAF7E5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3" b="1">
                <a:solidFill>
                  <a:srgbClr val="111111"/>
                </a:solidFill>
                <a:latin typeface="Microsoft YaHei"/>
              </a:rPr>
              <a:t>候选1+An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9783" y="5354594"/>
            <a:ext cx="473675" cy="370702"/>
          </a:xfrm>
          <a:prstGeom prst="rect">
            <a:avLst/>
          </a:prstGeom>
          <a:noFill/>
        </p:spPr>
        <p:txBody>
          <a:bodyPr wrap="square" lIns="6350" rIns="6350" tIns="6350" bIns="63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5" b="1">
                <a:solidFill>
                  <a:srgbClr val="111111"/>
                </a:solidFill>
                <a:latin typeface="Microsoft YaHei"/>
              </a:rPr>
              <a:t>…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224216" y="4633783"/>
            <a:ext cx="947351" cy="617838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71567" y="4633783"/>
            <a:ext cx="1235676" cy="617838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24216" y="5807675"/>
            <a:ext cx="0" cy="556054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07243" y="5807675"/>
            <a:ext cx="0" cy="556054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85999" y="5869459"/>
            <a:ext cx="700216" cy="5972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D42025"/>
                </a:solidFill>
                <a:latin typeface="Microsoft YaHei"/>
              </a:rPr>
              <a:t>有效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D42025"/>
                </a:solidFill>
                <a:latin typeface="Microsoft YaHei"/>
              </a:rPr>
              <a:t>进化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0216" y="5869459"/>
            <a:ext cx="700216" cy="59724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D42025"/>
                </a:solidFill>
                <a:latin typeface="Microsoft YaHei"/>
              </a:rPr>
              <a:t>无效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D42025"/>
                </a:solidFill>
                <a:latin typeface="Microsoft YaHei"/>
              </a:rPr>
              <a:t>进化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15297" y="6404918"/>
            <a:ext cx="823783" cy="350108"/>
          </a:xfrm>
          <a:prstGeom prst="rect">
            <a:avLst/>
          </a:prstGeom>
          <a:noFill/>
        </p:spPr>
        <p:txBody>
          <a:bodyPr wrap="square" lIns="6350" rIns="6350" tIns="6350" bIns="63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111111"/>
                </a:solidFill>
                <a:latin typeface="Microsoft YaHei"/>
              </a:rPr>
              <a:t>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8918" y="6404918"/>
            <a:ext cx="823783" cy="350108"/>
          </a:xfrm>
          <a:prstGeom prst="rect">
            <a:avLst/>
          </a:prstGeom>
          <a:noFill/>
        </p:spPr>
        <p:txBody>
          <a:bodyPr wrap="square" lIns="6350" rIns="6350" tIns="6350" bIns="63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111111"/>
                </a:solidFill>
                <a:latin typeface="Microsoft YaHei"/>
              </a:rPr>
              <a:t>停止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81999" y="4283675"/>
            <a:ext cx="3027405" cy="113270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111111"/>
                </a:solidFill>
                <a:latin typeface="Microsoft YaHei"/>
              </a:rPr>
              <a:t>全局停止条件：所有候选算子都已遍历或者每个样本边界数达到最大数量限制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87945" y="4448432"/>
            <a:ext cx="1729945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1">
                <a:solidFill>
                  <a:srgbClr val="D42025"/>
                </a:solidFill>
                <a:latin typeface="Microsoft YaHei"/>
              </a:rPr>
              <a:t>全局停止条件：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3675" y="370702"/>
            <a:ext cx="11121080" cy="5766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11111"/>
                </a:solidFill>
                <a:latin typeface="Microsoft YaHei"/>
              </a:rPr>
              <a:t>评分阶段：受控并行架构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3675" y="1009135"/>
            <a:ext cx="11224054" cy="0"/>
          </a:xfrm>
          <a:prstGeom prst="line">
            <a:avLst/>
          </a:prstGeom>
          <a:ln w="14604">
            <a:solidFill>
              <a:srgbClr val="29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4864" y="1070918"/>
            <a:ext cx="11018107" cy="411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111111"/>
                </a:solidFill>
                <a:latin typeface="Microsoft YaHei"/>
              </a:rPr>
              <a:t>样本 worker、Qwen 回答池和 GPT Judge 调度相互隔离；并发上限约为 20，Qwen 回答和 Judge 共享同一套限流。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9621" y="1565189"/>
            <a:ext cx="3665837" cy="5148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7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1">
                <a:solidFill>
                  <a:srgbClr val="111111"/>
                </a:solidFill>
                <a:latin typeface="Microsoft YaHei"/>
              </a:rPr>
              <a:t>评分样本 Worker × N（有界）</a:t>
            </a:r>
          </a:p>
        </p:txBody>
      </p:sp>
      <p:sp>
        <p:nvSpPr>
          <p:cNvPr id="6" name="Down Arrow 5"/>
          <p:cNvSpPr/>
          <p:nvPr/>
        </p:nvSpPr>
        <p:spPr>
          <a:xfrm>
            <a:off x="6116594" y="2100648"/>
            <a:ext cx="411891" cy="247135"/>
          </a:xfrm>
          <a:prstGeom prst="downArrow">
            <a:avLst/>
          </a:prstGeom>
          <a:solidFill>
            <a:srgbClr val="967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06594" y="2471351"/>
            <a:ext cx="3480486" cy="4736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4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>
                <a:solidFill>
                  <a:srgbClr val="111111"/>
                </a:solidFill>
                <a:latin typeface="Microsoft YaHei"/>
              </a:rPr>
              <a:t>Qwen 回答 Trial × 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99189" y="2471351"/>
            <a:ext cx="3459891" cy="4736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D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>
                <a:solidFill>
                  <a:srgbClr val="111111"/>
                </a:solidFill>
                <a:latin typeface="Microsoft YaHei"/>
              </a:rPr>
              <a:t>GPT Judge Repeat × m</a:t>
            </a:r>
          </a:p>
        </p:txBody>
      </p:sp>
      <p:sp>
        <p:nvSpPr>
          <p:cNvPr id="9" name="Down Arrow 8"/>
          <p:cNvSpPr/>
          <p:nvPr/>
        </p:nvSpPr>
        <p:spPr>
          <a:xfrm>
            <a:off x="3789405" y="2965621"/>
            <a:ext cx="350108" cy="226540"/>
          </a:xfrm>
          <a:prstGeom prst="downArrow">
            <a:avLst/>
          </a:prstGeom>
          <a:solidFill>
            <a:srgbClr val="4BC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8423188" y="2965621"/>
            <a:ext cx="350108" cy="226540"/>
          </a:xfrm>
          <a:prstGeom prst="downArrow">
            <a:avLst/>
          </a:prstGeom>
          <a:solidFill>
            <a:srgbClr val="F4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12324" y="3233351"/>
            <a:ext cx="4283675" cy="700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CB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11111"/>
                </a:solidFill>
                <a:latin typeface="Microsoft YaHei"/>
              </a:rPr>
              <a:t>Qwen 公平调度池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11111"/>
                </a:solidFill>
                <a:latin typeface="Microsoft YaHei"/>
              </a:rPr>
              <a:t>独立限流 · 上限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243" y="3233351"/>
            <a:ext cx="4283675" cy="7002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11111"/>
                </a:solidFill>
                <a:latin typeface="Microsoft YaHei"/>
              </a:rPr>
              <a:t>GPT 公平调度池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11111"/>
                </a:solidFill>
                <a:latin typeface="Microsoft YaHei"/>
              </a:rPr>
              <a:t>独立限流 · 上限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4270" y="4180702"/>
            <a:ext cx="2224216" cy="100913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优化前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串行：回答一次，测评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样本并发 = 服务并发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3837" y="4139513"/>
            <a:ext cx="6095999" cy="107091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8DED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公平调度策略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多活跃样本 → 优先让不同样本各获一个名额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有富余 → 再处理同一样本的剩余 trial / repeat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7567" y="4180702"/>
            <a:ext cx="2409567" cy="100913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优化后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样本内 trial 并行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服务并发受总上限约束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891" y="5354594"/>
            <a:ext cx="11285838" cy="0"/>
          </a:xfrm>
          <a:prstGeom prst="line">
            <a:avLst/>
          </a:prstGeom>
          <a:ln w="1016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4270" y="5539945"/>
            <a:ext cx="6590270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样本消费：每个样本参与固定在公平调度队列；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270" y="5890054"/>
            <a:ext cx="9061621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回答消费：每一轮都只在独立限流器内消费，避免挤占服务资源；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270" y="6301945"/>
            <a:ext cx="11285837" cy="43248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6" b="1">
                <a:solidFill>
                  <a:srgbClr val="111111"/>
                </a:solidFill>
                <a:latin typeface="Microsoft YaHei"/>
              </a:rPr>
              <a:t>最终收益：样本内 trial 并行 + 跨样本公平分配，将『样本并发 = 服务并发』解耦为『样本并发 × 服务并发』，服务并发受独立总上限约束。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3675" y="370702"/>
            <a:ext cx="11121080" cy="5766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11111"/>
                </a:solidFill>
                <a:latin typeface="Microsoft YaHei"/>
              </a:rPr>
              <a:t>有界任务调度与流式 I/O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3675" y="1009135"/>
            <a:ext cx="11224054" cy="0"/>
          </a:xfrm>
          <a:prstGeom prst="line">
            <a:avLst/>
          </a:prstGeom>
          <a:ln w="14604">
            <a:solidFill>
              <a:srgbClr val="29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4864" y="1070918"/>
            <a:ext cx="11018107" cy="411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111111"/>
                </a:solidFill>
                <a:latin typeface="Microsoft YaHei"/>
              </a:rPr>
              <a:t>Reader 仅在队列有容量时提交记录，Writer 批量聚合、内存、协程和落盘速率被限制在并发配置附近，不随输入线性增长。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4270" y="2368378"/>
            <a:ext cx="1709351" cy="88556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C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流式 Reader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逐行读取 JSONL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44810" y="2594918"/>
            <a:ext cx="453081" cy="350108"/>
          </a:xfrm>
          <a:prstGeom prst="rightArrow">
            <a:avLst/>
          </a:prstGeom>
          <a:solidFill>
            <a:srgbClr val="40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77297" y="2306594"/>
            <a:ext cx="1585783" cy="100913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B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输入队列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有界容量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背压控制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24864" y="2594918"/>
            <a:ext cx="411891" cy="350108"/>
          </a:xfrm>
          <a:prstGeom prst="rightArrow">
            <a:avLst/>
          </a:prstGeom>
          <a:solidFill>
            <a:srgbClr val="F0B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19135" y="1956486"/>
            <a:ext cx="2183026" cy="18535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176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6864" y="2018270"/>
            <a:ext cx="1688756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>
                <a:solidFill>
                  <a:srgbClr val="111111"/>
                </a:solidFill>
                <a:latin typeface="Microsoft YaHei"/>
              </a:rPr>
              <a:t>Worker 池（固定）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4486" y="2388972"/>
            <a:ext cx="1812324" cy="37070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0A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111111"/>
                </a:solidFill>
                <a:latin typeface="Microsoft YaHei"/>
              </a:rPr>
              <a:t>Worker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4486" y="2821459"/>
            <a:ext cx="1812324" cy="37070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0A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111111"/>
                </a:solidFill>
                <a:latin typeface="Microsoft YaHei"/>
              </a:rPr>
              <a:t>Worker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4486" y="3253945"/>
            <a:ext cx="1812324" cy="37070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0A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111111"/>
                </a:solidFill>
                <a:latin typeface="Microsoft YaHei"/>
              </a:rPr>
              <a:t>Worker ... 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63945" y="2594918"/>
            <a:ext cx="411891" cy="350108"/>
          </a:xfrm>
          <a:prstGeom prst="rightArrow">
            <a:avLst/>
          </a:prstGeom>
          <a:solidFill>
            <a:srgbClr val="44B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6432" y="2306594"/>
            <a:ext cx="1462216" cy="100913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8B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输出队列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有界容量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99837" y="2594918"/>
            <a:ext cx="411891" cy="350108"/>
          </a:xfrm>
          <a:prstGeom prst="rightArrow">
            <a:avLst/>
          </a:prstGeom>
          <a:solidFill>
            <a:srgbClr val="44B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32324" y="1935891"/>
            <a:ext cx="2162432" cy="177113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C8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11111"/>
                </a:solidFill>
                <a:latin typeface="Microsoft YaHei"/>
              </a:rPr>
              <a:t>Batch Writer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11111"/>
                </a:solidFill>
                <a:latin typeface="Microsoft YaHei"/>
              </a:rPr>
              <a:t>• 按数量、字节或时间阈值批量 flush，减少频繁磁盘同步；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11111"/>
                </a:solidFill>
                <a:latin typeface="Microsoft YaHei"/>
              </a:rPr>
              <a:t>• 避免多 worker 并发写文件造成乱序或竞争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59891" y="3336324"/>
            <a:ext cx="0" cy="638432"/>
          </a:xfrm>
          <a:prstGeom prst="line">
            <a:avLst/>
          </a:prstGeom>
          <a:ln w="11430">
            <a:solidFill>
              <a:srgbClr val="E8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59891" y="3974756"/>
            <a:ext cx="4757352" cy="0"/>
          </a:xfrm>
          <a:prstGeom prst="line">
            <a:avLst/>
          </a:prstGeom>
          <a:ln w="11430">
            <a:solidFill>
              <a:srgbClr val="E8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217243" y="3336324"/>
            <a:ext cx="0" cy="638432"/>
          </a:xfrm>
          <a:prstGeom prst="line">
            <a:avLst/>
          </a:prstGeom>
          <a:ln w="11430">
            <a:solidFill>
              <a:srgbClr val="E8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42486" y="4036540"/>
            <a:ext cx="3974756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11111"/>
                </a:solidFill>
                <a:latin typeface="Microsoft YaHei"/>
              </a:rPr>
              <a:t>背压反馈：队列满时 Reader 暂停提交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4270" y="5025081"/>
            <a:ext cx="5231026" cy="10503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流式读取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逐行读取 JSONL，跳过空行，即时投递，避免全量加载导致内存峰值。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93026" y="5025081"/>
            <a:ext cx="5684107" cy="10503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11111"/>
                </a:solidFill>
                <a:latin typeface="Microsoft YaHei"/>
              </a:rPr>
              <a:t>批量写入 + partial文件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11111"/>
                </a:solidFill>
                <a:latin typeface="Microsoft YaHei"/>
              </a:rPr>
              <a:t>Writer 按记录数/字节/时间阈值批量 flush，阶段完成结果 → 同步写入checkpoint便于后续中断恢复 → 降低内存峰值。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3675" y="370702"/>
            <a:ext cx="11121080" cy="5766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11111"/>
                </a:solidFill>
                <a:latin typeface="Microsoft YaHei"/>
              </a:rPr>
              <a:t>原子发布与中断恢复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3675" y="1009135"/>
            <a:ext cx="11224054" cy="0"/>
          </a:xfrm>
          <a:prstGeom prst="line">
            <a:avLst/>
          </a:prstGeom>
          <a:ln w="14604">
            <a:solidFill>
              <a:srgbClr val="29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4864" y="1070918"/>
            <a:ext cx="11018107" cy="411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111111"/>
                </a:solidFill>
                <a:latin typeface="Microsoft YaHei"/>
              </a:rPr>
              <a:t>正式产物只在阶段完整成功后才可见，中断后可从 checkpoint 恢复，避免重复计算。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3675" y="2265405"/>
            <a:ext cx="1874108" cy="7208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17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>
                <a:solidFill>
                  <a:srgbClr val="111111"/>
                </a:solidFill>
                <a:latin typeface="Microsoft YaHei"/>
              </a:rPr>
              <a:t>业务 Worker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>
                <a:solidFill>
                  <a:srgbClr val="111111"/>
                </a:solidFill>
                <a:latin typeface="Microsoft YaHei"/>
              </a:rPr>
              <a:t>产生结果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88972" y="2450756"/>
            <a:ext cx="432486" cy="329513"/>
          </a:xfrm>
          <a:prstGeom prst="rightArrow">
            <a:avLst/>
          </a:prstGeom>
          <a:solidFill>
            <a:srgbClr val="897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0270" y="2224216"/>
            <a:ext cx="1874108" cy="80318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7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Partial 文件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尚未发布的记录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95567" y="2450756"/>
            <a:ext cx="432486" cy="329513"/>
          </a:xfrm>
          <a:prstGeom prst="rightArrow">
            <a:avLst/>
          </a:prstGeom>
          <a:solidFill>
            <a:srgbClr val="E3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07459" y="2224216"/>
            <a:ext cx="1832918" cy="80318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7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Checkpoint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已持久化位置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81567" y="2450756"/>
            <a:ext cx="432486" cy="329513"/>
          </a:xfrm>
          <a:prstGeom prst="rightArrow">
            <a:avLst/>
          </a:prstGeom>
          <a:solidFill>
            <a:srgbClr val="E36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7393459" y="2203621"/>
            <a:ext cx="1029729" cy="844378"/>
          </a:xfrm>
          <a:prstGeom prst="diamond">
            <a:avLst/>
          </a:prstGeom>
          <a:solidFill>
            <a:srgbClr val="FFFDF5"/>
          </a:solidFill>
          <a:ln w="15240">
            <a:solidFill>
              <a:srgbClr val="D4A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" rIns="3810" tIns="3810" bIns="381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阶段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完成?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3783" y="2100648"/>
            <a:ext cx="700216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中断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84972" y="2450756"/>
            <a:ext cx="411891" cy="329513"/>
          </a:xfrm>
          <a:prstGeom prst="rightArrow">
            <a:avLst/>
          </a:prstGeom>
          <a:solidFill>
            <a:srgbClr val="E3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55675" y="2183027"/>
            <a:ext cx="1791729" cy="8649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77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重启恢复 -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读取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3675" y="3089189"/>
            <a:ext cx="638432" cy="30891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完成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093675" y="3068594"/>
            <a:ext cx="267729" cy="370702"/>
          </a:xfrm>
          <a:prstGeom prst="downArrow">
            <a:avLst/>
          </a:prstGeom>
          <a:solidFill>
            <a:srgbClr val="46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5999" y="3418702"/>
            <a:ext cx="2471351" cy="96794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B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>
                <a:solidFill>
                  <a:srgbClr val="111111"/>
                </a:solidFill>
                <a:latin typeface="Microsoft YaHei"/>
              </a:rPr>
              <a:t>原子链接发布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>
                <a:solidFill>
                  <a:srgbClr val="111111"/>
                </a:solidFill>
                <a:latin typeface="Microsoft YaHei"/>
              </a:rPr>
              <a:t>正式产物（重命名临时文件）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>
                <a:solidFill>
                  <a:srgbClr val="111111"/>
                </a:solidFill>
                <a:latin typeface="Microsoft YaHei"/>
              </a:rPr>
              <a:t>Manifest（校验信息文件）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803026" y="3068594"/>
            <a:ext cx="267729" cy="370702"/>
          </a:xfrm>
          <a:prstGeom prst="downArrow">
            <a:avLst/>
          </a:prstGeom>
          <a:solidFill>
            <a:srgbClr val="E67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52702" y="3418702"/>
            <a:ext cx="1956486" cy="96794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111111"/>
                </a:solidFill>
                <a:latin typeface="Microsoft YaHei"/>
              </a:rPr>
              <a:t>跳过已完成记录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111111"/>
                </a:solidFill>
                <a:latin typeface="Microsoft YaHei"/>
              </a:rPr>
              <a:t>继续未完成部分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75" y="4530810"/>
            <a:ext cx="11203459" cy="61783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6" b="1">
                <a:solidFill>
                  <a:srgbClr val="111111"/>
                </a:solidFill>
                <a:latin typeface="Microsoft YaHei"/>
              </a:rPr>
              <a:t>Manifest 校验（最终值完整）：记录数 + 内容摘要 + 代码版本 + 校验结果 → 下游只看到完整结果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3675" y="5416378"/>
            <a:ext cx="5539945" cy="12974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✓ 原子发布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正式产物只在阶段完整成功后才可见，避免下游读到一半写入结果。Manifest 已记录条数、内容摘要和代码版本。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810" y="5498756"/>
            <a:ext cx="329513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4AF91"/>
                </a:solidFill>
                <a:latin typeface="Microsoft YaHe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567" y="5416378"/>
            <a:ext cx="5457567" cy="12974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↻ 中断恢复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partial + checkpoint 记录已确认进度。中断重启时跳过已完成记录/批次，从断点继续，避免整轮重跑。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7297" y="5498756"/>
            <a:ext cx="329513" cy="32951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D94973"/>
                </a:solidFill>
                <a:latin typeface="Microsoft YaHei"/>
              </a:rPr>
              <a:t>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3675" y="370702"/>
            <a:ext cx="11121080" cy="5766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11111"/>
                </a:solidFill>
                <a:latin typeface="Microsoft YaHei"/>
              </a:rPr>
              <a:t>Memory 索引与本地校验复用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73675" y="1009135"/>
            <a:ext cx="11224054" cy="0"/>
          </a:xfrm>
          <a:prstGeom prst="line">
            <a:avLst/>
          </a:prstGeom>
          <a:ln w="14604">
            <a:solidFill>
              <a:srgbClr val="293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4864" y="1070918"/>
            <a:ext cx="11018107" cy="4118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6" b="1">
                <a:solidFill>
                  <a:srgbClr val="111111"/>
                </a:solidFill>
                <a:latin typeface="Microsoft YaHei"/>
              </a:rPr>
              <a:t>倒排索引 + 匹配缓存避免全量扫描 memory bank；观察版本一致时复用进化阶段校验结果。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4270" y="1688756"/>
            <a:ext cx="2203621" cy="10503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2C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3" b="1">
                <a:solidFill>
                  <a:srgbClr val="111111"/>
                </a:solidFill>
                <a:latin typeface="Microsoft YaHei"/>
              </a:rPr>
              <a:t>Memory Bank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3" b="1">
                <a:solidFill>
                  <a:srgbClr val="111111"/>
                </a:solidFill>
                <a:latin typeface="Microsoft YaHei"/>
              </a:rPr>
              <a:t>正 / 负 memory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3" b="1">
                <a:solidFill>
                  <a:srgbClr val="111111"/>
                </a:solidFill>
                <a:latin typeface="Microsoft YaHei"/>
              </a:rPr>
              <a:t>按校验增长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59675" y="2018270"/>
            <a:ext cx="411891" cy="329513"/>
          </a:xfrm>
          <a:prstGeom prst="rightArrow">
            <a:avLst/>
          </a:prstGeom>
          <a:solidFill>
            <a:srgbClr val="43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92162" y="1688756"/>
            <a:ext cx="2306594" cy="10503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A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3" b="1">
                <a:solidFill>
                  <a:srgbClr val="111111"/>
                </a:solidFill>
                <a:latin typeface="Microsoft YaHei"/>
              </a:rPr>
              <a:t>倒排索引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3" b="1">
                <a:solidFill>
                  <a:srgbClr val="111111"/>
                </a:solidFill>
                <a:latin typeface="Microsoft YaHei"/>
              </a:rPr>
              <a:t>基于 signature 构建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60540" y="2018270"/>
            <a:ext cx="411891" cy="329513"/>
          </a:xfrm>
          <a:prstGeom prst="rightArrow">
            <a:avLst/>
          </a:prstGeom>
          <a:solidFill>
            <a:srgbClr val="3FBA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51837" y="1688756"/>
            <a:ext cx="2265405" cy="10503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匹配缓存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相同 signature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直接命中缓存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79026" y="2018270"/>
            <a:ext cx="411891" cy="329513"/>
          </a:xfrm>
          <a:prstGeom prst="rightArrow">
            <a:avLst/>
          </a:prstGeom>
          <a:solidFill>
            <a:srgbClr val="8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11513" y="1688756"/>
            <a:ext cx="2244810" cy="10503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A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输出结果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primary / backup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avoid + 理由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270" y="2903837"/>
            <a:ext cx="4757351" cy="170935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8D9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837" y="3006810"/>
            <a:ext cx="4489621" cy="150340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每个样本先提取一个 signature，目前主要包含：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• 核心能力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• 主题场景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• 问题形态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74" b="1">
                <a:solidFill>
                  <a:srgbClr val="111111"/>
                </a:solidFill>
                <a:latin typeface="Microsoft YaHei"/>
              </a:rPr>
              <a:t>• 高分原因/错误原因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01729" y="3624648"/>
            <a:ext cx="514864" cy="329513"/>
          </a:xfrm>
          <a:prstGeom prst="rightArrow">
            <a:avLst/>
          </a:prstGeom>
          <a:solidFill>
            <a:srgbClr val="3CC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2540" y="3480486"/>
            <a:ext cx="5086864" cy="5766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11111"/>
                </a:solidFill>
                <a:latin typeface="Microsoft YaHei"/>
              </a:rPr>
              <a:t>建立“字段值 → 包含该值的 memory 记录”的索引，提高检索效率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4270" y="4922108"/>
            <a:ext cx="5498756" cy="11738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◆ 索引复用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基于 signature 构建只读倒排索引，加载一次。匹配缓存避免重复计算相同 signature 的路由结果。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810" y="5025081"/>
            <a:ext cx="329513" cy="2883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AAC8"/>
                </a:solidFill>
                <a:latin typeface="Microsoft YaHei"/>
              </a:rPr>
              <a:t>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8972" y="4922108"/>
            <a:ext cx="5478162" cy="11738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◆ 校验复用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同源同版本直接复用进化阶段校验结果，跳过重复评估；LLM 校验不受影响，保证语义安全。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513" y="5025081"/>
            <a:ext cx="329513" cy="2883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EB884"/>
                </a:solidFill>
                <a:latin typeface="Microsoft YaHei"/>
              </a:rPr>
              <a:t>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8324" y="6301945"/>
            <a:ext cx="4015945" cy="45308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" rIns="15240" tIns="15240" bIns="152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7" b="1">
                <a:solidFill>
                  <a:srgbClr val="D2262D"/>
                </a:solidFill>
                <a:latin typeface="Microsoft YaHei"/>
              </a:rPr>
              <a:t>优化后完整运行时间约为原来的40%-60%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