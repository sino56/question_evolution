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2675" y="77229"/>
            <a:ext cx="8495270" cy="30891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  <a:defRPr sz="1732" b="1">
                <a:solidFill>
                  <a:srgbClr val="222222"/>
                </a:solidFill>
                <a:latin typeface="Microsoft YaHei"/>
              </a:defRPr>
            </a:pPr>
            <a:r>
              <a:t>进化过程拆解分析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121" y="386148"/>
            <a:ext cx="8464378" cy="185351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  <a:defRPr sz="817" b="1">
                <a:solidFill>
                  <a:srgbClr val="666C70"/>
                </a:solidFill>
                <a:latin typeface="Microsoft YaHei"/>
              </a:defRPr>
            </a:pPr>
            <a:r>
              <a:t>同一个进化决策可以垂直重置题面内容，也可按流程自然排除源，必须分层定位。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108121" y="586945"/>
            <a:ext cx="8371703" cy="0"/>
          </a:xfrm>
          <a:prstGeom prst="line">
            <a:avLst/>
          </a:prstGeom>
          <a:ln w="16510">
            <a:solidFill>
              <a:srgbClr val="9AA6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200797" y="710513"/>
            <a:ext cx="2564027" cy="1482810"/>
          </a:xfrm>
          <a:prstGeom prst="roundRect">
            <a:avLst/>
          </a:prstGeom>
          <a:solidFill>
            <a:srgbClr val="FEDCDD"/>
          </a:solidFill>
          <a:ln w="10160">
            <a:solidFill>
              <a:srgbClr val="BEC4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1600" rIns="88900" tIns="76200" bIns="50800"/>
          <a:lstStyle/>
          <a:p>
            <a:pPr algn="ctr">
              <a:spcAft>
                <a:spcPts val="200"/>
              </a:spcAft>
              <a:defRPr sz="1281" b="1">
                <a:solidFill>
                  <a:srgbClr val="A92929"/>
                </a:solidFill>
                <a:latin typeface="Microsoft YaHei"/>
              </a:defRPr>
            </a:pPr>
            <a:r>
              <a:t>未拆分时的风险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defRPr sz="1134" b="1">
                <a:solidFill>
                  <a:srgbClr val="222222"/>
                </a:solidFill>
                <a:latin typeface="Microsoft YaHei"/>
              </a:defRPr>
            </a:pPr>
            <a:r>
              <a:t>• 题面暗示答案方向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defRPr sz="1134" b="1">
                <a:solidFill>
                  <a:srgbClr val="222222"/>
                </a:solidFill>
                <a:latin typeface="Microsoft YaHei"/>
              </a:defRPr>
            </a:pPr>
            <a:r>
              <a:t>• 旧参考答案污染新题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defRPr sz="1134" b="1">
                <a:solidFill>
                  <a:srgbClr val="222222"/>
                </a:solidFill>
                <a:latin typeface="Microsoft YaHei"/>
              </a:defRPr>
            </a:pPr>
            <a:r>
              <a:t>• 路由 fallback 掩盖空选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defRPr sz="1134" b="1">
                <a:solidFill>
                  <a:srgbClr val="222222"/>
                </a:solidFill>
                <a:latin typeface="Microsoft YaHei"/>
              </a:defRPr>
            </a:pPr>
            <a:r>
              <a:t>• 校验误挡在线程阻断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011959" y="710513"/>
            <a:ext cx="2564027" cy="1482810"/>
          </a:xfrm>
          <a:prstGeom prst="roundRect">
            <a:avLst/>
          </a:prstGeom>
          <a:solidFill>
            <a:srgbClr val="CFE6FF"/>
          </a:solidFill>
          <a:ln w="10160">
            <a:solidFill>
              <a:srgbClr val="BEC4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1600" rIns="88900" tIns="76200" bIns="50800"/>
          <a:lstStyle/>
          <a:p>
            <a:pPr algn="ctr">
              <a:spcAft>
                <a:spcPts val="200"/>
              </a:spcAft>
              <a:defRPr sz="1281" b="1">
                <a:solidFill>
                  <a:srgbClr val="245EAB"/>
                </a:solidFill>
                <a:latin typeface="Microsoft YaHei"/>
              </a:defRPr>
            </a:pPr>
            <a:r>
              <a:t>拆分后的职责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defRPr sz="1134" b="1">
                <a:solidFill>
                  <a:srgbClr val="222222"/>
                </a:solidFill>
                <a:latin typeface="Microsoft YaHei"/>
              </a:defRPr>
            </a:pPr>
            <a:r>
              <a:t>• 内容侧：定义算子题面边界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defRPr sz="1134" b="1">
                <a:solidFill>
                  <a:srgbClr val="222222"/>
                </a:solidFill>
                <a:latin typeface="Microsoft YaHei"/>
              </a:defRPr>
            </a:pPr>
            <a:r>
              <a:t>• 流程侧：执行授权和路由门禁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defRPr sz="1134" b="1">
                <a:solidFill>
                  <a:srgbClr val="222222"/>
                </a:solidFill>
                <a:latin typeface="Microsoft YaHei"/>
              </a:defRPr>
            </a:pPr>
            <a:r>
              <a:t>• 评分侧：重建答案与 Rubric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defRPr sz="1134" b="1">
                <a:solidFill>
                  <a:srgbClr val="222222"/>
                </a:solidFill>
                <a:latin typeface="Microsoft YaHei"/>
              </a:defRPr>
            </a:pPr>
            <a:r>
              <a:t>• 经验侧：只写可验证结论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23121" y="710513"/>
            <a:ext cx="2239662" cy="1482810"/>
          </a:xfrm>
          <a:prstGeom prst="roundRect">
            <a:avLst/>
          </a:prstGeom>
          <a:solidFill>
            <a:srgbClr val="CCF5DC"/>
          </a:solidFill>
          <a:ln w="10160">
            <a:solidFill>
              <a:srgbClr val="BEC4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1600" rIns="88900" tIns="76200" bIns="50800"/>
          <a:lstStyle/>
          <a:p>
            <a:pPr algn="ctr">
              <a:spcAft>
                <a:spcPts val="200"/>
              </a:spcAft>
              <a:defRPr sz="1281" b="1">
                <a:solidFill>
                  <a:srgbClr val="198C6C"/>
                </a:solidFill>
                <a:latin typeface="Microsoft YaHei"/>
              </a:defRPr>
            </a:pPr>
            <a:r>
              <a:t>判断标准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defRPr sz="1098" b="1">
                <a:solidFill>
                  <a:srgbClr val="222222"/>
                </a:solidFill>
                <a:latin typeface="Microsoft YaHei"/>
              </a:defRPr>
            </a:pPr>
            <a:r>
              <a:t>• 能回答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defRPr sz="1098" b="1">
                <a:solidFill>
                  <a:srgbClr val="222222"/>
                </a:solidFill>
                <a:latin typeface="Microsoft YaHei"/>
              </a:defRPr>
            </a:pPr>
            <a:r>
              <a:t>• 不泄漏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defRPr sz="1098" b="1">
                <a:solidFill>
                  <a:srgbClr val="222222"/>
                </a:solidFill>
                <a:latin typeface="Microsoft YaHei"/>
              </a:defRPr>
            </a:pPr>
            <a:r>
              <a:t>• 可评分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defRPr sz="1098" b="1">
                <a:solidFill>
                  <a:srgbClr val="222222"/>
                </a:solidFill>
                <a:latin typeface="Microsoft YaHei"/>
              </a:defRPr>
            </a:pPr>
            <a:r>
              <a:t>• 能归因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defRPr sz="1098" b="1">
                <a:solidFill>
                  <a:srgbClr val="222222"/>
                </a:solidFill>
                <a:latin typeface="Microsoft YaHei"/>
              </a:defRPr>
            </a:pPr>
            <a:r>
              <a:t>• 可复盘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675" y="2425013"/>
            <a:ext cx="8572500" cy="33981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  <a:defRPr sz="1598" b="1">
                <a:solidFill>
                  <a:srgbClr val="222222"/>
                </a:solidFill>
                <a:latin typeface="Microsoft YaHei"/>
              </a:defRPr>
            </a:pPr>
            <a:r>
              <a:t>总设计：两条控制链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121" y="2718486"/>
            <a:ext cx="8572500" cy="185351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  <a:defRPr sz="793" b="1">
                <a:solidFill>
                  <a:srgbClr val="666C70"/>
                </a:solidFill>
                <a:latin typeface="Microsoft YaHei"/>
              </a:defRPr>
            </a:pPr>
            <a:r>
              <a:t>内容侧管“公开题面”，流程机制管“运行闭环”，二者通过授权和诊断结果连接。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08121" y="2888391"/>
            <a:ext cx="8371703" cy="0"/>
          </a:xfrm>
          <a:prstGeom prst="line">
            <a:avLst/>
          </a:prstGeom>
          <a:ln w="15240">
            <a:solidFill>
              <a:srgbClr val="9AA6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169905" y="3027405"/>
            <a:ext cx="3768810" cy="725959"/>
          </a:xfrm>
          <a:prstGeom prst="roundRect">
            <a:avLst/>
          </a:prstGeom>
          <a:solidFill>
            <a:srgbClr val="CFE6FF"/>
          </a:solidFill>
          <a:ln w="9525">
            <a:solidFill>
              <a:srgbClr val="C0CA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38100" bIns="38100"/>
          <a:lstStyle/>
          <a:p>
            <a:pPr algn="ctr">
              <a:spcBef>
                <a:spcPts val="0"/>
              </a:spcBef>
              <a:spcAft>
                <a:spcPts val="0"/>
              </a:spcAft>
              <a:defRPr sz="1146" b="1">
                <a:solidFill>
                  <a:srgbClr val="245EAB"/>
                </a:solidFill>
                <a:latin typeface="Microsoft YaHei"/>
              </a:defRPr>
            </a:pPr>
            <a:r>
              <a:t>算子内容治理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146" b="1">
                <a:solidFill>
                  <a:srgbClr val="245EAB"/>
                </a:solidFill>
                <a:latin typeface="Microsoft YaHei"/>
              </a:defRPr>
            </a:pPr>
            <a:r>
              <a:t>规定题面内容 + 执行契约 + 内容测试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94770" y="3027405"/>
            <a:ext cx="3737918" cy="725959"/>
          </a:xfrm>
          <a:prstGeom prst="roundRect">
            <a:avLst/>
          </a:prstGeom>
          <a:solidFill>
            <a:srgbClr val="CCF5DC"/>
          </a:solidFill>
          <a:ln w="9525">
            <a:solidFill>
              <a:srgbClr val="B4C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38100" bIns="38100"/>
          <a:lstStyle/>
          <a:p>
            <a:pPr algn="ctr">
              <a:spcBef>
                <a:spcPts val="0"/>
              </a:spcBef>
              <a:spcAft>
                <a:spcPts val="0"/>
              </a:spcAft>
              <a:defRPr sz="1146" b="1">
                <a:solidFill>
                  <a:srgbClr val="198C6C"/>
                </a:solidFill>
                <a:latin typeface="Microsoft YaHei"/>
              </a:defRPr>
            </a:pPr>
            <a:r>
              <a:t>流程机制治理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146" b="1">
                <a:solidFill>
                  <a:srgbClr val="198C6C"/>
                </a:solidFill>
                <a:latin typeface="Microsoft YaHei"/>
              </a:defRPr>
            </a:pPr>
            <a:r>
              <a:t>授权 + 模式 + 路由 + 校验 + 评分闭环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70702" y="3876932"/>
            <a:ext cx="1096662" cy="695067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EC4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spcBef>
                <a:spcPts val="0"/>
              </a:spcBef>
              <a:spcAft>
                <a:spcPts val="0"/>
              </a:spcAft>
              <a:defRPr sz="927" b="1">
                <a:solidFill>
                  <a:srgbClr val="222222"/>
                </a:solidFill>
                <a:latin typeface="Microsoft YaHei"/>
              </a:defRPr>
            </a:pPr>
            <a:r>
              <a:t>中性题面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927" b="1">
                <a:solidFill>
                  <a:srgbClr val="222222"/>
                </a:solidFill>
                <a:latin typeface="Microsoft YaHei"/>
              </a:defRPr>
            </a:pPr>
            <a:r>
              <a:t>禁止答案提示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564027" y="3876932"/>
            <a:ext cx="1204783" cy="695067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EC4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" rIns="127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  <a:defRPr sz="853" b="1">
                <a:solidFill>
                  <a:srgbClr val="222222"/>
                </a:solidFill>
                <a:latin typeface="Microsoft YaHei"/>
              </a:defRPr>
            </a:pPr>
            <a:r>
              <a:t>槽位契约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853" b="1">
                <a:solidFill>
                  <a:srgbClr val="222222"/>
                </a:solidFill>
                <a:latin typeface="Microsoft YaHei"/>
              </a:defRPr>
            </a:pPr>
            <a:r>
              <a:t>声明完成题目生成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853" b="1">
                <a:solidFill>
                  <a:srgbClr val="222222"/>
                </a:solidFill>
                <a:latin typeface="Microsoft YaHei"/>
              </a:defRPr>
            </a:pPr>
            <a:r>
              <a:t>或需要材料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695567" y="3876932"/>
            <a:ext cx="1127554" cy="695067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EC4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" rIns="127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  <a:defRPr sz="927" b="1">
                <a:solidFill>
                  <a:srgbClr val="222222"/>
                </a:solidFill>
                <a:latin typeface="Microsoft YaHei"/>
              </a:defRPr>
            </a:pPr>
            <a:r>
              <a:t>弱模型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927" b="1">
                <a:solidFill>
                  <a:srgbClr val="222222"/>
                </a:solidFill>
                <a:latin typeface="Microsoft YaHei"/>
              </a:defRPr>
            </a:pPr>
            <a:r>
              <a:t>只看最终题面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08472" y="3876932"/>
            <a:ext cx="1127554" cy="695067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EC4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" rIns="127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  <a:defRPr sz="927" b="1">
                <a:solidFill>
                  <a:srgbClr val="222222"/>
                </a:solidFill>
                <a:latin typeface="Microsoft YaHei"/>
              </a:defRPr>
            </a:pPr>
            <a:r>
              <a:t>新题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927" b="1">
                <a:solidFill>
                  <a:srgbClr val="222222"/>
                </a:solidFill>
                <a:latin typeface="Microsoft YaHei"/>
              </a:defRPr>
            </a:pPr>
            <a:r>
              <a:t>重建答案与评分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36824" y="3876932"/>
            <a:ext cx="1065770" cy="695067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EC4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" rIns="127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  <a:defRPr sz="866" b="1">
                <a:solidFill>
                  <a:srgbClr val="222222"/>
                </a:solidFill>
                <a:latin typeface="Microsoft YaHei"/>
              </a:defRPr>
            </a:pPr>
            <a:r>
              <a:t>效果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866" b="1">
                <a:solidFill>
                  <a:srgbClr val="222222"/>
                </a:solidFill>
                <a:latin typeface="Microsoft YaHei"/>
              </a:defRPr>
            </a:pPr>
            <a:r>
              <a:t>真实得分才写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866" b="1">
                <a:solidFill>
                  <a:srgbClr val="222222"/>
                </a:solidFill>
                <a:latin typeface="Microsoft YaHei"/>
              </a:defRPr>
            </a:pPr>
            <a:r>
              <a:t>经验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625810" y="4711013"/>
            <a:ext cx="3537121" cy="339810"/>
          </a:xfrm>
          <a:prstGeom prst="roundRect">
            <a:avLst/>
          </a:prstGeom>
          <a:solidFill>
            <a:srgbClr val="FFF0B2"/>
          </a:solidFill>
          <a:ln w="9525">
            <a:solidFill>
              <a:srgbClr val="E3CF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" rIns="127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  <a:defRPr sz="1049" b="1">
                <a:solidFill>
                  <a:srgbClr val="9B5A13"/>
                </a:solidFill>
                <a:latin typeface="Microsoft YaHei"/>
              </a:defRPr>
            </a:pPr>
            <a:r>
              <a:t>共同目标：有效进化可验证、可追溯、可迭代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23567" y="4680121"/>
            <a:ext cx="540608" cy="355256"/>
          </a:xfrm>
          <a:prstGeom prst="roundRect">
            <a:avLst/>
          </a:prstGeom>
          <a:solidFill>
            <a:srgbClr val="333333"/>
          </a:solidFill>
          <a:ln w="9525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  <a:defRPr sz="1707" b="0">
                <a:solidFill>
                  <a:srgbClr val="FFFFFF"/>
                </a:solidFill>
                <a:latin typeface="Microsoft YaHei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2675" y="77229"/>
            <a:ext cx="8495270" cy="30891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  <a:defRPr sz="1732" b="1">
                <a:solidFill>
                  <a:srgbClr val="222222"/>
                </a:solidFill>
                <a:latin typeface="Microsoft YaHei"/>
              </a:defRPr>
            </a:pPr>
            <a:r>
              <a:t>内容治理原理：题面只给可观察材料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121" y="386148"/>
            <a:ext cx="8464378" cy="185351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  <a:defRPr sz="817" b="1">
                <a:solidFill>
                  <a:srgbClr val="666C70"/>
                </a:solidFill>
                <a:latin typeface="Microsoft YaHei"/>
              </a:defRPr>
            </a:pPr>
            <a:r>
              <a:t>因为题目能力目标应落在一个中性业务判断任务，内题界面提供材料而不是提前暗示。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108121" y="586945"/>
            <a:ext cx="8371703" cy="0"/>
          </a:xfrm>
          <a:prstGeom prst="line">
            <a:avLst/>
          </a:prstGeom>
          <a:ln w="16510">
            <a:solidFill>
              <a:srgbClr val="9AA6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92675" y="664175"/>
            <a:ext cx="3815148" cy="1560040"/>
          </a:xfrm>
          <a:prstGeom prst="roundRect">
            <a:avLst/>
          </a:prstGeom>
          <a:solidFill>
            <a:srgbClr val="CCF5DC"/>
          </a:solidFill>
          <a:ln w="10160">
            <a:solidFill>
              <a:srgbClr val="BEC4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1600" rIns="88900" tIns="76200" bIns="50800"/>
          <a:lstStyle/>
          <a:p>
            <a:pPr algn="ctr">
              <a:spcAft>
                <a:spcPts val="200"/>
              </a:spcAft>
              <a:defRPr sz="1281" b="1">
                <a:solidFill>
                  <a:srgbClr val="198C6C"/>
                </a:solidFill>
                <a:latin typeface="Microsoft YaHei"/>
              </a:defRPr>
            </a:pPr>
            <a:r>
              <a:t>题面可以写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defRPr sz="1073" b="1">
                <a:solidFill>
                  <a:srgbClr val="222222"/>
                </a:solidFill>
                <a:latin typeface="Microsoft YaHei"/>
              </a:defRPr>
            </a:pPr>
            <a:r>
              <a:t>• 可观察事实：时间、地点、对象、数值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defRPr sz="1073" b="1">
                <a:solidFill>
                  <a:srgbClr val="222222"/>
                </a:solidFill>
                <a:latin typeface="Microsoft YaHei"/>
              </a:defRPr>
            </a:pPr>
            <a:r>
              <a:t>• 题内明示规则、公式、单位、局部参数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defRPr sz="1073" b="1">
                <a:solidFill>
                  <a:srgbClr val="222222"/>
                </a:solidFill>
                <a:latin typeface="Microsoft YaHei"/>
              </a:defRPr>
            </a:pPr>
            <a:r>
              <a:t>• 竞争解释所需的对称事实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defRPr sz="1073" b="1">
                <a:solidFill>
                  <a:srgbClr val="222222"/>
                </a:solidFill>
                <a:latin typeface="Microsoft YaHei"/>
              </a:defRPr>
            </a:pPr>
            <a:r>
              <a:t>• 一个用户可见的业务判断任务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680121" y="664175"/>
            <a:ext cx="3815148" cy="1560040"/>
          </a:xfrm>
          <a:prstGeom prst="roundRect">
            <a:avLst/>
          </a:prstGeom>
          <a:solidFill>
            <a:srgbClr val="FEDCDD"/>
          </a:solidFill>
          <a:ln w="10160">
            <a:solidFill>
              <a:srgbClr val="BEC4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1600" rIns="88900" tIns="76200" bIns="50800"/>
          <a:lstStyle/>
          <a:p>
            <a:pPr algn="ctr">
              <a:spcAft>
                <a:spcPts val="200"/>
              </a:spcAft>
              <a:defRPr sz="1281" b="1">
                <a:solidFill>
                  <a:srgbClr val="A92929"/>
                </a:solidFill>
                <a:latin typeface="Microsoft YaHei"/>
              </a:defRPr>
            </a:pPr>
            <a:r>
              <a:t>题面不能写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defRPr sz="1073" b="1">
                <a:solidFill>
                  <a:srgbClr val="222222"/>
                </a:solidFill>
                <a:latin typeface="Microsoft YaHei"/>
              </a:defRPr>
            </a:pPr>
            <a:r>
              <a:t>• 答案方向：不能认定、最高只能支持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defRPr sz="1073" b="1">
                <a:solidFill>
                  <a:srgbClr val="222222"/>
                </a:solidFill>
                <a:latin typeface="Microsoft YaHei"/>
              </a:defRPr>
            </a:pPr>
            <a:r>
              <a:t>• 事实角色：关键证据、干扰事实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defRPr sz="1073" b="1">
                <a:solidFill>
                  <a:srgbClr val="222222"/>
                </a:solidFill>
                <a:latin typeface="Microsoft YaHei"/>
              </a:defRPr>
            </a:pPr>
            <a:r>
              <a:t>• 推理链总结：哪一跳成立或缺失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defRPr sz="1073" b="1">
                <a:solidFill>
                  <a:srgbClr val="222222"/>
                </a:solidFill>
                <a:latin typeface="Microsoft YaHei"/>
              </a:defRPr>
            </a:pPr>
            <a:r>
              <a:t>• 规则应用结果和竞争解释淘汰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64027" y="2332337"/>
            <a:ext cx="4093175" cy="247135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  <a:defRPr sz="1012" b="1">
                <a:solidFill>
                  <a:srgbClr val="245EAB"/>
                </a:solidFill>
                <a:latin typeface="Microsoft YaHei"/>
              </a:defRPr>
            </a:pPr>
            <a:r>
              <a:t>核心原则：公开事实足够答题，但不能提前完成答案归纳。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675" y="2687594"/>
            <a:ext cx="8572500" cy="33981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  <a:defRPr sz="1598" b="1">
                <a:solidFill>
                  <a:srgbClr val="222222"/>
                </a:solidFill>
                <a:latin typeface="Microsoft YaHei"/>
              </a:defRPr>
            </a:pPr>
            <a:r>
              <a:t>执行契约：把算子能力转成可检查槽位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121" y="2981067"/>
            <a:ext cx="8572500" cy="185351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  <a:defRPr sz="793" b="1">
                <a:solidFill>
                  <a:srgbClr val="666C70"/>
                </a:solidFill>
                <a:latin typeface="Microsoft YaHei"/>
              </a:defRPr>
            </a:pPr>
            <a:r>
              <a:t>每个生成算子都用契约说明适用模式、材料槽位、可合成边界和必然控制。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08121" y="3150972"/>
            <a:ext cx="8371703" cy="0"/>
          </a:xfrm>
          <a:prstGeom prst="line">
            <a:avLst/>
          </a:prstGeom>
          <a:ln w="15240">
            <a:solidFill>
              <a:srgbClr val="9AA6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478824" y="3351770"/>
            <a:ext cx="1374689" cy="540608"/>
          </a:xfrm>
          <a:prstGeom prst="roundRect">
            <a:avLst/>
          </a:prstGeom>
          <a:solidFill>
            <a:srgbClr val="CFE6FF"/>
          </a:solidFill>
          <a:ln w="9525">
            <a:solidFill>
              <a:srgbClr val="C2CD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" rIns="127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  <a:defRPr sz="915" b="1">
                <a:solidFill>
                  <a:srgbClr val="222222"/>
                </a:solidFill>
                <a:latin typeface="Microsoft YaHei"/>
              </a:defRPr>
            </a:pPr>
            <a:r>
              <a:t>算子能力轴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915297" y="3614351"/>
            <a:ext cx="216243" cy="0"/>
          </a:xfrm>
          <a:prstGeom prst="line">
            <a:avLst/>
          </a:prstGeom>
          <a:ln w="12700">
            <a:solidFill>
              <a:srgbClr val="245EAB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2193324" y="3351770"/>
            <a:ext cx="1390135" cy="540608"/>
          </a:xfrm>
          <a:prstGeom prst="roundRect">
            <a:avLst/>
          </a:prstGeom>
          <a:solidFill>
            <a:srgbClr val="CFE6FF"/>
          </a:solidFill>
          <a:ln w="9525">
            <a:solidFill>
              <a:srgbClr val="C2CD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" rIns="127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  <a:defRPr sz="915" b="1">
                <a:solidFill>
                  <a:srgbClr val="222222"/>
                </a:solidFill>
                <a:latin typeface="Microsoft YaHei"/>
              </a:defRPr>
            </a:pPr>
            <a:r>
              <a:t>算子必须具备的材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915" b="1">
                <a:solidFill>
                  <a:srgbClr val="222222"/>
                </a:solidFill>
                <a:latin typeface="Microsoft YaHei"/>
              </a:defRPr>
            </a:pPr>
            <a:r>
              <a:t>料信息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645243" y="3614351"/>
            <a:ext cx="200797" cy="0"/>
          </a:xfrm>
          <a:prstGeom prst="line">
            <a:avLst/>
          </a:prstGeom>
          <a:ln w="12700">
            <a:solidFill>
              <a:srgbClr val="245EAB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3907824" y="3351770"/>
            <a:ext cx="1436472" cy="540608"/>
          </a:xfrm>
          <a:prstGeom prst="roundRect">
            <a:avLst/>
          </a:prstGeom>
          <a:solidFill>
            <a:srgbClr val="CFE6FF"/>
          </a:solidFill>
          <a:ln w="9525">
            <a:solidFill>
              <a:srgbClr val="C2CD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" rIns="127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  <a:defRPr sz="915" b="1">
                <a:solidFill>
                  <a:srgbClr val="222222"/>
                </a:solidFill>
                <a:latin typeface="Microsoft YaHei"/>
              </a:defRPr>
            </a:pPr>
            <a:r>
              <a:t>合理的补充材料信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915" b="1">
                <a:solidFill>
                  <a:srgbClr val="222222"/>
                </a:solidFill>
                <a:latin typeface="Microsoft YaHei"/>
              </a:defRPr>
            </a:pPr>
            <a:r>
              <a:t>息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406081" y="3614351"/>
            <a:ext cx="278027" cy="0"/>
          </a:xfrm>
          <a:prstGeom prst="line">
            <a:avLst/>
          </a:prstGeom>
          <a:ln w="12700">
            <a:solidFill>
              <a:srgbClr val="245EAB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5745891" y="3351770"/>
            <a:ext cx="1791729" cy="540608"/>
          </a:xfrm>
          <a:prstGeom prst="roundRect">
            <a:avLst/>
          </a:prstGeom>
          <a:solidFill>
            <a:srgbClr val="CFE6FF"/>
          </a:solidFill>
          <a:ln w="9525">
            <a:solidFill>
              <a:srgbClr val="C2CD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" rIns="127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  <a:defRPr sz="915" b="1">
                <a:solidFill>
                  <a:srgbClr val="222222"/>
                </a:solidFill>
                <a:latin typeface="Microsoft YaHei"/>
              </a:defRPr>
            </a:pPr>
            <a:r>
              <a:t>不能输送的材料信息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45094" y="3923270"/>
            <a:ext cx="2749378" cy="185351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  <a:defRPr sz="793" b="1">
                <a:solidFill>
                  <a:srgbClr val="222222"/>
                </a:solidFill>
                <a:latin typeface="Microsoft YaHei"/>
              </a:defRPr>
            </a:pPr>
            <a:r>
              <a:t>必须来自来源、规则或真实依据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85351" y="4170405"/>
            <a:ext cx="2332337" cy="94220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EC4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" rIns="127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  <a:defRPr sz="902" b="1">
                <a:solidFill>
                  <a:srgbClr val="222222"/>
                </a:solidFill>
                <a:latin typeface="Microsoft YaHei"/>
              </a:defRPr>
            </a:pPr>
            <a:r>
              <a:t>必需材料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902" b="1">
                <a:solidFill>
                  <a:srgbClr val="222222"/>
                </a:solidFill>
                <a:latin typeface="Microsoft YaHei"/>
              </a:defRPr>
            </a:pPr>
            <a:r>
              <a:t>路径、时间窗、锚点观测、规则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902" b="1">
                <a:solidFill>
                  <a:srgbClr val="222222"/>
                </a:solidFill>
                <a:latin typeface="Microsoft YaHei"/>
              </a:defRPr>
            </a:pPr>
            <a:r>
              <a:t>字段等。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902" b="1">
                <a:solidFill>
                  <a:srgbClr val="222222"/>
                </a:solidFill>
                <a:latin typeface="Microsoft YaHei"/>
              </a:defRPr>
            </a:pPr>
            <a:r>
              <a:t>缺失时记录槽位不足。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749378" y="4170405"/>
            <a:ext cx="2440459" cy="94220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EC4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" rIns="127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  <a:defRPr sz="902" b="1">
                <a:solidFill>
                  <a:srgbClr val="222222"/>
                </a:solidFill>
                <a:latin typeface="Microsoft YaHei"/>
              </a:defRPr>
            </a:pPr>
            <a:r>
              <a:t>可题内合成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902" b="1">
                <a:solidFill>
                  <a:srgbClr val="222222"/>
                </a:solidFill>
                <a:latin typeface="Microsoft YaHei"/>
              </a:defRPr>
            </a:pPr>
            <a:r>
              <a:t>人物、实体、动作、路径、局部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902" b="1">
                <a:solidFill>
                  <a:srgbClr val="222222"/>
                </a:solidFill>
                <a:latin typeface="Microsoft YaHei"/>
              </a:defRPr>
            </a:pPr>
            <a:r>
              <a:t>参数、竞争解释。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902" b="1">
                <a:solidFill>
                  <a:srgbClr val="222222"/>
                </a:solidFill>
                <a:latin typeface="Microsoft YaHei"/>
              </a:defRPr>
            </a:pPr>
            <a:r>
              <a:t>必须登记同世界事实。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390635" y="4170405"/>
            <a:ext cx="3058297" cy="94220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EC4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" rIns="127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  <a:defRPr sz="902" b="1">
                <a:solidFill>
                  <a:srgbClr val="222222"/>
                </a:solidFill>
                <a:latin typeface="Microsoft YaHei"/>
              </a:defRPr>
            </a:pPr>
            <a:r>
              <a:t>不可合成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902" b="1">
                <a:solidFill>
                  <a:srgbClr val="222222"/>
                </a:solidFill>
                <a:latin typeface="Microsoft YaHei"/>
              </a:defRPr>
            </a:pPr>
            <a:r>
              <a:t>真实法规、真实专业阈值、真实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902" b="1">
                <a:solidFill>
                  <a:srgbClr val="222222"/>
                </a:solidFill>
                <a:latin typeface="Microsoft YaHei"/>
              </a:defRPr>
            </a:pPr>
            <a:r>
              <a:t>外部记录、真实案件结论。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902" b="1">
                <a:solidFill>
                  <a:srgbClr val="222222"/>
                </a:solidFill>
                <a:latin typeface="Microsoft YaHei"/>
              </a:defRPr>
            </a:pPr>
            <a:r>
              <a:t>只能来自可审计来源。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23567" y="4680121"/>
            <a:ext cx="540608" cy="355256"/>
          </a:xfrm>
          <a:prstGeom prst="roundRect">
            <a:avLst/>
          </a:prstGeom>
          <a:solidFill>
            <a:srgbClr val="333333"/>
          </a:solidFill>
          <a:ln w="9525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  <a:defRPr sz="1707" b="0">
                <a:solidFill>
                  <a:srgbClr val="FFFFFF"/>
                </a:solidFill>
                <a:latin typeface="Microsoft YaHei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2675" y="77229"/>
            <a:ext cx="8495270" cy="30891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  <a:defRPr sz="1732" b="1">
                <a:solidFill>
                  <a:srgbClr val="222222"/>
                </a:solidFill>
                <a:latin typeface="Microsoft YaHei"/>
              </a:defRPr>
            </a:pPr>
            <a:r>
              <a:t>流程机制原理：正式实验必须跑完整闭环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121" y="386148"/>
            <a:ext cx="8464378" cy="185351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  <a:defRPr sz="817" b="1">
                <a:solidFill>
                  <a:srgbClr val="666C70"/>
                </a:solidFill>
                <a:latin typeface="Microsoft YaHei"/>
              </a:defRPr>
            </a:pPr>
            <a:r>
              <a:t>信任题面和流程中的“任务力”，真正按新题重建答案、重新评分、每轮回到效果归因。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108121" y="586945"/>
            <a:ext cx="8371703" cy="0"/>
          </a:xfrm>
          <a:prstGeom prst="line">
            <a:avLst/>
          </a:prstGeom>
          <a:ln w="16510">
            <a:solidFill>
              <a:srgbClr val="9AA6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370702" y="741405"/>
            <a:ext cx="1220229" cy="463378"/>
          </a:xfrm>
          <a:prstGeom prst="roundRect">
            <a:avLst/>
          </a:prstGeom>
          <a:solidFill>
            <a:srgbClr val="CCF5DC"/>
          </a:solidFill>
          <a:ln w="9525">
            <a:solidFill>
              <a:srgbClr val="B9D5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" rIns="127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  <a:defRPr sz="951" b="1">
                <a:solidFill>
                  <a:srgbClr val="222222"/>
                </a:solidFill>
                <a:latin typeface="Microsoft YaHei"/>
              </a:defRPr>
            </a:pPr>
            <a:r>
              <a:t>重建参考答案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652716" y="973094"/>
            <a:ext cx="77229" cy="0"/>
          </a:xfrm>
          <a:prstGeom prst="line">
            <a:avLst/>
          </a:prstGeom>
          <a:ln w="12700">
            <a:solidFill>
              <a:srgbClr val="198C6C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1791729" y="741405"/>
            <a:ext cx="1328351" cy="463378"/>
          </a:xfrm>
          <a:prstGeom prst="roundRect">
            <a:avLst/>
          </a:prstGeom>
          <a:solidFill>
            <a:srgbClr val="CCF5DC"/>
          </a:solidFill>
          <a:ln w="9525">
            <a:solidFill>
              <a:srgbClr val="B9D5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" rIns="127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  <a:defRPr sz="951" b="1">
                <a:solidFill>
                  <a:srgbClr val="222222"/>
                </a:solidFill>
                <a:latin typeface="Microsoft YaHei"/>
              </a:defRPr>
            </a:pPr>
            <a:r>
              <a:t>重建 Rubric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181864" y="973094"/>
            <a:ext cx="15446" cy="0"/>
          </a:xfrm>
          <a:prstGeom prst="line">
            <a:avLst/>
          </a:prstGeom>
          <a:ln w="12700">
            <a:solidFill>
              <a:srgbClr val="198C6C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3259094" y="741405"/>
            <a:ext cx="1359243" cy="463378"/>
          </a:xfrm>
          <a:prstGeom prst="roundRect">
            <a:avLst/>
          </a:prstGeom>
          <a:solidFill>
            <a:srgbClr val="CCF5DC"/>
          </a:solidFill>
          <a:ln w="9525">
            <a:solidFill>
              <a:srgbClr val="B9D5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" rIns="127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  <a:defRPr sz="951" b="1">
                <a:solidFill>
                  <a:srgbClr val="222222"/>
                </a:solidFill>
                <a:latin typeface="Microsoft YaHei"/>
              </a:defRPr>
            </a:pPr>
            <a:r>
              <a:t>弱模型回答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680121" y="973094"/>
            <a:ext cx="185351" cy="0"/>
          </a:xfrm>
          <a:prstGeom prst="line">
            <a:avLst/>
          </a:prstGeom>
          <a:ln w="12700">
            <a:solidFill>
              <a:srgbClr val="198C6C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4927256" y="741405"/>
            <a:ext cx="1112108" cy="463378"/>
          </a:xfrm>
          <a:prstGeom prst="roundRect">
            <a:avLst/>
          </a:prstGeom>
          <a:solidFill>
            <a:srgbClr val="CCF5DC"/>
          </a:solidFill>
          <a:ln w="9525">
            <a:solidFill>
              <a:srgbClr val="B9D5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" rIns="127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  <a:defRPr sz="951" b="1">
                <a:solidFill>
                  <a:srgbClr val="222222"/>
                </a:solidFill>
                <a:latin typeface="Microsoft YaHei"/>
              </a:defRPr>
            </a:pPr>
            <a:r>
              <a:t>正式评分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101148" y="973094"/>
            <a:ext cx="139014" cy="0"/>
          </a:xfrm>
          <a:prstGeom prst="line">
            <a:avLst/>
          </a:prstGeom>
          <a:ln w="12700">
            <a:solidFill>
              <a:srgbClr val="198C6C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301945" y="741405"/>
            <a:ext cx="1158445" cy="463378"/>
          </a:xfrm>
          <a:prstGeom prst="roundRect">
            <a:avLst/>
          </a:prstGeom>
          <a:solidFill>
            <a:srgbClr val="CCF5DC"/>
          </a:solidFill>
          <a:ln w="9525">
            <a:solidFill>
              <a:srgbClr val="B9D5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" rIns="127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  <a:defRPr sz="951" b="1">
                <a:solidFill>
                  <a:srgbClr val="222222"/>
                </a:solidFill>
                <a:latin typeface="Microsoft YaHei"/>
              </a:defRPr>
            </a:pPr>
            <a:r>
              <a:t>效果归因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522175" y="973094"/>
            <a:ext cx="154460" cy="0"/>
          </a:xfrm>
          <a:prstGeom prst="line">
            <a:avLst/>
          </a:prstGeom>
          <a:ln w="12700">
            <a:solidFill>
              <a:srgbClr val="198C6C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7738418" y="741405"/>
            <a:ext cx="756851" cy="463378"/>
          </a:xfrm>
          <a:prstGeom prst="roundRect">
            <a:avLst/>
          </a:prstGeom>
          <a:solidFill>
            <a:srgbClr val="CCF5DC"/>
          </a:solidFill>
          <a:ln w="9525">
            <a:solidFill>
              <a:srgbClr val="B9D5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" rIns="127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  <a:defRPr sz="951" b="1">
                <a:solidFill>
                  <a:srgbClr val="222222"/>
                </a:solidFill>
                <a:latin typeface="Microsoft YaHei"/>
              </a:defRPr>
            </a:pPr>
            <a:r>
              <a:t>下一轮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69905" y="1359243"/>
            <a:ext cx="3691581" cy="834081"/>
          </a:xfrm>
          <a:prstGeom prst="roundRect">
            <a:avLst/>
          </a:prstGeom>
          <a:solidFill>
            <a:srgbClr val="FFF0B2"/>
          </a:solidFill>
          <a:ln w="10160">
            <a:solidFill>
              <a:srgbClr val="BEC4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1600" rIns="88900" tIns="76200" bIns="50800"/>
          <a:lstStyle/>
          <a:p>
            <a:pPr algn="ctr">
              <a:spcAft>
                <a:spcPts val="200"/>
              </a:spcAft>
              <a:defRPr sz="1159" b="1">
                <a:solidFill>
                  <a:srgbClr val="9B5A13"/>
                </a:solidFill>
                <a:latin typeface="Microsoft YaHei"/>
              </a:defRPr>
            </a:pPr>
            <a:r>
              <a:t>正式入口红线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defRPr sz="902" b="1">
                <a:solidFill>
                  <a:srgbClr val="222222"/>
                </a:solidFill>
                <a:latin typeface="Microsoft YaHei"/>
              </a:defRPr>
            </a:pPr>
            <a:r>
              <a:t>• 缺少已配不能跳过阶段 → 直接报错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defRPr sz="902" b="1">
                <a:solidFill>
                  <a:srgbClr val="222222"/>
                </a:solidFill>
                <a:latin typeface="Microsoft YaHei"/>
              </a:defRPr>
            </a:pPr>
            <a:r>
              <a:t>• 旧材料不能硬塞进活动评分 → 回到方向审核材料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618337" y="1359243"/>
            <a:ext cx="3923270" cy="834081"/>
          </a:xfrm>
          <a:prstGeom prst="roundRect">
            <a:avLst/>
          </a:prstGeom>
          <a:solidFill>
            <a:srgbClr val="F0F5F8"/>
          </a:solidFill>
          <a:ln w="10160">
            <a:solidFill>
              <a:srgbClr val="BEC4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1600" rIns="88900" tIns="76200" bIns="50800"/>
          <a:lstStyle/>
          <a:p>
            <a:pPr algn="ctr">
              <a:spcAft>
                <a:spcPts val="200"/>
              </a:spcAft>
              <a:defRPr sz="1122" b="1">
                <a:solidFill>
                  <a:srgbClr val="245EAB"/>
                </a:solidFill>
                <a:latin typeface="Microsoft YaHei"/>
              </a:defRPr>
            </a:pPr>
            <a:r>
              <a:t>校验职责边界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defRPr sz="878" b="1">
                <a:solidFill>
                  <a:srgbClr val="222222"/>
                </a:solidFill>
                <a:latin typeface="Microsoft YaHei"/>
              </a:defRPr>
            </a:pPr>
            <a:r>
              <a:t>• 默认记录诊断和建议动作 → 记录风险以及是否人工审核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defRPr sz="878" b="1">
                <a:solidFill>
                  <a:srgbClr val="222222"/>
                </a:solidFill>
                <a:latin typeface="Microsoft YaHei"/>
              </a:defRPr>
            </a:pPr>
            <a:r>
              <a:t>• 只有技术不可执行才停止链路 → 格式无法解析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675" y="2332337"/>
            <a:ext cx="8572500" cy="33981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  <a:defRPr sz="1598" b="1">
                <a:solidFill>
                  <a:srgbClr val="222222"/>
                </a:solidFill>
                <a:latin typeface="Microsoft YaHei"/>
              </a:defRPr>
            </a:pPr>
            <a:r>
              <a:t>材料隔离：弱模型只看最终题面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121" y="2625810"/>
            <a:ext cx="8572500" cy="185351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  <a:defRPr sz="793" b="1">
                <a:solidFill>
                  <a:srgbClr val="666C70"/>
                </a:solidFill>
                <a:latin typeface="Microsoft YaHei"/>
              </a:defRPr>
            </a:pPr>
            <a:r>
              <a:t>题面变化后，旧参考答案、旧评分标准、预测答案和隐含链路全部成为隔离材料。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08121" y="2811162"/>
            <a:ext cx="8371703" cy="0"/>
          </a:xfrm>
          <a:prstGeom prst="line">
            <a:avLst/>
          </a:prstGeom>
          <a:ln w="15240">
            <a:solidFill>
              <a:srgbClr val="9AA6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401594" y="2950175"/>
            <a:ext cx="2239662" cy="803189"/>
          </a:xfrm>
          <a:prstGeom prst="roundRect">
            <a:avLst/>
          </a:prstGeom>
          <a:solidFill>
            <a:srgbClr val="FEDCDD"/>
          </a:solidFill>
          <a:ln w="9525">
            <a:solidFill>
              <a:srgbClr val="BEC4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" rIns="127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  <a:defRPr sz="976" b="1">
                <a:solidFill>
                  <a:srgbClr val="A92929"/>
                </a:solidFill>
                <a:latin typeface="Microsoft YaHei"/>
              </a:defRPr>
            </a:pPr>
            <a:r>
              <a:t>旧材料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976" b="1">
                <a:solidFill>
                  <a:srgbClr val="A92929"/>
                </a:solidFill>
                <a:latin typeface="Microsoft YaHei"/>
              </a:defRPr>
            </a:pPr>
            <a:r>
              <a:t>参考答案 / Rubric / 分数 / 旧题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976" b="1">
                <a:solidFill>
                  <a:srgbClr val="A92929"/>
                </a:solidFill>
                <a:latin typeface="Microsoft YaHei"/>
              </a:defRPr>
            </a:pPr>
            <a:r>
              <a:t>失败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2718486" y="3351770"/>
            <a:ext cx="293473" cy="0"/>
          </a:xfrm>
          <a:prstGeom prst="line">
            <a:avLst/>
          </a:prstGeom>
          <a:ln w="12700">
            <a:solidFill>
              <a:srgbClr val="198C6C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3181864" y="2950175"/>
            <a:ext cx="2239662" cy="803189"/>
          </a:xfrm>
          <a:prstGeom prst="roundRect">
            <a:avLst/>
          </a:prstGeom>
          <a:solidFill>
            <a:srgbClr val="FFF0B2"/>
          </a:solidFill>
          <a:ln w="9525">
            <a:solidFill>
              <a:srgbClr val="BEC4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" rIns="127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  <a:defRPr sz="976" b="1">
                <a:solidFill>
                  <a:srgbClr val="9B5A13"/>
                </a:solidFill>
                <a:latin typeface="Microsoft YaHei"/>
              </a:defRPr>
            </a:pPr>
            <a:r>
              <a:t>隔离层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976" b="1">
                <a:solidFill>
                  <a:srgbClr val="9B5A13"/>
                </a:solidFill>
                <a:latin typeface="Microsoft YaHei"/>
              </a:defRPr>
            </a:pPr>
            <a:r>
              <a:t>标记过期，不进入弱模型上下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976" b="1">
                <a:solidFill>
                  <a:srgbClr val="9B5A13"/>
                </a:solidFill>
                <a:latin typeface="Microsoft YaHei"/>
              </a:defRPr>
            </a:pPr>
            <a:r>
              <a:t>文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514202" y="3351770"/>
            <a:ext cx="308919" cy="0"/>
          </a:xfrm>
          <a:prstGeom prst="line">
            <a:avLst/>
          </a:prstGeom>
          <a:ln w="12700">
            <a:solidFill>
              <a:srgbClr val="198C6C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5946689" y="2950175"/>
            <a:ext cx="2255108" cy="803189"/>
          </a:xfrm>
          <a:prstGeom prst="roundRect">
            <a:avLst/>
          </a:prstGeom>
          <a:solidFill>
            <a:srgbClr val="CCF5DC"/>
          </a:solidFill>
          <a:ln w="9525">
            <a:solidFill>
              <a:srgbClr val="BEC4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" rIns="127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  <a:defRPr sz="976" b="1">
                <a:solidFill>
                  <a:srgbClr val="198C6C"/>
                </a:solidFill>
                <a:latin typeface="Microsoft YaHei"/>
              </a:defRPr>
            </a:pPr>
            <a:r>
              <a:t>弱模型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976" b="1">
                <a:solidFill>
                  <a:srgbClr val="198C6C"/>
                </a:solidFill>
                <a:latin typeface="Microsoft YaHei"/>
              </a:defRPr>
            </a:pPr>
            <a:r>
              <a:t>只接收 evolved_prompt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78824" y="3938716"/>
            <a:ext cx="3722472" cy="9576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BEC4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1600" rIns="88900" tIns="76200" bIns="50800"/>
          <a:lstStyle/>
          <a:p>
            <a:pPr algn="ctr">
              <a:spcAft>
                <a:spcPts val="200"/>
              </a:spcAft>
              <a:defRPr sz="1098" b="1">
                <a:solidFill>
                  <a:srgbClr val="245EAB"/>
                </a:solidFill>
                <a:latin typeface="Microsoft YaHei"/>
              </a:defRPr>
            </a:pPr>
            <a:r>
              <a:t>来源拆分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defRPr sz="878" b="1">
                <a:solidFill>
                  <a:srgbClr val="222222"/>
                </a:solidFill>
                <a:latin typeface="Microsoft YaHei"/>
              </a:defRPr>
            </a:pPr>
            <a:r>
              <a:t>• 观察事实、题目本身任务、题中隐含规则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defRPr sz="878" b="1">
                <a:solidFill>
                  <a:srgbClr val="222222"/>
                </a:solidFill>
                <a:latin typeface="Microsoft YaHei"/>
              </a:defRPr>
            </a:pPr>
            <a:r>
              <a:t>• 答案方向和推导总结不得进入公开题面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defRPr sz="878" b="1">
                <a:solidFill>
                  <a:srgbClr val="222222"/>
                </a:solidFill>
                <a:latin typeface="Microsoft YaHei"/>
              </a:defRPr>
            </a:pPr>
            <a:r>
              <a:t>• 事实版本记录：事实的编号 / 属于哪个场景 / 信息来源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41108" y="3938716"/>
            <a:ext cx="3707027" cy="9576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BEC4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1600" rIns="88900" tIns="76200" bIns="50800"/>
          <a:lstStyle/>
          <a:p>
            <a:pPr algn="ctr">
              <a:spcAft>
                <a:spcPts val="200"/>
              </a:spcAft>
              <a:defRPr sz="1098" b="1">
                <a:solidFill>
                  <a:srgbClr val="198C6C"/>
                </a:solidFill>
                <a:latin typeface="Microsoft YaHei"/>
              </a:defRPr>
            </a:pPr>
            <a:r>
              <a:t>评分状态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defRPr sz="878" b="1">
                <a:solidFill>
                  <a:srgbClr val="222222"/>
                </a:solidFill>
                <a:latin typeface="Microsoft YaHei"/>
              </a:defRPr>
            </a:pPr>
            <a:r>
              <a:t>• 新题活动评分状态标记为“还没正式评分”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defRPr sz="878" b="1">
                <a:solidFill>
                  <a:srgbClr val="222222"/>
                </a:solidFill>
                <a:latin typeface="Microsoft YaHei"/>
              </a:defRPr>
            </a:pPr>
            <a:r>
              <a:t>• 真实评分前只能说结构有效，不能说是否有效进化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defRPr sz="878" b="1">
                <a:solidFill>
                  <a:srgbClr val="222222"/>
                </a:solidFill>
                <a:latin typeface="Microsoft YaHei"/>
              </a:defRPr>
            </a:pPr>
            <a:r>
              <a:t>• 有效性必须由新评分闭环证明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23567" y="4680121"/>
            <a:ext cx="540608" cy="355256"/>
          </a:xfrm>
          <a:prstGeom prst="roundRect">
            <a:avLst/>
          </a:prstGeom>
          <a:solidFill>
            <a:srgbClr val="333333"/>
          </a:solidFill>
          <a:ln w="9525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  <a:defRPr sz="1707" b="0">
                <a:solidFill>
                  <a:srgbClr val="FFFFFF"/>
                </a:solidFill>
                <a:latin typeface="Microsoft YaHei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2675" y="77229"/>
            <a:ext cx="8495270" cy="30891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  <a:defRPr sz="1732" b="1">
                <a:solidFill>
                  <a:srgbClr val="222222"/>
                </a:solidFill>
                <a:latin typeface="Microsoft YaHei"/>
              </a:defRPr>
            </a:pPr>
            <a:r>
              <a:t>模式决策：先分析，再判断如何进化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121" y="386148"/>
            <a:ext cx="8464378" cy="185351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  <a:defRPr sz="817" b="1">
                <a:solidFill>
                  <a:srgbClr val="666C70"/>
                </a:solidFill>
                <a:latin typeface="Microsoft YaHei"/>
              </a:defRPr>
            </a:pPr>
            <a:r>
              <a:t>模式决策器输入来源分析、样本画像、任务授权和允许模式，输出可审计的 authorization_id（这道题允许这样改，是根据哪些配置或任务授权来的）。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108121" y="586945"/>
            <a:ext cx="8371703" cy="0"/>
          </a:xfrm>
          <a:prstGeom prst="line">
            <a:avLst/>
          </a:prstGeom>
          <a:ln w="16510">
            <a:solidFill>
              <a:srgbClr val="9AA6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123567" y="834081"/>
            <a:ext cx="2100648" cy="417040"/>
          </a:xfrm>
          <a:prstGeom prst="roundRect">
            <a:avLst/>
          </a:prstGeom>
          <a:solidFill>
            <a:srgbClr val="F0F5F8"/>
          </a:solidFill>
          <a:ln w="9525">
            <a:solidFill>
              <a:srgbClr val="D5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" rIns="127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  <a:defRPr sz="976" b="1">
                <a:solidFill>
                  <a:srgbClr val="222222"/>
                </a:solidFill>
                <a:latin typeface="Microsoft YaHei"/>
              </a:defRPr>
            </a:pPr>
            <a:r>
              <a:t>只忠实使用原题来源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94121" y="864972"/>
            <a:ext cx="6178378" cy="40159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222222"/>
                </a:solidFill>
                <a:latin typeface="Microsoft YaHei"/>
              </a:defRPr>
            </a:pPr>
            <a:r>
              <a:t>新题只能基于原题已有事实和规则重组、改问、强调某个推理点，不能凭空补新事实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23567" y="1451918"/>
            <a:ext cx="2100648" cy="417040"/>
          </a:xfrm>
          <a:prstGeom prst="roundRect">
            <a:avLst/>
          </a:prstGeom>
          <a:solidFill>
            <a:srgbClr val="F0F5F8"/>
          </a:solidFill>
          <a:ln w="9525">
            <a:solidFill>
              <a:srgbClr val="D5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" rIns="127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  <a:defRPr sz="976" b="1">
                <a:solidFill>
                  <a:srgbClr val="222222"/>
                </a:solidFill>
                <a:latin typeface="Microsoft YaHei"/>
              </a:defRPr>
            </a:pPr>
            <a:r>
              <a:t>构造一个明确的题内假设案例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94121" y="1482810"/>
            <a:ext cx="6178378" cy="40159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222222"/>
                </a:solidFill>
                <a:latin typeface="Microsoft YaHei"/>
              </a:defRPr>
            </a:pPr>
            <a:r>
              <a:t>如果原题太抽象或事实太少，可以新建一个“本题设定”的小案例，用来考目标能力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23567" y="2069756"/>
            <a:ext cx="2100648" cy="417040"/>
          </a:xfrm>
          <a:prstGeom prst="roundRect">
            <a:avLst/>
          </a:prstGeom>
          <a:solidFill>
            <a:srgbClr val="F0F5F8"/>
          </a:solidFill>
          <a:ln w="9525">
            <a:solidFill>
              <a:srgbClr val="D5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" rIns="127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  <a:defRPr sz="976" b="1">
                <a:solidFill>
                  <a:srgbClr val="222222"/>
                </a:solidFill>
                <a:latin typeface="Microsoft YaHei"/>
              </a:defRPr>
            </a:pPr>
            <a:r>
              <a:t>在原题基础上受控补材料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94121" y="2100648"/>
            <a:ext cx="6178378" cy="54060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222222"/>
                </a:solidFill>
                <a:latin typeface="Microsoft YaHei"/>
              </a:defRPr>
            </a:pPr>
            <a:r>
              <a:t>保留原题核心事实，同时为了形成目标推理结构，补一些题内设定、人物、路径、局部参数、竞争解释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23567" y="2687594"/>
            <a:ext cx="2100648" cy="417040"/>
          </a:xfrm>
          <a:prstGeom prst="roundRect">
            <a:avLst/>
          </a:prstGeom>
          <a:solidFill>
            <a:srgbClr val="F0F5F8"/>
          </a:solidFill>
          <a:ln w="9525">
            <a:solidFill>
              <a:srgbClr val="D5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" rIns="127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  <a:defRPr sz="976" b="1">
                <a:solidFill>
                  <a:srgbClr val="222222"/>
                </a:solidFill>
                <a:latin typeface="Microsoft YaHei"/>
              </a:defRPr>
            </a:pPr>
            <a:r>
              <a:t>从原题改编出假设版本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94121" y="2718486"/>
            <a:ext cx="6178378" cy="54060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222222"/>
                </a:solidFill>
                <a:latin typeface="Microsoft YaHei"/>
              </a:defRPr>
            </a:pPr>
            <a:r>
              <a:t>以原题为基准，改造成一个假设场景。它保留原题的结构或核心关系，但允许替换实体、数值、路径、场景，用来测试同类能力。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3567" y="3305432"/>
            <a:ext cx="2100648" cy="417040"/>
          </a:xfrm>
          <a:prstGeom prst="roundRect">
            <a:avLst/>
          </a:prstGeom>
          <a:solidFill>
            <a:srgbClr val="FFF0B2"/>
          </a:solidFill>
          <a:ln w="9525">
            <a:solidFill>
              <a:srgbClr val="D5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" rIns="127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  <a:defRPr sz="976" b="1">
                <a:solidFill>
                  <a:srgbClr val="9B5A13"/>
                </a:solidFill>
                <a:latin typeface="Microsoft YaHei"/>
              </a:defRPr>
            </a:pPr>
            <a:r>
              <a:t>不安全进化，直接透传原题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94121" y="3336324"/>
            <a:ext cx="6178378" cy="54060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222222"/>
                </a:solidFill>
                <a:latin typeface="Microsoft YaHei"/>
              </a:defRPr>
            </a:pPr>
            <a:r>
              <a:t>当前样本没有安全可用的进化方式，或者生成的新题技术上不可执行，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222222"/>
                </a:solidFill>
                <a:latin typeface="Microsoft YaHei"/>
              </a:defRPr>
            </a:pPr>
            <a:r>
              <a:t>就不强行改题，直接保留原题继续流程或记录原因。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71500" y="4062283"/>
            <a:ext cx="7475837" cy="386148"/>
          </a:xfrm>
          <a:prstGeom prst="roundRect">
            <a:avLst/>
          </a:prstGeom>
          <a:solidFill>
            <a:srgbClr val="CFE6FF"/>
          </a:solidFill>
          <a:ln w="9525">
            <a:solidFill>
              <a:srgbClr val="AFC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" rIns="127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  <a:defRPr sz="988" b="1">
                <a:solidFill>
                  <a:srgbClr val="245EAB"/>
                </a:solidFill>
                <a:latin typeface="Microsoft YaHei"/>
              </a:defRPr>
            </a:pPr>
            <a:r>
              <a:t>原则：授权限制真实外部事实与真实规则伪造，不禁止明确标注的题内假设构造。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3567" y="4680121"/>
            <a:ext cx="540608" cy="355256"/>
          </a:xfrm>
          <a:prstGeom prst="roundRect">
            <a:avLst/>
          </a:prstGeom>
          <a:solidFill>
            <a:srgbClr val="333333"/>
          </a:solidFill>
          <a:ln w="9525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  <a:defRPr sz="1707" b="0">
                <a:solidFill>
                  <a:srgbClr val="FFFFFF"/>
                </a:solidFill>
                <a:latin typeface="Microsoft YaHei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2675" y="77229"/>
            <a:ext cx="8495270" cy="30891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  <a:defRPr sz="1732" b="1">
                <a:solidFill>
                  <a:srgbClr val="222222"/>
                </a:solidFill>
                <a:latin typeface="Microsoft YaHei"/>
              </a:defRPr>
            </a:pPr>
            <a:r>
              <a:t>模式感知路由：关键词只召回候选，不携带风格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121" y="386148"/>
            <a:ext cx="8464378" cy="185351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  <a:defRPr sz="817" b="1">
                <a:solidFill>
                  <a:srgbClr val="666C70"/>
                </a:solidFill>
                <a:latin typeface="Microsoft YaHei"/>
              </a:defRPr>
            </a:pPr>
            <a:r>
              <a:t>路由进入命题链路后只做排序，按授权范围和经验决定当前候选。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108121" y="586945"/>
            <a:ext cx="8371703" cy="0"/>
          </a:xfrm>
          <a:prstGeom prst="line">
            <a:avLst/>
          </a:prstGeom>
          <a:ln w="16510">
            <a:solidFill>
              <a:srgbClr val="9AA6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1065770" y="741405"/>
            <a:ext cx="1127554" cy="463378"/>
          </a:xfrm>
          <a:prstGeom prst="roundRect">
            <a:avLst/>
          </a:prstGeom>
          <a:solidFill>
            <a:srgbClr val="CFE6FF"/>
          </a:solidFill>
          <a:ln w="9525">
            <a:solidFill>
              <a:srgbClr val="C3CE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" rIns="127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  <a:defRPr sz="890" b="1">
                <a:solidFill>
                  <a:srgbClr val="222222"/>
                </a:solidFill>
                <a:latin typeface="Microsoft YaHei"/>
              </a:defRPr>
            </a:pPr>
            <a:r>
              <a:t>任务授权信息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7648" y="1266567"/>
            <a:ext cx="1343797" cy="38614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  <a:defRPr sz="829" b="1">
                <a:solidFill>
                  <a:srgbClr val="222222"/>
                </a:solidFill>
                <a:latin typeface="Microsoft YaHei"/>
              </a:defRPr>
            </a:pPr>
            <a:r>
              <a:t>任务允许什么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425013" y="741405"/>
            <a:ext cx="1189337" cy="463378"/>
          </a:xfrm>
          <a:prstGeom prst="roundRect">
            <a:avLst/>
          </a:prstGeom>
          <a:solidFill>
            <a:srgbClr val="CFE6FF"/>
          </a:solidFill>
          <a:ln w="9525">
            <a:solidFill>
              <a:srgbClr val="C3CE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" rIns="127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  <a:defRPr sz="890" b="1">
                <a:solidFill>
                  <a:srgbClr val="222222"/>
                </a:solidFill>
                <a:latin typeface="Microsoft YaHei"/>
              </a:defRPr>
            </a:pPr>
            <a:r>
              <a:t>原化模式摘要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16891" y="1266567"/>
            <a:ext cx="1405581" cy="38614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  <a:defRPr sz="829" b="1">
                <a:solidFill>
                  <a:srgbClr val="222222"/>
                </a:solidFill>
                <a:latin typeface="Microsoft YaHei"/>
              </a:defRPr>
            </a:pPr>
            <a:r>
              <a:t>适用模式要素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829" b="1">
                <a:solidFill>
                  <a:srgbClr val="222222"/>
                </a:solidFill>
                <a:latin typeface="Microsoft YaHei"/>
              </a:defRPr>
            </a:pPr>
            <a:r>
              <a:t>支持哪些算子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784256" y="741405"/>
            <a:ext cx="1158445" cy="463378"/>
          </a:xfrm>
          <a:prstGeom prst="roundRect">
            <a:avLst/>
          </a:prstGeom>
          <a:solidFill>
            <a:srgbClr val="CFE6FF"/>
          </a:solidFill>
          <a:ln w="9525">
            <a:solidFill>
              <a:srgbClr val="C3CE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" rIns="127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  <a:defRPr sz="890" b="1">
                <a:solidFill>
                  <a:srgbClr val="222222"/>
                </a:solidFill>
                <a:latin typeface="Microsoft YaHei"/>
              </a:defRPr>
            </a:pPr>
            <a:r>
              <a:t>重点槽位检查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76135" y="1266567"/>
            <a:ext cx="1374689" cy="38614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  <a:defRPr sz="829" b="1">
                <a:solidFill>
                  <a:srgbClr val="222222"/>
                </a:solidFill>
                <a:latin typeface="Microsoft YaHei"/>
              </a:defRPr>
            </a:pPr>
            <a:r>
              <a:t>需要的材料是否满足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112608" y="741405"/>
            <a:ext cx="1081216" cy="463378"/>
          </a:xfrm>
          <a:prstGeom prst="roundRect">
            <a:avLst/>
          </a:prstGeom>
          <a:solidFill>
            <a:srgbClr val="CFE6FF"/>
          </a:solidFill>
          <a:ln w="9525">
            <a:solidFill>
              <a:srgbClr val="C3CE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" rIns="127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  <a:defRPr sz="890" b="1">
                <a:solidFill>
                  <a:srgbClr val="222222"/>
                </a:solidFill>
                <a:latin typeface="Microsoft YaHei"/>
              </a:defRPr>
            </a:pPr>
            <a:r>
              <a:t>推理连环筛选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04486" y="1266567"/>
            <a:ext cx="1297459" cy="38614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  <a:defRPr sz="829" b="1">
                <a:solidFill>
                  <a:srgbClr val="222222"/>
                </a:solidFill>
                <a:latin typeface="Microsoft YaHei"/>
              </a:defRPr>
            </a:pPr>
            <a:r>
              <a:t>选择最小开放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94621" y="741405"/>
            <a:ext cx="880418" cy="463378"/>
          </a:xfrm>
          <a:prstGeom prst="roundRect">
            <a:avLst/>
          </a:prstGeom>
          <a:solidFill>
            <a:srgbClr val="CFE6FF"/>
          </a:solidFill>
          <a:ln w="9525">
            <a:solidFill>
              <a:srgbClr val="C3CE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" rIns="127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  <a:defRPr sz="890" b="1">
                <a:solidFill>
                  <a:srgbClr val="222222"/>
                </a:solidFill>
                <a:latin typeface="Microsoft YaHei"/>
              </a:defRPr>
            </a:pPr>
            <a:r>
              <a:t>经验偏好序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86500" y="1266567"/>
            <a:ext cx="1096662" cy="38614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  <a:defRPr sz="829" b="1">
                <a:solidFill>
                  <a:srgbClr val="222222"/>
                </a:solidFill>
                <a:latin typeface="Microsoft YaHei"/>
              </a:defRPr>
            </a:pPr>
            <a:r>
              <a:t>参考历史经验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675" y="1776283"/>
            <a:ext cx="8572500" cy="33981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  <a:defRPr sz="1598" b="1">
                <a:solidFill>
                  <a:srgbClr val="222222"/>
                </a:solidFill>
                <a:latin typeface="Microsoft YaHei"/>
              </a:defRPr>
            </a:pPr>
            <a:r>
              <a:t>隐藏规划与盲写题面：上下文隔离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8121" y="2069756"/>
            <a:ext cx="8572500" cy="185351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  <a:defRPr sz="793" b="1">
                <a:solidFill>
                  <a:srgbClr val="666C70"/>
                </a:solidFill>
                <a:latin typeface="Microsoft YaHei"/>
              </a:defRPr>
            </a:pPr>
            <a:r>
              <a:t>同一次模型调用不应既暴露策略规划又要求盲写公开题面，必须分出全量规划与公开事实投影。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08121" y="2239662"/>
            <a:ext cx="8371703" cy="0"/>
          </a:xfrm>
          <a:prstGeom prst="line">
            <a:avLst/>
          </a:prstGeom>
          <a:ln w="15240">
            <a:solidFill>
              <a:srgbClr val="9AA6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108121" y="2363229"/>
            <a:ext cx="3521675" cy="1946189"/>
          </a:xfrm>
          <a:prstGeom prst="roundRect">
            <a:avLst/>
          </a:prstGeom>
          <a:solidFill>
            <a:srgbClr val="CFE6FF"/>
          </a:solidFill>
          <a:ln w="9525">
            <a:solidFill>
              <a:srgbClr val="B6C8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spcBef>
                <a:spcPts val="0"/>
              </a:spcBef>
              <a:spcAft>
                <a:spcPts val="0"/>
              </a:spcAft>
              <a:defRPr sz="1049" b="1">
                <a:solidFill>
                  <a:srgbClr val="245EAB"/>
                </a:solidFill>
                <a:latin typeface="Microsoft YaHei"/>
              </a:defRPr>
            </a:pPr>
            <a:r>
              <a:t>问题规划器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049" b="1">
                <a:solidFill>
                  <a:srgbClr val="245EAB"/>
                </a:solidFill>
                <a:latin typeface="Microsoft YaHei"/>
              </a:defRPr>
            </a:pPr>
          </a:p>
          <a:p>
            <a:pPr algn="ctr">
              <a:spcBef>
                <a:spcPts val="0"/>
              </a:spcBef>
              <a:spcAft>
                <a:spcPts val="0"/>
              </a:spcAft>
              <a:defRPr sz="1049" b="1">
                <a:solidFill>
                  <a:srgbClr val="245EAB"/>
                </a:solidFill>
                <a:latin typeface="Microsoft YaHei"/>
              </a:defRPr>
            </a:pPr>
            <a:r>
              <a:t>事实内容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049" b="1">
                <a:solidFill>
                  <a:srgbClr val="245EAB"/>
                </a:solidFill>
                <a:latin typeface="Microsoft YaHei"/>
              </a:defRPr>
            </a:pPr>
            <a:r>
              <a:t>命题意图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049" b="1">
                <a:solidFill>
                  <a:srgbClr val="245EAB"/>
                </a:solidFill>
                <a:latin typeface="Microsoft YaHei"/>
              </a:defRPr>
            </a:pPr>
            <a:r>
              <a:t>证据覆盖顺序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049" b="1">
                <a:solidFill>
                  <a:srgbClr val="245EAB"/>
                </a:solidFill>
                <a:latin typeface="Microsoft YaHei"/>
              </a:defRPr>
            </a:pPr>
            <a:r>
              <a:t>推理结构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049" b="1">
                <a:solidFill>
                  <a:srgbClr val="245EAB"/>
                </a:solidFill>
                <a:latin typeface="Microsoft YaHei"/>
              </a:defRPr>
            </a:pPr>
            <a:r>
              <a:t>控制计划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049" b="1">
                <a:solidFill>
                  <a:srgbClr val="245EAB"/>
                </a:solidFill>
                <a:latin typeface="Microsoft YaHei"/>
              </a:defRPr>
            </a:pPr>
            <a:r>
              <a:t>预测弱模型错误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3676135" y="3351770"/>
            <a:ext cx="216243" cy="0"/>
          </a:xfrm>
          <a:prstGeom prst="line">
            <a:avLst/>
          </a:prstGeom>
          <a:ln w="12700">
            <a:solidFill>
              <a:srgbClr val="245EAB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3923270" y="3058297"/>
            <a:ext cx="1235675" cy="586945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6CB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" rIns="127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  <a:defRPr sz="976" b="1">
                <a:solidFill>
                  <a:srgbClr val="222222"/>
                </a:solidFill>
                <a:latin typeface="Microsoft YaHei"/>
              </a:defRPr>
            </a:pPr>
            <a:r>
              <a:t>公开事实投影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84256" y="3722472"/>
            <a:ext cx="1575486" cy="46337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  <a:defRPr sz="793" b="1">
                <a:solidFill>
                  <a:srgbClr val="222222"/>
                </a:solidFill>
                <a:latin typeface="Microsoft YaHei"/>
              </a:defRPr>
            </a:pPr>
            <a:r>
              <a:t>把隐含规划器里的材料和过滤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793" b="1">
                <a:solidFill>
                  <a:srgbClr val="222222"/>
                </a:solidFill>
                <a:latin typeface="Microsoft YaHei"/>
              </a:defRPr>
            </a:pPr>
            <a:r>
              <a:t>一遍，只留下会题可见信息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236175" y="3351770"/>
            <a:ext cx="231689" cy="0"/>
          </a:xfrm>
          <a:prstGeom prst="line">
            <a:avLst/>
          </a:prstGeom>
          <a:ln w="12700">
            <a:solidFill>
              <a:srgbClr val="198C6C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5514202" y="2363229"/>
            <a:ext cx="3521675" cy="1946189"/>
          </a:xfrm>
          <a:prstGeom prst="roundRect">
            <a:avLst/>
          </a:prstGeom>
          <a:solidFill>
            <a:srgbClr val="CCF5DC"/>
          </a:solidFill>
          <a:ln w="9525">
            <a:solidFill>
              <a:srgbClr val="B4CD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spcBef>
                <a:spcPts val="0"/>
              </a:spcBef>
              <a:spcAft>
                <a:spcPts val="0"/>
              </a:spcAft>
              <a:defRPr sz="1012" b="1">
                <a:solidFill>
                  <a:srgbClr val="198C6C"/>
                </a:solidFill>
                <a:latin typeface="Microsoft YaHei"/>
              </a:defRPr>
            </a:pPr>
            <a:r>
              <a:t>基础题写器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012" b="1">
                <a:solidFill>
                  <a:srgbClr val="198C6C"/>
                </a:solidFill>
                <a:latin typeface="Microsoft YaHei"/>
              </a:defRPr>
            </a:pPr>
          </a:p>
          <a:p>
            <a:pPr algn="ctr">
              <a:spcBef>
                <a:spcPts val="0"/>
              </a:spcBef>
              <a:spcAft>
                <a:spcPts val="0"/>
              </a:spcAft>
              <a:defRPr sz="1012" b="1">
                <a:solidFill>
                  <a:srgbClr val="198C6C"/>
                </a:solidFill>
                <a:latin typeface="Microsoft YaHei"/>
              </a:defRPr>
            </a:pPr>
            <a:r>
              <a:t>只接收公开事实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012" b="1">
                <a:solidFill>
                  <a:srgbClr val="198C6C"/>
                </a:solidFill>
                <a:latin typeface="Microsoft YaHei"/>
              </a:defRPr>
            </a:pPr>
            <a:r>
              <a:t>只写清洁题面题意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012" b="1">
                <a:solidFill>
                  <a:srgbClr val="198C6C"/>
                </a:solidFill>
                <a:latin typeface="Microsoft YaHei"/>
              </a:defRPr>
            </a:pPr>
            <a:r>
              <a:t>记录这道题用了哪些公开事实编号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012" b="1">
                <a:solidFill>
                  <a:srgbClr val="198C6C"/>
                </a:solidFill>
                <a:latin typeface="Microsoft YaHei"/>
              </a:defRPr>
            </a:pPr>
            <a:r>
              <a:t>只说明题面组织方式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012" b="1">
                <a:solidFill>
                  <a:srgbClr val="198C6C"/>
                </a:solidFill>
                <a:latin typeface="Microsoft YaHei"/>
              </a:defRPr>
            </a:pPr>
            <a:r>
              <a:t>不解释答案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8635" y="4587445"/>
            <a:ext cx="7537621" cy="339810"/>
          </a:xfrm>
          <a:prstGeom prst="roundRect">
            <a:avLst/>
          </a:prstGeom>
          <a:solidFill>
            <a:srgbClr val="FEDCDD"/>
          </a:solidFill>
          <a:ln w="9525">
            <a:solidFill>
              <a:srgbClr val="E3BD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" rIns="127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  <a:defRPr sz="817" b="1">
                <a:solidFill>
                  <a:srgbClr val="A92929"/>
                </a:solidFill>
                <a:latin typeface="Microsoft YaHei"/>
              </a:defRPr>
            </a:pPr>
            <a:r>
              <a:t>禁止跨界互动：标准答案/答案推理过程不得影响已明确的目标假设；先生成事实盘点，再让 rubric 评分器重建题面。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23567" y="4680121"/>
            <a:ext cx="540608" cy="355256"/>
          </a:xfrm>
          <a:prstGeom prst="roundRect">
            <a:avLst/>
          </a:prstGeom>
          <a:solidFill>
            <a:srgbClr val="333333"/>
          </a:solidFill>
          <a:ln w="9525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  <a:defRPr sz="1707" b="0">
                <a:solidFill>
                  <a:srgbClr val="FFFFFF"/>
                </a:solidFill>
                <a:latin typeface="Microsoft YaHei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2675" y="77229"/>
            <a:ext cx="8495270" cy="30891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  <a:defRPr sz="1732" b="1">
                <a:solidFill>
                  <a:srgbClr val="222222"/>
                </a:solidFill>
                <a:latin typeface="Microsoft YaHei"/>
              </a:defRPr>
            </a:pPr>
            <a:r>
              <a:t>校验与分流：记录诊断，优先修复，保留探索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121" y="386148"/>
            <a:ext cx="8464378" cy="185351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  <a:defRPr sz="817" b="1">
                <a:solidFill>
                  <a:srgbClr val="666C70"/>
                </a:solidFill>
                <a:latin typeface="Microsoft YaHei"/>
              </a:defRPr>
            </a:pPr>
            <a:r>
              <a:t>新校验器按 L0-L6 分层输出风险标签，重点用作建议和分流。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108121" y="586945"/>
            <a:ext cx="8371703" cy="0"/>
          </a:xfrm>
          <a:prstGeom prst="line">
            <a:avLst/>
          </a:prstGeom>
          <a:ln w="16510">
            <a:solidFill>
              <a:srgbClr val="9AA6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818635" y="880418"/>
            <a:ext cx="525162" cy="308918"/>
          </a:xfrm>
          <a:prstGeom prst="roundRect">
            <a:avLst/>
          </a:prstGeom>
          <a:solidFill>
            <a:srgbClr val="CFE6FF"/>
          </a:solidFill>
          <a:ln w="9525">
            <a:solidFill>
              <a:srgbClr val="B6C7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  <a:defRPr sz="915" b="1">
                <a:solidFill>
                  <a:srgbClr val="245EAB"/>
                </a:solidFill>
                <a:latin typeface="Microsoft YaHei"/>
              </a:defRPr>
            </a:pPr>
            <a:r>
              <a:t>L0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98256" y="895864"/>
            <a:ext cx="2857500" cy="30891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222222"/>
                </a:solidFill>
                <a:latin typeface="Microsoft YaHei"/>
              </a:defRPr>
            </a:pPr>
            <a:r>
              <a:t>身份、Schema、旧评分状态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8635" y="1312905"/>
            <a:ext cx="525162" cy="308918"/>
          </a:xfrm>
          <a:prstGeom prst="roundRect">
            <a:avLst/>
          </a:prstGeom>
          <a:solidFill>
            <a:srgbClr val="CFE6FF"/>
          </a:solidFill>
          <a:ln w="9525">
            <a:solidFill>
              <a:srgbClr val="B6C7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  <a:defRPr sz="915" b="1">
                <a:solidFill>
                  <a:srgbClr val="245EAB"/>
                </a:solidFill>
                <a:latin typeface="Microsoft YaHei"/>
              </a:defRPr>
            </a:pPr>
            <a:r>
              <a:t>L1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98256" y="1328351"/>
            <a:ext cx="2857500" cy="30891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222222"/>
                </a:solidFill>
                <a:latin typeface="Microsoft YaHei"/>
              </a:defRPr>
            </a:pPr>
            <a:r>
              <a:t>事实来源、规则有效性、场景一致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8635" y="1745391"/>
            <a:ext cx="525162" cy="308918"/>
          </a:xfrm>
          <a:prstGeom prst="roundRect">
            <a:avLst/>
          </a:prstGeom>
          <a:solidFill>
            <a:srgbClr val="CFE6FF"/>
          </a:solidFill>
          <a:ln w="9525">
            <a:solidFill>
              <a:srgbClr val="B6C7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  <a:defRPr sz="915" b="1">
                <a:solidFill>
                  <a:srgbClr val="245EAB"/>
                </a:solidFill>
                <a:latin typeface="Microsoft YaHei"/>
              </a:defRPr>
            </a:pPr>
            <a:r>
              <a:t>L2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98256" y="1760837"/>
            <a:ext cx="2857500" cy="30891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222222"/>
                </a:solidFill>
                <a:latin typeface="Microsoft YaHei"/>
              </a:defRPr>
            </a:pPr>
            <a:r>
              <a:t>可答性、事实冲突、题外知识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8635" y="2177878"/>
            <a:ext cx="525162" cy="308918"/>
          </a:xfrm>
          <a:prstGeom prst="roundRect">
            <a:avLst/>
          </a:prstGeom>
          <a:solidFill>
            <a:srgbClr val="CFE6FF"/>
          </a:solidFill>
          <a:ln w="9525">
            <a:solidFill>
              <a:srgbClr val="B6C7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  <a:defRPr sz="915" b="1">
                <a:solidFill>
                  <a:srgbClr val="245EAB"/>
                </a:solidFill>
                <a:latin typeface="Microsoft YaHei"/>
              </a:defRPr>
            </a:pPr>
            <a:r>
              <a:t>L3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98256" y="2193324"/>
            <a:ext cx="2857500" cy="30891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222222"/>
                </a:solidFill>
                <a:latin typeface="Microsoft YaHei"/>
              </a:defRPr>
            </a:pPr>
            <a:r>
              <a:t>答案泄漏、单句直达答案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8635" y="2610364"/>
            <a:ext cx="525162" cy="308918"/>
          </a:xfrm>
          <a:prstGeom prst="roundRect">
            <a:avLst/>
          </a:prstGeom>
          <a:solidFill>
            <a:srgbClr val="CFE6FF"/>
          </a:solidFill>
          <a:ln w="9525">
            <a:solidFill>
              <a:srgbClr val="B6C7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  <a:defRPr sz="915" b="1">
                <a:solidFill>
                  <a:srgbClr val="245EAB"/>
                </a:solidFill>
                <a:latin typeface="Microsoft YaHei"/>
              </a:defRPr>
            </a:pPr>
            <a:r>
              <a:t>L4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98256" y="2625810"/>
            <a:ext cx="2857500" cy="30891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222222"/>
                </a:solidFill>
                <a:latin typeface="Microsoft YaHei"/>
              </a:defRPr>
            </a:pPr>
            <a:r>
              <a:t>复杂度、竞争存活、信息量平衡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8635" y="3042851"/>
            <a:ext cx="525162" cy="308918"/>
          </a:xfrm>
          <a:prstGeom prst="roundRect">
            <a:avLst/>
          </a:prstGeom>
          <a:solidFill>
            <a:srgbClr val="CFE6FF"/>
          </a:solidFill>
          <a:ln w="9525">
            <a:solidFill>
              <a:srgbClr val="B6C7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  <a:defRPr sz="915" b="1">
                <a:solidFill>
                  <a:srgbClr val="245EAB"/>
                </a:solidFill>
                <a:latin typeface="Microsoft YaHei"/>
              </a:defRPr>
            </a:pPr>
            <a:r>
              <a:t>L5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98256" y="3058297"/>
            <a:ext cx="2857500" cy="30891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222222"/>
                </a:solidFill>
                <a:latin typeface="Microsoft YaHei"/>
              </a:defRPr>
            </a:pPr>
            <a:r>
              <a:t>消歧、名称交换、顺序交换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8635" y="3475337"/>
            <a:ext cx="525162" cy="308918"/>
          </a:xfrm>
          <a:prstGeom prst="roundRect">
            <a:avLst/>
          </a:prstGeom>
          <a:solidFill>
            <a:srgbClr val="CFE6FF"/>
          </a:solidFill>
          <a:ln w="9525">
            <a:solidFill>
              <a:srgbClr val="B6C7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  <a:defRPr sz="915" b="1">
                <a:solidFill>
                  <a:srgbClr val="245EAB"/>
                </a:solidFill>
                <a:latin typeface="Microsoft YaHei"/>
              </a:defRPr>
            </a:pPr>
            <a:r>
              <a:t>L6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98256" y="3490783"/>
            <a:ext cx="2857500" cy="30891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222222"/>
                </a:solidFill>
                <a:latin typeface="Microsoft YaHei"/>
              </a:defRPr>
            </a:pPr>
            <a:r>
              <a:t>预测结构收益</a:t>
            </a:r>
          </a:p>
        </p:txBody>
      </p:sp>
      <p:sp>
        <p:nvSpPr>
          <p:cNvPr id="19" name="Freeform 18"/>
          <p:cNvSpPr/>
          <p:nvPr/>
        </p:nvSpPr>
        <p:spPr>
          <a:xfrm>
            <a:off x="4216743" y="880418"/>
            <a:ext cx="308919" cy="2780271"/>
          </a:xfrm>
          <a:custGeom>
            <a:avLst/>
            <a:gdLst/>
            <a:ahLst/>
            <a:cxnLst/>
            <a:rect l="l" t="t" r="r" b="b"/>
            <a:pathLst>
              <a:path w="308919" h="2780271">
                <a:moveTo>
                  <a:pt x="0" y="0"/>
                </a:moveTo>
                <a:lnTo>
                  <a:pt x="139013" y="0"/>
                </a:lnTo>
                <a:lnTo>
                  <a:pt x="139013" y="1328352"/>
                </a:lnTo>
                <a:lnTo>
                  <a:pt x="308919" y="1405582"/>
                </a:lnTo>
                <a:lnTo>
                  <a:pt x="139013" y="1482811"/>
                </a:lnTo>
                <a:lnTo>
                  <a:pt x="139013" y="2780271"/>
                </a:lnTo>
                <a:lnTo>
                  <a:pt x="0" y="2780271"/>
                </a:lnTo>
              </a:path>
            </a:pathLst>
          </a:custGeom>
          <a:noFill/>
          <a:ln w="190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205283" y="1065770"/>
            <a:ext cx="1946189" cy="355256"/>
          </a:xfrm>
          <a:prstGeom prst="roundRect">
            <a:avLst/>
          </a:prstGeom>
          <a:solidFill>
            <a:srgbClr val="F0F5F8"/>
          </a:solidFill>
          <a:ln w="9525">
            <a:solidFill>
              <a:srgbClr val="CF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" rIns="127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  <a:defRPr sz="927" b="1">
                <a:solidFill>
                  <a:srgbClr val="666C70"/>
                </a:solidFill>
                <a:latin typeface="Microsoft YaHei"/>
              </a:defRPr>
            </a:pPr>
            <a:r>
              <a:t>只记录风险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205283" y="1606378"/>
            <a:ext cx="1946189" cy="355256"/>
          </a:xfrm>
          <a:prstGeom prst="roundRect">
            <a:avLst/>
          </a:prstGeom>
          <a:solidFill>
            <a:srgbClr val="F0F5F8"/>
          </a:solidFill>
          <a:ln w="9525">
            <a:solidFill>
              <a:srgbClr val="CF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" rIns="127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  <a:defRPr sz="927" b="1">
                <a:solidFill>
                  <a:srgbClr val="666C70"/>
                </a:solidFill>
                <a:latin typeface="Microsoft YaHei"/>
              </a:defRPr>
            </a:pPr>
            <a:r>
              <a:t>同算子定向重试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205283" y="2146986"/>
            <a:ext cx="1946189" cy="355256"/>
          </a:xfrm>
          <a:prstGeom prst="roundRect">
            <a:avLst/>
          </a:prstGeom>
          <a:solidFill>
            <a:srgbClr val="F0F5F8"/>
          </a:solidFill>
          <a:ln w="9525">
            <a:solidFill>
              <a:srgbClr val="CF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" rIns="127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  <a:defRPr sz="927" b="1">
                <a:solidFill>
                  <a:srgbClr val="666C70"/>
                </a:solidFill>
                <a:latin typeface="Microsoft YaHei"/>
              </a:defRPr>
            </a:pPr>
            <a:r>
              <a:t>进入预算探索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205283" y="2687594"/>
            <a:ext cx="1946189" cy="355256"/>
          </a:xfrm>
          <a:prstGeom prst="roundRect">
            <a:avLst/>
          </a:prstGeom>
          <a:solidFill>
            <a:srgbClr val="F0F5F8"/>
          </a:solidFill>
          <a:ln w="9525">
            <a:solidFill>
              <a:srgbClr val="CF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" rIns="127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  <a:defRPr sz="927" b="1">
                <a:solidFill>
                  <a:srgbClr val="666C70"/>
                </a:solidFill>
                <a:latin typeface="Microsoft YaHei"/>
              </a:defRPr>
            </a:pPr>
            <a:r>
              <a:t>人工复核队列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205283" y="3228202"/>
            <a:ext cx="1946189" cy="355256"/>
          </a:xfrm>
          <a:prstGeom prst="roundRect">
            <a:avLst/>
          </a:prstGeom>
          <a:solidFill>
            <a:srgbClr val="F0F5F8"/>
          </a:solidFill>
          <a:ln w="9525">
            <a:solidFill>
              <a:srgbClr val="CF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" rIns="127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  <a:defRPr sz="927" b="1">
                <a:solidFill>
                  <a:srgbClr val="666C70"/>
                </a:solidFill>
                <a:latin typeface="Microsoft YaHei"/>
              </a:defRPr>
            </a:pPr>
            <a:r>
              <a:t>透传候选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62581" y="4247635"/>
            <a:ext cx="7722972" cy="370702"/>
          </a:xfrm>
          <a:prstGeom prst="roundRect">
            <a:avLst/>
          </a:prstGeom>
          <a:solidFill>
            <a:srgbClr val="FFF0B2"/>
          </a:solidFill>
          <a:ln w="9525">
            <a:solidFill>
              <a:srgbClr val="E1CF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" rIns="127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  <a:defRPr sz="963" b="1">
                <a:solidFill>
                  <a:srgbClr val="9B5A13"/>
                </a:solidFill>
                <a:latin typeface="Microsoft YaHei"/>
              </a:defRPr>
            </a:pPr>
            <a:r>
              <a:t>只有 JSON 无法解析、必填字段缺失、题目为空等技术不可执行问题，才停止候选下游。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23567" y="4680121"/>
            <a:ext cx="540608" cy="355256"/>
          </a:xfrm>
          <a:prstGeom prst="roundRect">
            <a:avLst/>
          </a:prstGeom>
          <a:solidFill>
            <a:srgbClr val="333333"/>
          </a:solidFill>
          <a:ln w="9525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  <a:defRPr sz="1707" b="0">
                <a:solidFill>
                  <a:srgbClr val="FFFFFF"/>
                </a:solidFill>
                <a:latin typeface="Microsoft YaHei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2675" y="77229"/>
            <a:ext cx="8495270" cy="30891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  <a:defRPr sz="1732" b="1">
                <a:solidFill>
                  <a:srgbClr val="222222"/>
                </a:solidFill>
                <a:latin typeface="Microsoft YaHei"/>
              </a:defRPr>
            </a:pPr>
            <a:r>
              <a:t>评分闭环：新题必须用新答案和新 Rubric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121" y="386148"/>
            <a:ext cx="8464378" cy="185351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  <a:defRPr sz="817" b="1">
                <a:solidFill>
                  <a:srgbClr val="666C70"/>
                </a:solidFill>
                <a:latin typeface="Microsoft YaHei"/>
              </a:defRPr>
            </a:pPr>
            <a:r>
              <a:t>旧评分材料只可审计，不得作为新评分依据；版本不一致必须停止。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108121" y="586945"/>
            <a:ext cx="8371703" cy="0"/>
          </a:xfrm>
          <a:prstGeom prst="line">
            <a:avLst/>
          </a:prstGeom>
          <a:ln w="16510">
            <a:solidFill>
              <a:srgbClr val="9AA6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494270" y="787743"/>
            <a:ext cx="1467364" cy="355256"/>
          </a:xfrm>
          <a:prstGeom prst="roundRect">
            <a:avLst/>
          </a:prstGeom>
          <a:solidFill>
            <a:srgbClr val="CCF5DC"/>
          </a:solidFill>
          <a:ln w="9525">
            <a:solidFill>
              <a:srgbClr val="B2D2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" rIns="127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  <a:defRPr sz="939" b="1">
                <a:solidFill>
                  <a:srgbClr val="222222"/>
                </a:solidFill>
                <a:latin typeface="Microsoft YaHei"/>
              </a:defRPr>
            </a:pPr>
            <a:r>
              <a:t>候选题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023418" y="973094"/>
            <a:ext cx="169906" cy="0"/>
          </a:xfrm>
          <a:prstGeom prst="line">
            <a:avLst/>
          </a:prstGeom>
          <a:ln w="12700">
            <a:solidFill>
              <a:srgbClr val="198C6C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2270554" y="787743"/>
            <a:ext cx="1421027" cy="355256"/>
          </a:xfrm>
          <a:prstGeom prst="roundRect">
            <a:avLst/>
          </a:prstGeom>
          <a:solidFill>
            <a:srgbClr val="CCF5DC"/>
          </a:solidFill>
          <a:ln w="9525">
            <a:solidFill>
              <a:srgbClr val="B2D2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" rIns="127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  <a:defRPr sz="939" b="1">
                <a:solidFill>
                  <a:srgbClr val="222222"/>
                </a:solidFill>
                <a:latin typeface="Microsoft YaHei"/>
              </a:defRPr>
            </a:pPr>
            <a:r>
              <a:t>重建参考答案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753364" y="973094"/>
            <a:ext cx="185352" cy="0"/>
          </a:xfrm>
          <a:prstGeom prst="line">
            <a:avLst/>
          </a:prstGeom>
          <a:ln w="12700">
            <a:solidFill>
              <a:srgbClr val="198C6C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4015945" y="787743"/>
            <a:ext cx="1096662" cy="355256"/>
          </a:xfrm>
          <a:prstGeom prst="roundRect">
            <a:avLst/>
          </a:prstGeom>
          <a:solidFill>
            <a:srgbClr val="CCF5DC"/>
          </a:solidFill>
          <a:ln w="9525">
            <a:solidFill>
              <a:srgbClr val="B2D2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" rIns="127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  <a:defRPr sz="939" b="1">
                <a:solidFill>
                  <a:srgbClr val="222222"/>
                </a:solidFill>
                <a:latin typeface="Microsoft YaHei"/>
              </a:defRPr>
            </a:pPr>
            <a:r>
              <a:t>生成新 rubric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174391" y="973094"/>
            <a:ext cx="185352" cy="0"/>
          </a:xfrm>
          <a:prstGeom prst="line">
            <a:avLst/>
          </a:prstGeom>
          <a:ln w="12700">
            <a:solidFill>
              <a:srgbClr val="198C6C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436972" y="787743"/>
            <a:ext cx="1204783" cy="355256"/>
          </a:xfrm>
          <a:prstGeom prst="roundRect">
            <a:avLst/>
          </a:prstGeom>
          <a:solidFill>
            <a:srgbClr val="CCF5DC"/>
          </a:solidFill>
          <a:ln w="9525">
            <a:solidFill>
              <a:srgbClr val="B2D2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" rIns="127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  <a:defRPr sz="939" b="1">
                <a:solidFill>
                  <a:srgbClr val="222222"/>
                </a:solidFill>
                <a:latin typeface="Microsoft YaHei"/>
              </a:defRPr>
            </a:pPr>
            <a:r>
              <a:t>重新回答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703540" y="973094"/>
            <a:ext cx="185351" cy="0"/>
          </a:xfrm>
          <a:prstGeom prst="line">
            <a:avLst/>
          </a:prstGeom>
          <a:ln w="12700">
            <a:solidFill>
              <a:srgbClr val="198C6C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966121" y="787743"/>
            <a:ext cx="1143000" cy="355256"/>
          </a:xfrm>
          <a:prstGeom prst="roundRect">
            <a:avLst/>
          </a:prstGeom>
          <a:solidFill>
            <a:srgbClr val="CCF5DC"/>
          </a:solidFill>
          <a:ln w="9525">
            <a:solidFill>
              <a:srgbClr val="B2D2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" rIns="127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  <a:defRPr sz="939" b="1">
                <a:solidFill>
                  <a:srgbClr val="222222"/>
                </a:solidFill>
                <a:latin typeface="Microsoft YaHei"/>
              </a:defRPr>
            </a:pPr>
            <a:r>
              <a:t>Judge打分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94270" y="1220229"/>
            <a:ext cx="2332337" cy="97309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BEC4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1600" rIns="88900" tIns="76200" bIns="50800"/>
          <a:lstStyle/>
          <a:p>
            <a:pPr algn="ctr">
              <a:spcAft>
                <a:spcPts val="200"/>
              </a:spcAft>
              <a:defRPr sz="1098" b="1">
                <a:solidFill>
                  <a:srgbClr val="198C6C"/>
                </a:solidFill>
                <a:latin typeface="Microsoft YaHei"/>
              </a:defRPr>
            </a:pPr>
            <a:r>
              <a:t>重建原则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defRPr sz="939" b="1">
                <a:solidFill>
                  <a:srgbClr val="222222"/>
                </a:solidFill>
                <a:latin typeface="Microsoft YaHei"/>
              </a:defRPr>
            </a:pPr>
            <a:r>
              <a:t>• 参考答案只引用公开事实和有效规则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defRPr sz="939" b="1">
                <a:solidFill>
                  <a:srgbClr val="222222"/>
                </a:solidFill>
                <a:latin typeface="Microsoft YaHei"/>
              </a:defRPr>
            </a:pPr>
            <a:r>
              <a:t>• 校验失败则停止在 Rubric 前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197310" y="1220229"/>
            <a:ext cx="2332337" cy="97309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BEC4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1600" rIns="88900" tIns="76200" bIns="50800"/>
          <a:lstStyle/>
          <a:p>
            <a:pPr algn="ctr">
              <a:spcAft>
                <a:spcPts val="200"/>
              </a:spcAft>
              <a:defRPr sz="1098" b="1">
                <a:solidFill>
                  <a:srgbClr val="245EAB"/>
                </a:solidFill>
                <a:latin typeface="Microsoft YaHei"/>
              </a:defRPr>
            </a:pPr>
            <a:r>
              <a:t>回答原则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defRPr sz="939" b="1">
                <a:solidFill>
                  <a:srgbClr val="222222"/>
                </a:solidFill>
                <a:latin typeface="Microsoft YaHei"/>
              </a:defRPr>
            </a:pPr>
            <a:r>
              <a:t>• 弱模型只看最终题面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defRPr sz="939" b="1">
                <a:solidFill>
                  <a:srgbClr val="222222"/>
                </a:solidFill>
                <a:latin typeface="Microsoft YaHei"/>
              </a:defRPr>
            </a:pPr>
            <a:r>
              <a:t>• 评分标准来自已校验新答案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00351" y="1220229"/>
            <a:ext cx="2316891" cy="97309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BEC4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1600" rIns="88900" tIns="76200" bIns="50800"/>
          <a:lstStyle/>
          <a:p>
            <a:pPr algn="ctr">
              <a:spcAft>
                <a:spcPts val="200"/>
              </a:spcAft>
              <a:defRPr sz="1098" b="1">
                <a:solidFill>
                  <a:srgbClr val="A92929"/>
                </a:solidFill>
                <a:latin typeface="Microsoft YaHei"/>
              </a:defRPr>
            </a:pPr>
            <a:r>
              <a:t>版本原则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defRPr sz="939" b="1">
                <a:solidFill>
                  <a:srgbClr val="222222"/>
                </a:solidFill>
                <a:latin typeface="Microsoft YaHei"/>
              </a:defRPr>
            </a:pPr>
            <a:r>
              <a:t>• 题目、答案、Rubric 版本一致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defRPr sz="939" b="1">
                <a:solidFill>
                  <a:srgbClr val="222222"/>
                </a:solidFill>
                <a:latin typeface="Microsoft YaHei"/>
              </a:defRPr>
            </a:pPr>
            <a:r>
              <a:t>• 不一致时拒绝评分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675" y="2394121"/>
            <a:ext cx="8572500" cy="33981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  <a:defRPr sz="1598" b="1">
                <a:solidFill>
                  <a:srgbClr val="222222"/>
                </a:solidFill>
                <a:latin typeface="Microsoft YaHei"/>
              </a:defRPr>
            </a:pPr>
            <a:r>
              <a:t>效果确认：只把真实能力边界写入经验库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121" y="2687594"/>
            <a:ext cx="8572500" cy="185351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  <a:defRPr sz="793" b="1">
                <a:solidFill>
                  <a:srgbClr val="666C70"/>
                </a:solidFill>
                <a:latin typeface="Microsoft YaHei"/>
              </a:defRPr>
            </a:pPr>
            <a:r>
              <a:t>成功经验必须由稳定降分、目标错误命中和可审计归因共同证明。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08121" y="2888391"/>
            <a:ext cx="8371703" cy="0"/>
          </a:xfrm>
          <a:prstGeom prst="line">
            <a:avLst/>
          </a:prstGeom>
          <a:ln w="15240">
            <a:solidFill>
              <a:srgbClr val="9AA6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71500" y="2981067"/>
            <a:ext cx="3614351" cy="417040"/>
          </a:xfrm>
          <a:prstGeom prst="roundRect">
            <a:avLst/>
          </a:prstGeom>
          <a:solidFill>
            <a:srgbClr val="F0F5F8"/>
          </a:solidFill>
          <a:ln w="9525">
            <a:solidFill>
              <a:srgbClr val="D1D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50800" bIns="50800"/>
          <a:lstStyle/>
          <a:p>
            <a:pPr algn="l">
              <a:spcBef>
                <a:spcPts val="0"/>
              </a:spcBef>
              <a:spcAft>
                <a:spcPts val="0"/>
              </a:spcAft>
              <a:defRPr sz="878" b="1">
                <a:solidFill>
                  <a:srgbClr val="222222"/>
                </a:solidFill>
                <a:latin typeface="Microsoft YaHei"/>
              </a:defRPr>
            </a:pPr>
            <a:r>
              <a:t>1. 弱模型多次回答后稳定降分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87445" y="2981067"/>
            <a:ext cx="3614351" cy="417040"/>
          </a:xfrm>
          <a:prstGeom prst="roundRect">
            <a:avLst/>
          </a:prstGeom>
          <a:solidFill>
            <a:srgbClr val="F0F5F8"/>
          </a:solidFill>
          <a:ln w="9525">
            <a:solidFill>
              <a:srgbClr val="D1D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50800" bIns="50800"/>
          <a:lstStyle/>
          <a:p>
            <a:pPr algn="l">
              <a:spcBef>
                <a:spcPts val="0"/>
              </a:spcBef>
              <a:spcAft>
                <a:spcPts val="0"/>
              </a:spcAft>
              <a:defRPr sz="878" b="1">
                <a:solidFill>
                  <a:srgbClr val="222222"/>
                </a:solidFill>
                <a:latin typeface="Microsoft YaHei"/>
              </a:defRPr>
            </a:pPr>
            <a:r>
              <a:t>2. 错误命中当前算子目标能力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71500" y="3475337"/>
            <a:ext cx="3614351" cy="417040"/>
          </a:xfrm>
          <a:prstGeom prst="roundRect">
            <a:avLst/>
          </a:prstGeom>
          <a:solidFill>
            <a:srgbClr val="F0F5F8"/>
          </a:solidFill>
          <a:ln w="9525">
            <a:solidFill>
              <a:srgbClr val="D1D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50800" bIns="50800"/>
          <a:lstStyle/>
          <a:p>
            <a:pPr algn="l">
              <a:spcBef>
                <a:spcPts val="0"/>
              </a:spcBef>
              <a:spcAft>
                <a:spcPts val="0"/>
              </a:spcAft>
              <a:defRPr sz="878" b="1">
                <a:solidFill>
                  <a:srgbClr val="222222"/>
                </a:solidFill>
                <a:latin typeface="Microsoft YaHei"/>
              </a:defRPr>
            </a:pPr>
            <a:r>
              <a:t>3. 新参考答案或弱模型答案正确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87445" y="3475337"/>
            <a:ext cx="3614351" cy="417040"/>
          </a:xfrm>
          <a:prstGeom prst="roundRect">
            <a:avLst/>
          </a:prstGeom>
          <a:solidFill>
            <a:srgbClr val="F0F5F8"/>
          </a:solidFill>
          <a:ln w="9525">
            <a:solidFill>
              <a:srgbClr val="D1D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50800" bIns="50800"/>
          <a:lstStyle/>
          <a:p>
            <a:pPr algn="l">
              <a:spcBef>
                <a:spcPts val="0"/>
              </a:spcBef>
              <a:spcAft>
                <a:spcPts val="0"/>
              </a:spcAft>
              <a:defRPr sz="878" b="1">
                <a:solidFill>
                  <a:srgbClr val="222222"/>
                </a:solidFill>
                <a:latin typeface="Microsoft YaHei"/>
              </a:defRPr>
            </a:pPr>
            <a:r>
              <a:t>4. 评分器评分稳定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71500" y="3969608"/>
            <a:ext cx="3614351" cy="417040"/>
          </a:xfrm>
          <a:prstGeom prst="roundRect">
            <a:avLst/>
          </a:prstGeom>
          <a:solidFill>
            <a:srgbClr val="F0F5F8"/>
          </a:solidFill>
          <a:ln w="9525">
            <a:solidFill>
              <a:srgbClr val="D1D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50800" bIns="50800"/>
          <a:lstStyle/>
          <a:p>
            <a:pPr algn="l">
              <a:spcBef>
                <a:spcPts val="0"/>
              </a:spcBef>
              <a:spcAft>
                <a:spcPts val="0"/>
              </a:spcAft>
              <a:defRPr sz="878" b="1">
                <a:solidFill>
                  <a:srgbClr val="222222"/>
                </a:solidFill>
                <a:latin typeface="Microsoft YaHei"/>
              </a:defRPr>
            </a:pPr>
            <a:r>
              <a:t>5. 题面无破坏实验有效性的泄漏或冲突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87445" y="3969608"/>
            <a:ext cx="3614351" cy="417040"/>
          </a:xfrm>
          <a:prstGeom prst="roundRect">
            <a:avLst/>
          </a:prstGeom>
          <a:solidFill>
            <a:srgbClr val="F0F5F8"/>
          </a:solidFill>
          <a:ln w="9525">
            <a:solidFill>
              <a:srgbClr val="D1D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50800" bIns="50800"/>
          <a:lstStyle/>
          <a:p>
            <a:pPr algn="l">
              <a:spcBef>
                <a:spcPts val="0"/>
              </a:spcBef>
              <a:spcAft>
                <a:spcPts val="0"/>
              </a:spcAft>
              <a:defRPr sz="878" b="1">
                <a:solidFill>
                  <a:srgbClr val="222222"/>
                </a:solidFill>
                <a:latin typeface="Microsoft YaHei"/>
              </a:defRPr>
            </a:pPr>
            <a:r>
              <a:t>6. 降分不是格式复杂或评分污染造成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71500" y="4541108"/>
            <a:ext cx="7645743" cy="339810"/>
          </a:xfrm>
          <a:prstGeom prst="roundRect">
            <a:avLst/>
          </a:prstGeom>
          <a:solidFill>
            <a:srgbClr val="CCF5DC"/>
          </a:solidFill>
          <a:ln w="9525">
            <a:solidFill>
              <a:srgbClr val="B6D1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" rIns="127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  <a:defRPr sz="878" b="1">
                <a:solidFill>
                  <a:srgbClr val="198C6C"/>
                </a:solidFill>
                <a:latin typeface="Microsoft YaHei"/>
              </a:defRPr>
            </a:pPr>
            <a:r>
              <a:t>当前原则：稳定降分且命中目标错误时保留为边界样本，停止当前分支，不自动纵向叠加同类难度。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23567" y="4680121"/>
            <a:ext cx="540608" cy="355256"/>
          </a:xfrm>
          <a:prstGeom prst="roundRect">
            <a:avLst/>
          </a:prstGeom>
          <a:solidFill>
            <a:srgbClr val="333333"/>
          </a:solidFill>
          <a:ln w="9525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  <a:defRPr sz="1707" b="0">
                <a:solidFill>
                  <a:srgbClr val="FFFFFF"/>
                </a:solidFill>
                <a:latin typeface="Microsoft YaHei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